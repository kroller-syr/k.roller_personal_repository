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4" r:id="rId4"/>
  </p:sldMasterIdLst>
  <p:notesMasterIdLst>
    <p:notesMasterId r:id="rId28"/>
  </p:notesMasterIdLst>
  <p:handoutMasterIdLst>
    <p:handoutMasterId r:id="rId29"/>
  </p:handoutMasterIdLst>
  <p:sldIdLst>
    <p:sldId id="256" r:id="rId5"/>
    <p:sldId id="300" r:id="rId6"/>
    <p:sldId id="289" r:id="rId7"/>
    <p:sldId id="304" r:id="rId8"/>
    <p:sldId id="297" r:id="rId9"/>
    <p:sldId id="287" r:id="rId10"/>
    <p:sldId id="288" r:id="rId11"/>
    <p:sldId id="298" r:id="rId12"/>
    <p:sldId id="277" r:id="rId13"/>
    <p:sldId id="306" r:id="rId14"/>
    <p:sldId id="293" r:id="rId15"/>
    <p:sldId id="307" r:id="rId16"/>
    <p:sldId id="308" r:id="rId17"/>
    <p:sldId id="279" r:id="rId18"/>
    <p:sldId id="280" r:id="rId19"/>
    <p:sldId id="282" r:id="rId20"/>
    <p:sldId id="285" r:id="rId21"/>
    <p:sldId id="305" r:id="rId22"/>
    <p:sldId id="303" r:id="rId23"/>
    <p:sldId id="301" r:id="rId24"/>
    <p:sldId id="302" r:id="rId25"/>
    <p:sldId id="299" r:id="rId26"/>
    <p:sldId id="29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D8526D-7D28-A65A-4CFB-D774A9958735}" v="1702" dt="2023-10-10T19:24:59.443"/>
    <p1510:client id="{0A11CD68-E874-FCB8-F2B4-6695D046AF2E}" v="21" dt="2023-10-11T17:00:01.406"/>
    <p1510:client id="{19B0BC84-E954-4406-96DD-AB33CC47E7E2}" v="590" dt="2023-10-06T01:40:29.814"/>
    <p1510:client id="{321767B9-798C-4D89-A20E-DA8701CE7D6F}" v="2" dt="2023-10-09T01:53:26.630"/>
    <p1510:client id="{3F297849-F424-E96D-0E49-C77AD738FD34}" v="98" dt="2023-10-11T02:51:23.655"/>
    <p1510:client id="{432FCBFF-C488-991A-B7E6-0E7D2723CE93}" v="13" dt="2023-10-16T15:35:37.045"/>
    <p1510:client id="{4C90A95B-D1A6-2C13-274E-A67A65B181BA}" v="138" dt="2023-10-10T19:50:02.774"/>
    <p1510:client id="{5A063893-55BF-7630-611F-0C2B318E6ADA}" v="8" dt="2023-10-11T17:38:52.871"/>
    <p1510:client id="{5D6BA573-A044-7E49-8ACD-2ADB504ABD12}" v="27" dt="2023-09-12T20:24:24.764"/>
    <p1510:client id="{74242ED3-6A75-DF98-21F2-821DB2020BFD}" v="65" dt="2023-10-10T19:54:19.173"/>
    <p1510:client id="{885DF639-A60A-3F35-C971-5E83A102A66E}" v="2" dt="2023-10-11T15:18:54.808"/>
    <p1510:client id="{8E573D35-E0A6-C9E8-A6A8-33E2794086B4}" v="1" dt="2023-10-09T18:44:03.160"/>
    <p1510:client id="{B93056D4-5A66-1BEA-31E0-4B271E0EBDE7}" v="3185" dt="2023-10-11T01:58:57.263"/>
    <p1510:client id="{BD5708E0-1B99-54D0-1E22-DD8BC01AC5BF}" v="240" dt="2023-10-30T06:19:09.015"/>
    <p1510:client id="{D83F70CA-503D-809E-6E27-9E12D976BC1F}" v="133" dt="2023-10-11T17:22:42.550"/>
    <p1510:client id="{E31A0FA4-E9A7-C3F4-3DC5-296AD4DF09D1}" v="5" dt="2023-10-10T17:55:29.509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commentAuthors" Target="commentAuthor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10" Type="http://schemas.openxmlformats.org/officeDocument/2006/relationships/image" Target="../media/image38.svg"/><Relationship Id="rId4" Type="http://schemas.openxmlformats.org/officeDocument/2006/relationships/image" Target="../media/image32.svg"/><Relationship Id="rId9" Type="http://schemas.openxmlformats.org/officeDocument/2006/relationships/image" Target="../media/image37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10" Type="http://schemas.openxmlformats.org/officeDocument/2006/relationships/image" Target="../media/image38.svg"/><Relationship Id="rId4" Type="http://schemas.openxmlformats.org/officeDocument/2006/relationships/image" Target="../media/image32.svg"/><Relationship Id="rId9" Type="http://schemas.openxmlformats.org/officeDocument/2006/relationships/image" Target="../media/image3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0F5A5B-171C-4B15-A0F9-D4DDB6AF22D4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8E7DE45-0F84-4357-9463-77418F0C2237}">
      <dgm:prSet/>
      <dgm:spPr/>
      <dgm:t>
        <a:bodyPr/>
        <a:lstStyle/>
        <a:p>
          <a:r>
            <a:rPr lang="en-US"/>
            <a:t>The Johnson City Parks and Recreation department has received funding to move forward with a park expansion. </a:t>
          </a:r>
        </a:p>
      </dgm:t>
    </dgm:pt>
    <dgm:pt modelId="{05C41484-8412-468A-9B86-698350D53059}" type="parTrans" cxnId="{8852B516-D738-495D-8A03-848CD317FB04}">
      <dgm:prSet/>
      <dgm:spPr/>
      <dgm:t>
        <a:bodyPr/>
        <a:lstStyle/>
        <a:p>
          <a:endParaRPr lang="en-US"/>
        </a:p>
      </dgm:t>
    </dgm:pt>
    <dgm:pt modelId="{CB5B3D08-CD52-47E2-AC82-282F894911A3}" type="sibTrans" cxnId="{8852B516-D738-495D-8A03-848CD317FB04}">
      <dgm:prSet/>
      <dgm:spPr/>
      <dgm:t>
        <a:bodyPr/>
        <a:lstStyle/>
        <a:p>
          <a:endParaRPr lang="en-US"/>
        </a:p>
      </dgm:t>
    </dgm:pt>
    <dgm:pt modelId="{81F61DB7-E60C-4867-84B0-57E72480D75C}">
      <dgm:prSet/>
      <dgm:spPr/>
      <dgm:t>
        <a:bodyPr/>
        <a:lstStyle/>
        <a:p>
          <a:r>
            <a:rPr lang="en-US"/>
            <a:t>This park expansion will increase the current field count, up from 5 baseball/softball fields and 3 soccer fields to 9 baseball/softball fields and 6 soccer fields </a:t>
          </a:r>
        </a:p>
      </dgm:t>
    </dgm:pt>
    <dgm:pt modelId="{2D8D14AF-555D-408B-B99C-DA29EAD8C042}" type="parTrans" cxnId="{CE2EC5AE-BB69-4D12-8FA7-D9ED073A6F5C}">
      <dgm:prSet/>
      <dgm:spPr/>
      <dgm:t>
        <a:bodyPr/>
        <a:lstStyle/>
        <a:p>
          <a:endParaRPr lang="en-US"/>
        </a:p>
      </dgm:t>
    </dgm:pt>
    <dgm:pt modelId="{A1DF2073-A577-4A89-B262-6102A8BC62C6}" type="sibTrans" cxnId="{CE2EC5AE-BB69-4D12-8FA7-D9ED073A6F5C}">
      <dgm:prSet/>
      <dgm:spPr/>
      <dgm:t>
        <a:bodyPr/>
        <a:lstStyle/>
        <a:p>
          <a:endParaRPr lang="en-US"/>
        </a:p>
      </dgm:t>
    </dgm:pt>
    <dgm:pt modelId="{D30E9F63-5A4A-492D-A675-00D119E55D68}">
      <dgm:prSet/>
      <dgm:spPr/>
      <dgm:t>
        <a:bodyPr/>
        <a:lstStyle/>
        <a:p>
          <a:r>
            <a:rPr lang="en-US"/>
            <a:t>The existing fields will remain natural turf, but the new fields will be made using artificial turf. </a:t>
          </a:r>
        </a:p>
      </dgm:t>
    </dgm:pt>
    <dgm:pt modelId="{1418971C-2DEF-42B8-A6E0-C9FAA6055CF6}" type="parTrans" cxnId="{969DFAF4-41E8-4C05-BB6A-A2E92E3358D3}">
      <dgm:prSet/>
      <dgm:spPr/>
      <dgm:t>
        <a:bodyPr/>
        <a:lstStyle/>
        <a:p>
          <a:endParaRPr lang="en-US"/>
        </a:p>
      </dgm:t>
    </dgm:pt>
    <dgm:pt modelId="{4D847B2C-614A-4C4F-AECD-4E6847E4DB94}" type="sibTrans" cxnId="{969DFAF4-41E8-4C05-BB6A-A2E92E3358D3}">
      <dgm:prSet/>
      <dgm:spPr/>
      <dgm:t>
        <a:bodyPr/>
        <a:lstStyle/>
        <a:p>
          <a:endParaRPr lang="en-US"/>
        </a:p>
      </dgm:t>
    </dgm:pt>
    <dgm:pt modelId="{AB77143D-DBA7-4A11-B150-C7F5D48A7720}">
      <dgm:prSet/>
      <dgm:spPr/>
      <dgm:t>
        <a:bodyPr/>
        <a:lstStyle/>
        <a:p>
          <a:r>
            <a:rPr lang="en-US"/>
            <a:t>We are tasked with performing an economic impact analysis on this park expansion to determine the degree of benefit obtained by the regional economy as a whole.</a:t>
          </a:r>
        </a:p>
      </dgm:t>
    </dgm:pt>
    <dgm:pt modelId="{CEF68DB4-096D-4A2A-8887-52D325FED9B5}" type="parTrans" cxnId="{62364C8F-6FD8-4C8F-AC0E-86B58172941F}">
      <dgm:prSet/>
      <dgm:spPr/>
      <dgm:t>
        <a:bodyPr/>
        <a:lstStyle/>
        <a:p>
          <a:endParaRPr lang="en-US"/>
        </a:p>
      </dgm:t>
    </dgm:pt>
    <dgm:pt modelId="{745CC7BB-B2E1-4153-9B64-FD8A0183F8F0}" type="sibTrans" cxnId="{62364C8F-6FD8-4C8F-AC0E-86B58172941F}">
      <dgm:prSet/>
      <dgm:spPr/>
      <dgm:t>
        <a:bodyPr/>
        <a:lstStyle/>
        <a:p>
          <a:endParaRPr lang="en-US"/>
        </a:p>
      </dgm:t>
    </dgm:pt>
    <dgm:pt modelId="{5A0398C8-3AF6-4D87-8862-2D284C67805E}" type="pres">
      <dgm:prSet presAssocID="{600F5A5B-171C-4B15-A0F9-D4DDB6AF22D4}" presName="outerComposite" presStyleCnt="0">
        <dgm:presLayoutVars>
          <dgm:chMax val="5"/>
          <dgm:dir/>
          <dgm:resizeHandles val="exact"/>
        </dgm:presLayoutVars>
      </dgm:prSet>
      <dgm:spPr/>
    </dgm:pt>
    <dgm:pt modelId="{89B09215-F8CD-4413-B18D-1DA7870929AB}" type="pres">
      <dgm:prSet presAssocID="{600F5A5B-171C-4B15-A0F9-D4DDB6AF22D4}" presName="dummyMaxCanvas" presStyleCnt="0">
        <dgm:presLayoutVars/>
      </dgm:prSet>
      <dgm:spPr/>
    </dgm:pt>
    <dgm:pt modelId="{058A0D06-BE08-4442-9443-C7E7EE7131F8}" type="pres">
      <dgm:prSet presAssocID="{600F5A5B-171C-4B15-A0F9-D4DDB6AF22D4}" presName="FourNodes_1" presStyleLbl="node1" presStyleIdx="0" presStyleCnt="4">
        <dgm:presLayoutVars>
          <dgm:bulletEnabled val="1"/>
        </dgm:presLayoutVars>
      </dgm:prSet>
      <dgm:spPr/>
    </dgm:pt>
    <dgm:pt modelId="{D8C47405-32C4-40A4-B3EF-46EEF55C4585}" type="pres">
      <dgm:prSet presAssocID="{600F5A5B-171C-4B15-A0F9-D4DDB6AF22D4}" presName="FourNodes_2" presStyleLbl="node1" presStyleIdx="1" presStyleCnt="4">
        <dgm:presLayoutVars>
          <dgm:bulletEnabled val="1"/>
        </dgm:presLayoutVars>
      </dgm:prSet>
      <dgm:spPr/>
    </dgm:pt>
    <dgm:pt modelId="{D79BC2C3-FCF7-4700-855F-AB9BA81D03BD}" type="pres">
      <dgm:prSet presAssocID="{600F5A5B-171C-4B15-A0F9-D4DDB6AF22D4}" presName="FourNodes_3" presStyleLbl="node1" presStyleIdx="2" presStyleCnt="4">
        <dgm:presLayoutVars>
          <dgm:bulletEnabled val="1"/>
        </dgm:presLayoutVars>
      </dgm:prSet>
      <dgm:spPr/>
    </dgm:pt>
    <dgm:pt modelId="{2D4FF8C9-12CF-4521-B0B4-BE9D1072F2E6}" type="pres">
      <dgm:prSet presAssocID="{600F5A5B-171C-4B15-A0F9-D4DDB6AF22D4}" presName="FourNodes_4" presStyleLbl="node1" presStyleIdx="3" presStyleCnt="4">
        <dgm:presLayoutVars>
          <dgm:bulletEnabled val="1"/>
        </dgm:presLayoutVars>
      </dgm:prSet>
      <dgm:spPr/>
    </dgm:pt>
    <dgm:pt modelId="{109140CD-ED44-4D12-8CFD-5B2ED2DD026D}" type="pres">
      <dgm:prSet presAssocID="{600F5A5B-171C-4B15-A0F9-D4DDB6AF22D4}" presName="FourConn_1-2" presStyleLbl="fgAccFollowNode1" presStyleIdx="0" presStyleCnt="3">
        <dgm:presLayoutVars>
          <dgm:bulletEnabled val="1"/>
        </dgm:presLayoutVars>
      </dgm:prSet>
      <dgm:spPr/>
    </dgm:pt>
    <dgm:pt modelId="{8C8B47AE-3F0F-45D8-B13C-76A3595B7170}" type="pres">
      <dgm:prSet presAssocID="{600F5A5B-171C-4B15-A0F9-D4DDB6AF22D4}" presName="FourConn_2-3" presStyleLbl="fgAccFollowNode1" presStyleIdx="1" presStyleCnt="3">
        <dgm:presLayoutVars>
          <dgm:bulletEnabled val="1"/>
        </dgm:presLayoutVars>
      </dgm:prSet>
      <dgm:spPr/>
    </dgm:pt>
    <dgm:pt modelId="{434AE3EA-8B51-47DA-8927-4C9C692F78D6}" type="pres">
      <dgm:prSet presAssocID="{600F5A5B-171C-4B15-A0F9-D4DDB6AF22D4}" presName="FourConn_3-4" presStyleLbl="fgAccFollowNode1" presStyleIdx="2" presStyleCnt="3">
        <dgm:presLayoutVars>
          <dgm:bulletEnabled val="1"/>
        </dgm:presLayoutVars>
      </dgm:prSet>
      <dgm:spPr/>
    </dgm:pt>
    <dgm:pt modelId="{BF40F46B-A1C3-4899-A9BC-E8B0CE41C7D1}" type="pres">
      <dgm:prSet presAssocID="{600F5A5B-171C-4B15-A0F9-D4DDB6AF22D4}" presName="FourNodes_1_text" presStyleLbl="node1" presStyleIdx="3" presStyleCnt="4">
        <dgm:presLayoutVars>
          <dgm:bulletEnabled val="1"/>
        </dgm:presLayoutVars>
      </dgm:prSet>
      <dgm:spPr/>
    </dgm:pt>
    <dgm:pt modelId="{737B4543-5B96-478D-9B9B-2CD6ACCF8ACA}" type="pres">
      <dgm:prSet presAssocID="{600F5A5B-171C-4B15-A0F9-D4DDB6AF22D4}" presName="FourNodes_2_text" presStyleLbl="node1" presStyleIdx="3" presStyleCnt="4">
        <dgm:presLayoutVars>
          <dgm:bulletEnabled val="1"/>
        </dgm:presLayoutVars>
      </dgm:prSet>
      <dgm:spPr/>
    </dgm:pt>
    <dgm:pt modelId="{C3132F36-AE76-417C-B79E-C5A7E86E6E7E}" type="pres">
      <dgm:prSet presAssocID="{600F5A5B-171C-4B15-A0F9-D4DDB6AF22D4}" presName="FourNodes_3_text" presStyleLbl="node1" presStyleIdx="3" presStyleCnt="4">
        <dgm:presLayoutVars>
          <dgm:bulletEnabled val="1"/>
        </dgm:presLayoutVars>
      </dgm:prSet>
      <dgm:spPr/>
    </dgm:pt>
    <dgm:pt modelId="{7BFB9FCA-849A-4A6D-85E4-31A4F1C6C99B}" type="pres">
      <dgm:prSet presAssocID="{600F5A5B-171C-4B15-A0F9-D4DDB6AF22D4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F2E1FD0B-94A3-4C4A-BC7E-AB2B667FE756}" type="presOf" srcId="{A1DF2073-A577-4A89-B262-6102A8BC62C6}" destId="{8C8B47AE-3F0F-45D8-B13C-76A3595B7170}" srcOrd="0" destOrd="0" presId="urn:microsoft.com/office/officeart/2005/8/layout/vProcess5"/>
    <dgm:cxn modelId="{8852B516-D738-495D-8A03-848CD317FB04}" srcId="{600F5A5B-171C-4B15-A0F9-D4DDB6AF22D4}" destId="{A8E7DE45-0F84-4357-9463-77418F0C2237}" srcOrd="0" destOrd="0" parTransId="{05C41484-8412-468A-9B86-698350D53059}" sibTransId="{CB5B3D08-CD52-47E2-AC82-282F894911A3}"/>
    <dgm:cxn modelId="{751A931E-91FC-44C8-8269-6FC77F685740}" type="presOf" srcId="{AB77143D-DBA7-4A11-B150-C7F5D48A7720}" destId="{2D4FF8C9-12CF-4521-B0B4-BE9D1072F2E6}" srcOrd="0" destOrd="0" presId="urn:microsoft.com/office/officeart/2005/8/layout/vProcess5"/>
    <dgm:cxn modelId="{AFFF6541-6D3D-4F79-96C1-B126AAF39713}" type="presOf" srcId="{81F61DB7-E60C-4867-84B0-57E72480D75C}" destId="{D8C47405-32C4-40A4-B3EF-46EEF55C4585}" srcOrd="0" destOrd="0" presId="urn:microsoft.com/office/officeart/2005/8/layout/vProcess5"/>
    <dgm:cxn modelId="{8E329D49-4A13-4262-BFA7-45184B2B3B95}" type="presOf" srcId="{D30E9F63-5A4A-492D-A675-00D119E55D68}" destId="{C3132F36-AE76-417C-B79E-C5A7E86E6E7E}" srcOrd="1" destOrd="0" presId="urn:microsoft.com/office/officeart/2005/8/layout/vProcess5"/>
    <dgm:cxn modelId="{C533438B-0891-4FA7-913B-80F814A8A8A7}" type="presOf" srcId="{A8E7DE45-0F84-4357-9463-77418F0C2237}" destId="{058A0D06-BE08-4442-9443-C7E7EE7131F8}" srcOrd="0" destOrd="0" presId="urn:microsoft.com/office/officeart/2005/8/layout/vProcess5"/>
    <dgm:cxn modelId="{62364C8F-6FD8-4C8F-AC0E-86B58172941F}" srcId="{600F5A5B-171C-4B15-A0F9-D4DDB6AF22D4}" destId="{AB77143D-DBA7-4A11-B150-C7F5D48A7720}" srcOrd="3" destOrd="0" parTransId="{CEF68DB4-096D-4A2A-8887-52D325FED9B5}" sibTransId="{745CC7BB-B2E1-4153-9B64-FD8A0183F8F0}"/>
    <dgm:cxn modelId="{093F979F-92FB-4F6D-9321-7169D801C95F}" type="presOf" srcId="{D30E9F63-5A4A-492D-A675-00D119E55D68}" destId="{D79BC2C3-FCF7-4700-855F-AB9BA81D03BD}" srcOrd="0" destOrd="0" presId="urn:microsoft.com/office/officeart/2005/8/layout/vProcess5"/>
    <dgm:cxn modelId="{1BE273AA-B18D-4AE0-832F-46D8328E4F5A}" type="presOf" srcId="{4D847B2C-614A-4C4F-AECD-4E6847E4DB94}" destId="{434AE3EA-8B51-47DA-8927-4C9C692F78D6}" srcOrd="0" destOrd="0" presId="urn:microsoft.com/office/officeart/2005/8/layout/vProcess5"/>
    <dgm:cxn modelId="{CE2EC5AE-BB69-4D12-8FA7-D9ED073A6F5C}" srcId="{600F5A5B-171C-4B15-A0F9-D4DDB6AF22D4}" destId="{81F61DB7-E60C-4867-84B0-57E72480D75C}" srcOrd="1" destOrd="0" parTransId="{2D8D14AF-555D-408B-B99C-DA29EAD8C042}" sibTransId="{A1DF2073-A577-4A89-B262-6102A8BC62C6}"/>
    <dgm:cxn modelId="{191BEAC6-9F06-434C-8F44-4236E0DB0250}" type="presOf" srcId="{AB77143D-DBA7-4A11-B150-C7F5D48A7720}" destId="{7BFB9FCA-849A-4A6D-85E4-31A4F1C6C99B}" srcOrd="1" destOrd="0" presId="urn:microsoft.com/office/officeart/2005/8/layout/vProcess5"/>
    <dgm:cxn modelId="{D01480E6-9E1B-40B6-99BE-FC3999B04592}" type="presOf" srcId="{CB5B3D08-CD52-47E2-AC82-282F894911A3}" destId="{109140CD-ED44-4D12-8CFD-5B2ED2DD026D}" srcOrd="0" destOrd="0" presId="urn:microsoft.com/office/officeart/2005/8/layout/vProcess5"/>
    <dgm:cxn modelId="{30D73DF2-D7D3-4DC1-8F13-B58CF30F6C66}" type="presOf" srcId="{600F5A5B-171C-4B15-A0F9-D4DDB6AF22D4}" destId="{5A0398C8-3AF6-4D87-8862-2D284C67805E}" srcOrd="0" destOrd="0" presId="urn:microsoft.com/office/officeart/2005/8/layout/vProcess5"/>
    <dgm:cxn modelId="{969DFAF4-41E8-4C05-BB6A-A2E92E3358D3}" srcId="{600F5A5B-171C-4B15-A0F9-D4DDB6AF22D4}" destId="{D30E9F63-5A4A-492D-A675-00D119E55D68}" srcOrd="2" destOrd="0" parTransId="{1418971C-2DEF-42B8-A6E0-C9FAA6055CF6}" sibTransId="{4D847B2C-614A-4C4F-AECD-4E6847E4DB94}"/>
    <dgm:cxn modelId="{785F41F8-A84C-48D9-8DA1-9109B172EDB3}" type="presOf" srcId="{A8E7DE45-0F84-4357-9463-77418F0C2237}" destId="{BF40F46B-A1C3-4899-A9BC-E8B0CE41C7D1}" srcOrd="1" destOrd="0" presId="urn:microsoft.com/office/officeart/2005/8/layout/vProcess5"/>
    <dgm:cxn modelId="{AB086FFF-4815-443B-8B7F-EEFA78FBEE95}" type="presOf" srcId="{81F61DB7-E60C-4867-84B0-57E72480D75C}" destId="{737B4543-5B96-478D-9B9B-2CD6ACCF8ACA}" srcOrd="1" destOrd="0" presId="urn:microsoft.com/office/officeart/2005/8/layout/vProcess5"/>
    <dgm:cxn modelId="{B0EE32D2-AE06-41BC-AA63-C176D83842E1}" type="presParOf" srcId="{5A0398C8-3AF6-4D87-8862-2D284C67805E}" destId="{89B09215-F8CD-4413-B18D-1DA7870929AB}" srcOrd="0" destOrd="0" presId="urn:microsoft.com/office/officeart/2005/8/layout/vProcess5"/>
    <dgm:cxn modelId="{72CCAE87-C647-43D8-8404-CD7B4D9F0CE9}" type="presParOf" srcId="{5A0398C8-3AF6-4D87-8862-2D284C67805E}" destId="{058A0D06-BE08-4442-9443-C7E7EE7131F8}" srcOrd="1" destOrd="0" presId="urn:microsoft.com/office/officeart/2005/8/layout/vProcess5"/>
    <dgm:cxn modelId="{E781455B-DDAB-48F9-AD35-C9E57CFDB257}" type="presParOf" srcId="{5A0398C8-3AF6-4D87-8862-2D284C67805E}" destId="{D8C47405-32C4-40A4-B3EF-46EEF55C4585}" srcOrd="2" destOrd="0" presId="urn:microsoft.com/office/officeart/2005/8/layout/vProcess5"/>
    <dgm:cxn modelId="{634F06F6-9D5C-4B10-923C-D1EB7BAB1DF9}" type="presParOf" srcId="{5A0398C8-3AF6-4D87-8862-2D284C67805E}" destId="{D79BC2C3-FCF7-4700-855F-AB9BA81D03BD}" srcOrd="3" destOrd="0" presId="urn:microsoft.com/office/officeart/2005/8/layout/vProcess5"/>
    <dgm:cxn modelId="{6FF41824-DB8F-4E56-9939-697265B7CCC0}" type="presParOf" srcId="{5A0398C8-3AF6-4D87-8862-2D284C67805E}" destId="{2D4FF8C9-12CF-4521-B0B4-BE9D1072F2E6}" srcOrd="4" destOrd="0" presId="urn:microsoft.com/office/officeart/2005/8/layout/vProcess5"/>
    <dgm:cxn modelId="{08D02E43-AE9D-4C8E-A325-0818B3CB99FE}" type="presParOf" srcId="{5A0398C8-3AF6-4D87-8862-2D284C67805E}" destId="{109140CD-ED44-4D12-8CFD-5B2ED2DD026D}" srcOrd="5" destOrd="0" presId="urn:microsoft.com/office/officeart/2005/8/layout/vProcess5"/>
    <dgm:cxn modelId="{CF3B1D07-DC11-4208-9F72-C82C5488F491}" type="presParOf" srcId="{5A0398C8-3AF6-4D87-8862-2D284C67805E}" destId="{8C8B47AE-3F0F-45D8-B13C-76A3595B7170}" srcOrd="6" destOrd="0" presId="urn:microsoft.com/office/officeart/2005/8/layout/vProcess5"/>
    <dgm:cxn modelId="{FA3A668D-3C70-4C46-AB51-2E372818B1F6}" type="presParOf" srcId="{5A0398C8-3AF6-4D87-8862-2D284C67805E}" destId="{434AE3EA-8B51-47DA-8927-4C9C692F78D6}" srcOrd="7" destOrd="0" presId="urn:microsoft.com/office/officeart/2005/8/layout/vProcess5"/>
    <dgm:cxn modelId="{53B27040-B208-4950-9954-0B7A80DD10A5}" type="presParOf" srcId="{5A0398C8-3AF6-4D87-8862-2D284C67805E}" destId="{BF40F46B-A1C3-4899-A9BC-E8B0CE41C7D1}" srcOrd="8" destOrd="0" presId="urn:microsoft.com/office/officeart/2005/8/layout/vProcess5"/>
    <dgm:cxn modelId="{E9BE59E1-2DC0-4C4F-80B2-D8E9CD2A442A}" type="presParOf" srcId="{5A0398C8-3AF6-4D87-8862-2D284C67805E}" destId="{737B4543-5B96-478D-9B9B-2CD6ACCF8ACA}" srcOrd="9" destOrd="0" presId="urn:microsoft.com/office/officeart/2005/8/layout/vProcess5"/>
    <dgm:cxn modelId="{DC5400B2-3052-485F-806D-534EC763B943}" type="presParOf" srcId="{5A0398C8-3AF6-4D87-8862-2D284C67805E}" destId="{C3132F36-AE76-417C-B79E-C5A7E86E6E7E}" srcOrd="10" destOrd="0" presId="urn:microsoft.com/office/officeart/2005/8/layout/vProcess5"/>
    <dgm:cxn modelId="{D634DB49-C8D9-4B16-9F4A-E449702E0FFB}" type="presParOf" srcId="{5A0398C8-3AF6-4D87-8862-2D284C67805E}" destId="{7BFB9FCA-849A-4A6D-85E4-31A4F1C6C99B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94B2A7-222B-47AE-9991-D03643E96A21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581FE8F-5E33-4016-B3CB-DA8CBD2CF2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Collect all possible data from the source, either JC parks and recreation directly, or other regional government offices that can provide required information. </a:t>
          </a:r>
        </a:p>
      </dgm:t>
    </dgm:pt>
    <dgm:pt modelId="{FFD0DDC2-1636-4244-8679-C46FF277EB89}" type="parTrans" cxnId="{6845FDC1-5428-4E0D-9F5A-1A97D5EFFCC4}">
      <dgm:prSet/>
      <dgm:spPr/>
      <dgm:t>
        <a:bodyPr/>
        <a:lstStyle/>
        <a:p>
          <a:endParaRPr lang="en-US"/>
        </a:p>
      </dgm:t>
    </dgm:pt>
    <dgm:pt modelId="{FD053785-9FED-44DA-BEA1-4D46EF305C7E}" type="sibTrans" cxnId="{6845FDC1-5428-4E0D-9F5A-1A97D5EFFCC4}">
      <dgm:prSet/>
      <dgm:spPr/>
      <dgm:t>
        <a:bodyPr/>
        <a:lstStyle/>
        <a:p>
          <a:endParaRPr lang="en-US"/>
        </a:p>
      </dgm:t>
    </dgm:pt>
    <dgm:pt modelId="{4B476F28-7144-468D-BD8C-9D4FEB64C8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Create and distribute a survey in an attempt to capture relevant information from regions outside the target region (Washington County in this case). </a:t>
          </a:r>
        </a:p>
      </dgm:t>
    </dgm:pt>
    <dgm:pt modelId="{D2ABD19C-E13B-4F41-BC87-E47F84936B83}" type="parTrans" cxnId="{9C9A3BDF-049E-4DA7-B74E-A70905D8B145}">
      <dgm:prSet/>
      <dgm:spPr/>
      <dgm:t>
        <a:bodyPr/>
        <a:lstStyle/>
        <a:p>
          <a:endParaRPr lang="en-US"/>
        </a:p>
      </dgm:t>
    </dgm:pt>
    <dgm:pt modelId="{2810FDFA-2965-4DD1-B307-BFD23FF1CAD1}" type="sibTrans" cxnId="{9C9A3BDF-049E-4DA7-B74E-A70905D8B145}">
      <dgm:prSet/>
      <dgm:spPr/>
      <dgm:t>
        <a:bodyPr/>
        <a:lstStyle/>
        <a:p>
          <a:endParaRPr lang="en-US"/>
        </a:p>
      </dgm:t>
    </dgm:pt>
    <dgm:pt modelId="{226A761A-0D6B-42B9-ABD6-997CF109D6E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 additional data not obtained through first two means, we refer to secondary studies to obtain data such as a  proportion of non-local visitors.</a:t>
          </a:r>
        </a:p>
      </dgm:t>
    </dgm:pt>
    <dgm:pt modelId="{6931E1B2-D3C4-4CEE-A757-C0475AB015B5}" type="parTrans" cxnId="{1596A38A-2F64-4EDB-8A88-F9278E039875}">
      <dgm:prSet/>
      <dgm:spPr/>
      <dgm:t>
        <a:bodyPr/>
        <a:lstStyle/>
        <a:p>
          <a:endParaRPr lang="en-US"/>
        </a:p>
      </dgm:t>
    </dgm:pt>
    <dgm:pt modelId="{2D9A2E04-28DA-4AA9-A36E-4CBEDF9A1B96}" type="sibTrans" cxnId="{1596A38A-2F64-4EDB-8A88-F9278E039875}">
      <dgm:prSet/>
      <dgm:spPr/>
      <dgm:t>
        <a:bodyPr/>
        <a:lstStyle/>
        <a:p>
          <a:endParaRPr lang="en-US"/>
        </a:p>
      </dgm:t>
    </dgm:pt>
    <dgm:pt modelId="{C5220825-7E54-4341-99E3-4BEA3BCF277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Create estimates for each sport based </a:t>
          </a:r>
          <a:r>
            <a:rPr lang="en-US">
              <a:latin typeface="Trebuchet MS" panose="020B0603020202020204"/>
            </a:rPr>
            <a:t>on</a:t>
          </a:r>
          <a:r>
            <a:rPr lang="en-US"/>
            <a:t> preceding data </a:t>
          </a:r>
        </a:p>
      </dgm:t>
    </dgm:pt>
    <dgm:pt modelId="{5ACAF1CF-8671-4812-AABE-F0F8A0DD7C03}" type="parTrans" cxnId="{C67B57C1-CB27-4837-8246-A97C2F8E7064}">
      <dgm:prSet/>
      <dgm:spPr/>
      <dgm:t>
        <a:bodyPr/>
        <a:lstStyle/>
        <a:p>
          <a:endParaRPr lang="en-US"/>
        </a:p>
      </dgm:t>
    </dgm:pt>
    <dgm:pt modelId="{5D7B391B-1567-43D3-9DE6-B54837C78C3B}" type="sibTrans" cxnId="{C67B57C1-CB27-4837-8246-A97C2F8E7064}">
      <dgm:prSet/>
      <dgm:spPr/>
      <dgm:t>
        <a:bodyPr/>
        <a:lstStyle/>
        <a:p>
          <a:endParaRPr lang="en-US"/>
        </a:p>
      </dgm:t>
    </dgm:pt>
    <dgm:pt modelId="{0D6AF1A7-DB52-4734-B4B6-8DC5B538152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Apply multipliers using RIMS II I/O model table for the region </a:t>
          </a:r>
        </a:p>
      </dgm:t>
    </dgm:pt>
    <dgm:pt modelId="{0EFE6295-620D-4996-9E28-528FB5DD8142}" type="parTrans" cxnId="{8F368D03-1E03-46FA-82B1-A560DC00F3F6}">
      <dgm:prSet/>
      <dgm:spPr/>
      <dgm:t>
        <a:bodyPr/>
        <a:lstStyle/>
        <a:p>
          <a:endParaRPr lang="en-US"/>
        </a:p>
      </dgm:t>
    </dgm:pt>
    <dgm:pt modelId="{7CABCA28-E979-4223-AB9F-2728CA6AD3B3}" type="sibTrans" cxnId="{8F368D03-1E03-46FA-82B1-A560DC00F3F6}">
      <dgm:prSet/>
      <dgm:spPr/>
      <dgm:t>
        <a:bodyPr/>
        <a:lstStyle/>
        <a:p>
          <a:endParaRPr lang="en-US"/>
        </a:p>
      </dgm:t>
    </dgm:pt>
    <dgm:pt modelId="{8B7FC771-5BB5-4803-9505-9A23DFE80EAE}" type="pres">
      <dgm:prSet presAssocID="{2294B2A7-222B-47AE-9991-D03643E96A21}" presName="root" presStyleCnt="0">
        <dgm:presLayoutVars>
          <dgm:dir/>
          <dgm:resizeHandles val="exact"/>
        </dgm:presLayoutVars>
      </dgm:prSet>
      <dgm:spPr/>
    </dgm:pt>
    <dgm:pt modelId="{EF8E5039-1082-4BC2-9C2C-7A64E676B93A}" type="pres">
      <dgm:prSet presAssocID="{0581FE8F-5E33-4016-B3CB-DA8CBD2CF292}" presName="compNode" presStyleCnt="0"/>
      <dgm:spPr/>
    </dgm:pt>
    <dgm:pt modelId="{D25FE112-7872-460D-B557-9E1D8E35BD5C}" type="pres">
      <dgm:prSet presAssocID="{0581FE8F-5E33-4016-B3CB-DA8CBD2CF29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rk scene"/>
        </a:ext>
      </dgm:extLst>
    </dgm:pt>
    <dgm:pt modelId="{B4F03F94-B1A4-439C-83E3-C14CC7074DE3}" type="pres">
      <dgm:prSet presAssocID="{0581FE8F-5E33-4016-B3CB-DA8CBD2CF292}" presName="spaceRect" presStyleCnt="0"/>
      <dgm:spPr/>
    </dgm:pt>
    <dgm:pt modelId="{4A47E5A2-69F3-4CE6-B8C4-F064B2D53DD7}" type="pres">
      <dgm:prSet presAssocID="{0581FE8F-5E33-4016-B3CB-DA8CBD2CF292}" presName="textRect" presStyleLbl="revTx" presStyleIdx="0" presStyleCnt="5">
        <dgm:presLayoutVars>
          <dgm:chMax val="1"/>
          <dgm:chPref val="1"/>
        </dgm:presLayoutVars>
      </dgm:prSet>
      <dgm:spPr/>
    </dgm:pt>
    <dgm:pt modelId="{2652295F-0E49-4989-BF21-73ACA9555EBB}" type="pres">
      <dgm:prSet presAssocID="{FD053785-9FED-44DA-BEA1-4D46EF305C7E}" presName="sibTrans" presStyleCnt="0"/>
      <dgm:spPr/>
    </dgm:pt>
    <dgm:pt modelId="{8077C3E3-B8D8-476B-8899-14611D1D25CC}" type="pres">
      <dgm:prSet presAssocID="{4B476F28-7144-468D-BD8C-9D4FEB64C800}" presName="compNode" presStyleCnt="0"/>
      <dgm:spPr/>
    </dgm:pt>
    <dgm:pt modelId="{42EBC8B3-17BC-4427-821C-DB56BE169782}" type="pres">
      <dgm:prSet presAssocID="{4B476F28-7144-468D-BD8C-9D4FEB64C80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01663D8B-E9AF-470A-BCAB-EBB9095E71AC}" type="pres">
      <dgm:prSet presAssocID="{4B476F28-7144-468D-BD8C-9D4FEB64C800}" presName="spaceRect" presStyleCnt="0"/>
      <dgm:spPr/>
    </dgm:pt>
    <dgm:pt modelId="{9FB9DF69-D1B8-487D-AA7E-3C1ECB5F9981}" type="pres">
      <dgm:prSet presAssocID="{4B476F28-7144-468D-BD8C-9D4FEB64C800}" presName="textRect" presStyleLbl="revTx" presStyleIdx="1" presStyleCnt="5">
        <dgm:presLayoutVars>
          <dgm:chMax val="1"/>
          <dgm:chPref val="1"/>
        </dgm:presLayoutVars>
      </dgm:prSet>
      <dgm:spPr/>
    </dgm:pt>
    <dgm:pt modelId="{1FEF31BA-D7D0-4D2F-8586-D64092EAD74A}" type="pres">
      <dgm:prSet presAssocID="{2810FDFA-2965-4DD1-B307-BFD23FF1CAD1}" presName="sibTrans" presStyleCnt="0"/>
      <dgm:spPr/>
    </dgm:pt>
    <dgm:pt modelId="{2FE4A177-9D7A-44C6-80F9-65C51B02ABCB}" type="pres">
      <dgm:prSet presAssocID="{226A761A-0D6B-42B9-ABD6-997CF109D6E5}" presName="compNode" presStyleCnt="0"/>
      <dgm:spPr/>
    </dgm:pt>
    <dgm:pt modelId="{46239B09-0A4D-4914-973E-F228365DA393}" type="pres">
      <dgm:prSet presAssocID="{226A761A-0D6B-42B9-ABD6-997CF109D6E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D547615A-EBA1-4158-8A87-0CC819086851}" type="pres">
      <dgm:prSet presAssocID="{226A761A-0D6B-42B9-ABD6-997CF109D6E5}" presName="spaceRect" presStyleCnt="0"/>
      <dgm:spPr/>
    </dgm:pt>
    <dgm:pt modelId="{A3C9A0BD-D848-4A65-ADC1-801388BBB191}" type="pres">
      <dgm:prSet presAssocID="{226A761A-0D6B-42B9-ABD6-997CF109D6E5}" presName="textRect" presStyleLbl="revTx" presStyleIdx="2" presStyleCnt="5">
        <dgm:presLayoutVars>
          <dgm:chMax val="1"/>
          <dgm:chPref val="1"/>
        </dgm:presLayoutVars>
      </dgm:prSet>
      <dgm:spPr/>
    </dgm:pt>
    <dgm:pt modelId="{E79AE2A7-3ED5-4E4F-8B47-CF14635A794B}" type="pres">
      <dgm:prSet presAssocID="{2D9A2E04-28DA-4AA9-A36E-4CBEDF9A1B96}" presName="sibTrans" presStyleCnt="0"/>
      <dgm:spPr/>
    </dgm:pt>
    <dgm:pt modelId="{181E74CE-6761-469F-BB6A-24338EB24B91}" type="pres">
      <dgm:prSet presAssocID="{C5220825-7E54-4341-99E3-4BEA3BCF2776}" presName="compNode" presStyleCnt="0"/>
      <dgm:spPr/>
    </dgm:pt>
    <dgm:pt modelId="{735901BB-AF86-40B8-B68F-428B6C66A21A}" type="pres">
      <dgm:prSet presAssocID="{C5220825-7E54-4341-99E3-4BEA3BCF277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7E8F53F3-3006-4E1F-BFB4-CDACA39E2E7B}" type="pres">
      <dgm:prSet presAssocID="{C5220825-7E54-4341-99E3-4BEA3BCF2776}" presName="spaceRect" presStyleCnt="0"/>
      <dgm:spPr/>
    </dgm:pt>
    <dgm:pt modelId="{D0CA28BC-AF2B-478C-978B-0FDCB80FDA68}" type="pres">
      <dgm:prSet presAssocID="{C5220825-7E54-4341-99E3-4BEA3BCF2776}" presName="textRect" presStyleLbl="revTx" presStyleIdx="3" presStyleCnt="5">
        <dgm:presLayoutVars>
          <dgm:chMax val="1"/>
          <dgm:chPref val="1"/>
        </dgm:presLayoutVars>
      </dgm:prSet>
      <dgm:spPr/>
    </dgm:pt>
    <dgm:pt modelId="{F570C84C-D724-45E4-A451-23BA057A83BA}" type="pres">
      <dgm:prSet presAssocID="{5D7B391B-1567-43D3-9DE6-B54837C78C3B}" presName="sibTrans" presStyleCnt="0"/>
      <dgm:spPr/>
    </dgm:pt>
    <dgm:pt modelId="{98E8E950-3710-44FF-8AE0-6623438FA6AD}" type="pres">
      <dgm:prSet presAssocID="{0D6AF1A7-DB52-4734-B4B6-8DC5B5381528}" presName="compNode" presStyleCnt="0"/>
      <dgm:spPr/>
    </dgm:pt>
    <dgm:pt modelId="{975977AF-B26B-4A65-9808-A3F3609D7FA7}" type="pres">
      <dgm:prSet presAssocID="{0D6AF1A7-DB52-4734-B4B6-8DC5B538152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32B78F6E-D05F-44D3-8D0E-955A3E70C539}" type="pres">
      <dgm:prSet presAssocID="{0D6AF1A7-DB52-4734-B4B6-8DC5B5381528}" presName="spaceRect" presStyleCnt="0"/>
      <dgm:spPr/>
    </dgm:pt>
    <dgm:pt modelId="{3BF8CEB9-83C6-428C-8216-EFD418BA2A2F}" type="pres">
      <dgm:prSet presAssocID="{0D6AF1A7-DB52-4734-B4B6-8DC5B5381528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8F368D03-1E03-46FA-82B1-A560DC00F3F6}" srcId="{2294B2A7-222B-47AE-9991-D03643E96A21}" destId="{0D6AF1A7-DB52-4734-B4B6-8DC5B5381528}" srcOrd="4" destOrd="0" parTransId="{0EFE6295-620D-4996-9E28-528FB5DD8142}" sibTransId="{7CABCA28-E979-4223-AB9F-2728CA6AD3B3}"/>
    <dgm:cxn modelId="{E246B417-7BF6-4F5C-9A24-4FD49A8D03F1}" type="presOf" srcId="{C5220825-7E54-4341-99E3-4BEA3BCF2776}" destId="{D0CA28BC-AF2B-478C-978B-0FDCB80FDA68}" srcOrd="0" destOrd="0" presId="urn:microsoft.com/office/officeart/2018/2/layout/IconLabelList"/>
    <dgm:cxn modelId="{EC353C33-6C5D-4325-A250-F1A2ABDD227B}" type="presOf" srcId="{0581FE8F-5E33-4016-B3CB-DA8CBD2CF292}" destId="{4A47E5A2-69F3-4CE6-B8C4-F064B2D53DD7}" srcOrd="0" destOrd="0" presId="urn:microsoft.com/office/officeart/2018/2/layout/IconLabelList"/>
    <dgm:cxn modelId="{98B59E4F-3B8E-414A-A18E-BF980187AF63}" type="presOf" srcId="{4B476F28-7144-468D-BD8C-9D4FEB64C800}" destId="{9FB9DF69-D1B8-487D-AA7E-3C1ECB5F9981}" srcOrd="0" destOrd="0" presId="urn:microsoft.com/office/officeart/2018/2/layout/IconLabelList"/>
    <dgm:cxn modelId="{ABA4B859-5926-4535-9C33-F6CF00718494}" type="presOf" srcId="{226A761A-0D6B-42B9-ABD6-997CF109D6E5}" destId="{A3C9A0BD-D848-4A65-ADC1-801388BBB191}" srcOrd="0" destOrd="0" presId="urn:microsoft.com/office/officeart/2018/2/layout/IconLabelList"/>
    <dgm:cxn modelId="{42AACA7A-D89A-41DB-97CD-2B971B3BF5E1}" type="presOf" srcId="{0D6AF1A7-DB52-4734-B4B6-8DC5B5381528}" destId="{3BF8CEB9-83C6-428C-8216-EFD418BA2A2F}" srcOrd="0" destOrd="0" presId="urn:microsoft.com/office/officeart/2018/2/layout/IconLabelList"/>
    <dgm:cxn modelId="{1596A38A-2F64-4EDB-8A88-F9278E039875}" srcId="{2294B2A7-222B-47AE-9991-D03643E96A21}" destId="{226A761A-0D6B-42B9-ABD6-997CF109D6E5}" srcOrd="2" destOrd="0" parTransId="{6931E1B2-D3C4-4CEE-A757-C0475AB015B5}" sibTransId="{2D9A2E04-28DA-4AA9-A36E-4CBEDF9A1B96}"/>
    <dgm:cxn modelId="{FA4BF5BC-240C-450F-925A-1AB56D064399}" type="presOf" srcId="{2294B2A7-222B-47AE-9991-D03643E96A21}" destId="{8B7FC771-5BB5-4803-9505-9A23DFE80EAE}" srcOrd="0" destOrd="0" presId="urn:microsoft.com/office/officeart/2018/2/layout/IconLabelList"/>
    <dgm:cxn modelId="{C67B57C1-CB27-4837-8246-A97C2F8E7064}" srcId="{2294B2A7-222B-47AE-9991-D03643E96A21}" destId="{C5220825-7E54-4341-99E3-4BEA3BCF2776}" srcOrd="3" destOrd="0" parTransId="{5ACAF1CF-8671-4812-AABE-F0F8A0DD7C03}" sibTransId="{5D7B391B-1567-43D3-9DE6-B54837C78C3B}"/>
    <dgm:cxn modelId="{6845FDC1-5428-4E0D-9F5A-1A97D5EFFCC4}" srcId="{2294B2A7-222B-47AE-9991-D03643E96A21}" destId="{0581FE8F-5E33-4016-B3CB-DA8CBD2CF292}" srcOrd="0" destOrd="0" parTransId="{FFD0DDC2-1636-4244-8679-C46FF277EB89}" sibTransId="{FD053785-9FED-44DA-BEA1-4D46EF305C7E}"/>
    <dgm:cxn modelId="{9C9A3BDF-049E-4DA7-B74E-A70905D8B145}" srcId="{2294B2A7-222B-47AE-9991-D03643E96A21}" destId="{4B476F28-7144-468D-BD8C-9D4FEB64C800}" srcOrd="1" destOrd="0" parTransId="{D2ABD19C-E13B-4F41-BC87-E47F84936B83}" sibTransId="{2810FDFA-2965-4DD1-B307-BFD23FF1CAD1}"/>
    <dgm:cxn modelId="{ABD0DD18-CA91-404E-ADBD-6DCDFB7886CD}" type="presParOf" srcId="{8B7FC771-5BB5-4803-9505-9A23DFE80EAE}" destId="{EF8E5039-1082-4BC2-9C2C-7A64E676B93A}" srcOrd="0" destOrd="0" presId="urn:microsoft.com/office/officeart/2018/2/layout/IconLabelList"/>
    <dgm:cxn modelId="{3E0AE3D6-4CFB-400F-AC63-F64BD93091AC}" type="presParOf" srcId="{EF8E5039-1082-4BC2-9C2C-7A64E676B93A}" destId="{D25FE112-7872-460D-B557-9E1D8E35BD5C}" srcOrd="0" destOrd="0" presId="urn:microsoft.com/office/officeart/2018/2/layout/IconLabelList"/>
    <dgm:cxn modelId="{C4ACA7D0-7366-4956-A526-010C68A8CFC1}" type="presParOf" srcId="{EF8E5039-1082-4BC2-9C2C-7A64E676B93A}" destId="{B4F03F94-B1A4-439C-83E3-C14CC7074DE3}" srcOrd="1" destOrd="0" presId="urn:microsoft.com/office/officeart/2018/2/layout/IconLabelList"/>
    <dgm:cxn modelId="{EEAC87F1-2652-4B0D-BD8B-DD836C3DAEB5}" type="presParOf" srcId="{EF8E5039-1082-4BC2-9C2C-7A64E676B93A}" destId="{4A47E5A2-69F3-4CE6-B8C4-F064B2D53DD7}" srcOrd="2" destOrd="0" presId="urn:microsoft.com/office/officeart/2018/2/layout/IconLabelList"/>
    <dgm:cxn modelId="{9379AA64-5C6B-4A16-8AF7-CEC9DE0485F7}" type="presParOf" srcId="{8B7FC771-5BB5-4803-9505-9A23DFE80EAE}" destId="{2652295F-0E49-4989-BF21-73ACA9555EBB}" srcOrd="1" destOrd="0" presId="urn:microsoft.com/office/officeart/2018/2/layout/IconLabelList"/>
    <dgm:cxn modelId="{EB33D5EE-0CA3-4AFB-B14A-5C151CEB75CE}" type="presParOf" srcId="{8B7FC771-5BB5-4803-9505-9A23DFE80EAE}" destId="{8077C3E3-B8D8-476B-8899-14611D1D25CC}" srcOrd="2" destOrd="0" presId="urn:microsoft.com/office/officeart/2018/2/layout/IconLabelList"/>
    <dgm:cxn modelId="{5D608BAE-E5A0-4ADA-A611-F29C62D47825}" type="presParOf" srcId="{8077C3E3-B8D8-476B-8899-14611D1D25CC}" destId="{42EBC8B3-17BC-4427-821C-DB56BE169782}" srcOrd="0" destOrd="0" presId="urn:microsoft.com/office/officeart/2018/2/layout/IconLabelList"/>
    <dgm:cxn modelId="{340EEBD7-2491-4DFF-8679-7FB95802202C}" type="presParOf" srcId="{8077C3E3-B8D8-476B-8899-14611D1D25CC}" destId="{01663D8B-E9AF-470A-BCAB-EBB9095E71AC}" srcOrd="1" destOrd="0" presId="urn:microsoft.com/office/officeart/2018/2/layout/IconLabelList"/>
    <dgm:cxn modelId="{26BE9DB7-4639-4AFD-8DCE-A8386B880C2B}" type="presParOf" srcId="{8077C3E3-B8D8-476B-8899-14611D1D25CC}" destId="{9FB9DF69-D1B8-487D-AA7E-3C1ECB5F9981}" srcOrd="2" destOrd="0" presId="urn:microsoft.com/office/officeart/2018/2/layout/IconLabelList"/>
    <dgm:cxn modelId="{F57FAA7B-B886-4119-A32D-5D1EC5DD902D}" type="presParOf" srcId="{8B7FC771-5BB5-4803-9505-9A23DFE80EAE}" destId="{1FEF31BA-D7D0-4D2F-8586-D64092EAD74A}" srcOrd="3" destOrd="0" presId="urn:microsoft.com/office/officeart/2018/2/layout/IconLabelList"/>
    <dgm:cxn modelId="{51BD4586-5F5A-4937-9FFE-89FAA1FD11F7}" type="presParOf" srcId="{8B7FC771-5BB5-4803-9505-9A23DFE80EAE}" destId="{2FE4A177-9D7A-44C6-80F9-65C51B02ABCB}" srcOrd="4" destOrd="0" presId="urn:microsoft.com/office/officeart/2018/2/layout/IconLabelList"/>
    <dgm:cxn modelId="{A0626485-6644-4B9B-A3CC-872975F50BBC}" type="presParOf" srcId="{2FE4A177-9D7A-44C6-80F9-65C51B02ABCB}" destId="{46239B09-0A4D-4914-973E-F228365DA393}" srcOrd="0" destOrd="0" presId="urn:microsoft.com/office/officeart/2018/2/layout/IconLabelList"/>
    <dgm:cxn modelId="{89697EAA-9B23-4D27-95FF-46A824B1DBE9}" type="presParOf" srcId="{2FE4A177-9D7A-44C6-80F9-65C51B02ABCB}" destId="{D547615A-EBA1-4158-8A87-0CC819086851}" srcOrd="1" destOrd="0" presId="urn:microsoft.com/office/officeart/2018/2/layout/IconLabelList"/>
    <dgm:cxn modelId="{60CDC537-BC0A-4653-8EFF-201352DB4991}" type="presParOf" srcId="{2FE4A177-9D7A-44C6-80F9-65C51B02ABCB}" destId="{A3C9A0BD-D848-4A65-ADC1-801388BBB191}" srcOrd="2" destOrd="0" presId="urn:microsoft.com/office/officeart/2018/2/layout/IconLabelList"/>
    <dgm:cxn modelId="{92D25CBC-5D7C-4EE7-B516-76BE7D60D596}" type="presParOf" srcId="{8B7FC771-5BB5-4803-9505-9A23DFE80EAE}" destId="{E79AE2A7-3ED5-4E4F-8B47-CF14635A794B}" srcOrd="5" destOrd="0" presId="urn:microsoft.com/office/officeart/2018/2/layout/IconLabelList"/>
    <dgm:cxn modelId="{1CA258A9-B7CC-4A8D-B5DA-EB3CE41BA199}" type="presParOf" srcId="{8B7FC771-5BB5-4803-9505-9A23DFE80EAE}" destId="{181E74CE-6761-469F-BB6A-24338EB24B91}" srcOrd="6" destOrd="0" presId="urn:microsoft.com/office/officeart/2018/2/layout/IconLabelList"/>
    <dgm:cxn modelId="{A3C35959-87FD-4539-A21B-828FD7217D77}" type="presParOf" srcId="{181E74CE-6761-469F-BB6A-24338EB24B91}" destId="{735901BB-AF86-40B8-B68F-428B6C66A21A}" srcOrd="0" destOrd="0" presId="urn:microsoft.com/office/officeart/2018/2/layout/IconLabelList"/>
    <dgm:cxn modelId="{24533F90-7F6E-436E-9652-B5315B081D3F}" type="presParOf" srcId="{181E74CE-6761-469F-BB6A-24338EB24B91}" destId="{7E8F53F3-3006-4E1F-BFB4-CDACA39E2E7B}" srcOrd="1" destOrd="0" presId="urn:microsoft.com/office/officeart/2018/2/layout/IconLabelList"/>
    <dgm:cxn modelId="{0F1E7BBF-239A-43DE-BF63-3B8CF0EE0E2D}" type="presParOf" srcId="{181E74CE-6761-469F-BB6A-24338EB24B91}" destId="{D0CA28BC-AF2B-478C-978B-0FDCB80FDA68}" srcOrd="2" destOrd="0" presId="urn:microsoft.com/office/officeart/2018/2/layout/IconLabelList"/>
    <dgm:cxn modelId="{83608B14-A32D-4EA3-AC88-8186ACF0EB44}" type="presParOf" srcId="{8B7FC771-5BB5-4803-9505-9A23DFE80EAE}" destId="{F570C84C-D724-45E4-A451-23BA057A83BA}" srcOrd="7" destOrd="0" presId="urn:microsoft.com/office/officeart/2018/2/layout/IconLabelList"/>
    <dgm:cxn modelId="{ACA02BD2-E4D0-4B49-8BC7-D36ED14BD882}" type="presParOf" srcId="{8B7FC771-5BB5-4803-9505-9A23DFE80EAE}" destId="{98E8E950-3710-44FF-8AE0-6623438FA6AD}" srcOrd="8" destOrd="0" presId="urn:microsoft.com/office/officeart/2018/2/layout/IconLabelList"/>
    <dgm:cxn modelId="{BA7739BA-0076-4F14-9A30-4A484A793DC8}" type="presParOf" srcId="{98E8E950-3710-44FF-8AE0-6623438FA6AD}" destId="{975977AF-B26B-4A65-9808-A3F3609D7FA7}" srcOrd="0" destOrd="0" presId="urn:microsoft.com/office/officeart/2018/2/layout/IconLabelList"/>
    <dgm:cxn modelId="{71402396-3773-4438-A776-14EE2B5916B3}" type="presParOf" srcId="{98E8E950-3710-44FF-8AE0-6623438FA6AD}" destId="{32B78F6E-D05F-44D3-8D0E-955A3E70C539}" srcOrd="1" destOrd="0" presId="urn:microsoft.com/office/officeart/2018/2/layout/IconLabelList"/>
    <dgm:cxn modelId="{C6AADB3C-97D1-406F-AD14-A9A62F07821C}" type="presParOf" srcId="{98E8E950-3710-44FF-8AE0-6623438FA6AD}" destId="{3BF8CEB9-83C6-428C-8216-EFD418BA2A2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61F08EA-B58E-4913-A349-58C5853B9CA9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3C03AA6-9A27-41A0-BEE5-6A8DE0E7881A}">
      <dgm:prSet/>
      <dgm:spPr/>
      <dgm:t>
        <a:bodyPr/>
        <a:lstStyle/>
        <a:p>
          <a:r>
            <a:rPr lang="en-US"/>
            <a:t>RIMS II is a backward-linkage model </a:t>
          </a:r>
        </a:p>
      </dgm:t>
    </dgm:pt>
    <dgm:pt modelId="{4EB20CB0-7E36-4EB5-8E4D-A8A3E18A4FF8}" type="parTrans" cxnId="{24FA445E-3D63-4B17-B65E-2B2522903F97}">
      <dgm:prSet/>
      <dgm:spPr/>
      <dgm:t>
        <a:bodyPr/>
        <a:lstStyle/>
        <a:p>
          <a:endParaRPr lang="en-US"/>
        </a:p>
      </dgm:t>
    </dgm:pt>
    <dgm:pt modelId="{BA5441B8-3749-48E9-942C-03E9E9E46086}" type="sibTrans" cxnId="{24FA445E-3D63-4B17-B65E-2B2522903F97}">
      <dgm:prSet/>
      <dgm:spPr/>
      <dgm:t>
        <a:bodyPr/>
        <a:lstStyle/>
        <a:p>
          <a:endParaRPr lang="en-US"/>
        </a:p>
      </dgm:t>
    </dgm:pt>
    <dgm:pt modelId="{59BBE309-1668-4473-8999-3B6B572D446F}">
      <dgm:prSet/>
      <dgm:spPr/>
      <dgm:t>
        <a:bodyPr/>
        <a:lstStyle/>
        <a:p>
          <a:r>
            <a:rPr lang="en-US"/>
            <a:t>RIMS II uses Fixed Purchase Patterns </a:t>
          </a:r>
        </a:p>
      </dgm:t>
    </dgm:pt>
    <dgm:pt modelId="{1B331409-8E0E-4AEE-BFBA-0F63F34CA087}" type="parTrans" cxnId="{E11589DF-046E-471B-872A-5287DF8532CF}">
      <dgm:prSet/>
      <dgm:spPr/>
      <dgm:t>
        <a:bodyPr/>
        <a:lstStyle/>
        <a:p>
          <a:endParaRPr lang="en-US"/>
        </a:p>
      </dgm:t>
    </dgm:pt>
    <dgm:pt modelId="{01637948-39E4-443E-B7D4-C92D4CAD4F45}" type="sibTrans" cxnId="{E11589DF-046E-471B-872A-5287DF8532CF}">
      <dgm:prSet/>
      <dgm:spPr/>
      <dgm:t>
        <a:bodyPr/>
        <a:lstStyle/>
        <a:p>
          <a:endParaRPr lang="en-US"/>
        </a:p>
      </dgm:t>
    </dgm:pt>
    <dgm:pt modelId="{4C74C690-1762-42A2-916B-4A21FA4FB712}">
      <dgm:prSet/>
      <dgm:spPr/>
      <dgm:t>
        <a:bodyPr/>
        <a:lstStyle/>
        <a:p>
          <a:r>
            <a:rPr lang="en-US"/>
            <a:t>Industry Homogeneity </a:t>
          </a:r>
        </a:p>
      </dgm:t>
    </dgm:pt>
    <dgm:pt modelId="{A87A8331-B613-4883-92D9-ABC46C7E9BB2}" type="parTrans" cxnId="{58EBF64D-7060-40D3-AB08-597994400FC9}">
      <dgm:prSet/>
      <dgm:spPr/>
      <dgm:t>
        <a:bodyPr/>
        <a:lstStyle/>
        <a:p>
          <a:endParaRPr lang="en-US"/>
        </a:p>
      </dgm:t>
    </dgm:pt>
    <dgm:pt modelId="{882F3AED-06C3-4E1A-8EC4-6CA71480BAF4}" type="sibTrans" cxnId="{58EBF64D-7060-40D3-AB08-597994400FC9}">
      <dgm:prSet/>
      <dgm:spPr/>
      <dgm:t>
        <a:bodyPr/>
        <a:lstStyle/>
        <a:p>
          <a:endParaRPr lang="en-US"/>
        </a:p>
      </dgm:t>
    </dgm:pt>
    <dgm:pt modelId="{409AD5C5-25B3-4CC2-A0DA-4F2A09ED3AB2}">
      <dgm:prSet/>
      <dgm:spPr/>
      <dgm:t>
        <a:bodyPr/>
        <a:lstStyle/>
        <a:p>
          <a:r>
            <a:rPr lang="en-US"/>
            <a:t>No Supply Constraints </a:t>
          </a:r>
        </a:p>
      </dgm:t>
    </dgm:pt>
    <dgm:pt modelId="{9F2A4A05-0D13-43F8-803F-930D8619D102}" type="parTrans" cxnId="{E6C66861-231A-453D-A4E6-B7FDDFA1E048}">
      <dgm:prSet/>
      <dgm:spPr/>
      <dgm:t>
        <a:bodyPr/>
        <a:lstStyle/>
        <a:p>
          <a:endParaRPr lang="en-US"/>
        </a:p>
      </dgm:t>
    </dgm:pt>
    <dgm:pt modelId="{594392C5-71CD-4FAD-8094-24781A6C876F}" type="sibTrans" cxnId="{E6C66861-231A-453D-A4E6-B7FDDFA1E048}">
      <dgm:prSet/>
      <dgm:spPr/>
      <dgm:t>
        <a:bodyPr/>
        <a:lstStyle/>
        <a:p>
          <a:endParaRPr lang="en-US"/>
        </a:p>
      </dgm:t>
    </dgm:pt>
    <dgm:pt modelId="{9F878606-35A5-4AB6-9763-96F3FB947264}">
      <dgm:prSet/>
      <dgm:spPr/>
      <dgm:t>
        <a:bodyPr/>
        <a:lstStyle/>
        <a:p>
          <a:r>
            <a:rPr lang="en-US"/>
            <a:t>No Regional Feedback </a:t>
          </a:r>
        </a:p>
      </dgm:t>
    </dgm:pt>
    <dgm:pt modelId="{E02F06D7-F3C2-4DF8-863C-12E8EEAA8649}" type="parTrans" cxnId="{D5FBF9A4-7A5E-4CD7-B151-FFE8379F0D70}">
      <dgm:prSet/>
      <dgm:spPr/>
      <dgm:t>
        <a:bodyPr/>
        <a:lstStyle/>
        <a:p>
          <a:endParaRPr lang="en-US"/>
        </a:p>
      </dgm:t>
    </dgm:pt>
    <dgm:pt modelId="{DC55F540-2135-4C93-8677-18556B797CEE}" type="sibTrans" cxnId="{D5FBF9A4-7A5E-4CD7-B151-FFE8379F0D70}">
      <dgm:prSet/>
      <dgm:spPr/>
      <dgm:t>
        <a:bodyPr/>
        <a:lstStyle/>
        <a:p>
          <a:endParaRPr lang="en-US"/>
        </a:p>
      </dgm:t>
    </dgm:pt>
    <dgm:pt modelId="{8866B9B2-D8B1-4168-9001-7F683E697B6E}">
      <dgm:prSet/>
      <dgm:spPr/>
      <dgm:t>
        <a:bodyPr/>
        <a:lstStyle/>
        <a:p>
          <a:r>
            <a:rPr lang="en-US"/>
            <a:t>No Time Dimension</a:t>
          </a:r>
        </a:p>
      </dgm:t>
    </dgm:pt>
    <dgm:pt modelId="{102CF63F-F337-44DD-80DE-21C05D8C218A}" type="parTrans" cxnId="{4FAEDC33-CCB7-4046-9122-10C74438ED39}">
      <dgm:prSet/>
      <dgm:spPr/>
      <dgm:t>
        <a:bodyPr/>
        <a:lstStyle/>
        <a:p>
          <a:endParaRPr lang="en-US"/>
        </a:p>
      </dgm:t>
    </dgm:pt>
    <dgm:pt modelId="{6E9B08F8-D6AE-429D-BABC-F216FED725D4}" type="sibTrans" cxnId="{4FAEDC33-CCB7-4046-9122-10C74438ED39}">
      <dgm:prSet/>
      <dgm:spPr/>
      <dgm:t>
        <a:bodyPr/>
        <a:lstStyle/>
        <a:p>
          <a:endParaRPr lang="en-US"/>
        </a:p>
      </dgm:t>
    </dgm:pt>
    <dgm:pt modelId="{90B87C2A-B802-4465-8AFB-AF65B660A0DD}" type="pres">
      <dgm:prSet presAssocID="{561F08EA-B58E-4913-A349-58C5853B9CA9}" presName="diagram" presStyleCnt="0">
        <dgm:presLayoutVars>
          <dgm:dir/>
          <dgm:resizeHandles val="exact"/>
        </dgm:presLayoutVars>
      </dgm:prSet>
      <dgm:spPr/>
    </dgm:pt>
    <dgm:pt modelId="{3916D363-4447-4A86-9669-1C867D6D4AF9}" type="pres">
      <dgm:prSet presAssocID="{23C03AA6-9A27-41A0-BEE5-6A8DE0E7881A}" presName="node" presStyleLbl="node1" presStyleIdx="0" presStyleCnt="6">
        <dgm:presLayoutVars>
          <dgm:bulletEnabled val="1"/>
        </dgm:presLayoutVars>
      </dgm:prSet>
      <dgm:spPr/>
    </dgm:pt>
    <dgm:pt modelId="{F58C9478-7CA2-42C3-B0A4-FC3C5BA0C8E6}" type="pres">
      <dgm:prSet presAssocID="{BA5441B8-3749-48E9-942C-03E9E9E46086}" presName="sibTrans" presStyleCnt="0"/>
      <dgm:spPr/>
    </dgm:pt>
    <dgm:pt modelId="{6675F9BC-D863-43A9-8CC9-2C91F1D075EE}" type="pres">
      <dgm:prSet presAssocID="{59BBE309-1668-4473-8999-3B6B572D446F}" presName="node" presStyleLbl="node1" presStyleIdx="1" presStyleCnt="6">
        <dgm:presLayoutVars>
          <dgm:bulletEnabled val="1"/>
        </dgm:presLayoutVars>
      </dgm:prSet>
      <dgm:spPr/>
    </dgm:pt>
    <dgm:pt modelId="{E4BAAAF6-ACBC-4C02-BA99-52E5D63C83A2}" type="pres">
      <dgm:prSet presAssocID="{01637948-39E4-443E-B7D4-C92D4CAD4F45}" presName="sibTrans" presStyleCnt="0"/>
      <dgm:spPr/>
    </dgm:pt>
    <dgm:pt modelId="{F794A59A-6EDF-46C2-9C26-22565C8EE2A0}" type="pres">
      <dgm:prSet presAssocID="{4C74C690-1762-42A2-916B-4A21FA4FB712}" presName="node" presStyleLbl="node1" presStyleIdx="2" presStyleCnt="6">
        <dgm:presLayoutVars>
          <dgm:bulletEnabled val="1"/>
        </dgm:presLayoutVars>
      </dgm:prSet>
      <dgm:spPr/>
    </dgm:pt>
    <dgm:pt modelId="{B2167A89-6FC7-4C2A-AB39-84E54F5F3694}" type="pres">
      <dgm:prSet presAssocID="{882F3AED-06C3-4E1A-8EC4-6CA71480BAF4}" presName="sibTrans" presStyleCnt="0"/>
      <dgm:spPr/>
    </dgm:pt>
    <dgm:pt modelId="{123C3175-4E50-4A8B-8086-78C7A35F7C9F}" type="pres">
      <dgm:prSet presAssocID="{409AD5C5-25B3-4CC2-A0DA-4F2A09ED3AB2}" presName="node" presStyleLbl="node1" presStyleIdx="3" presStyleCnt="6">
        <dgm:presLayoutVars>
          <dgm:bulletEnabled val="1"/>
        </dgm:presLayoutVars>
      </dgm:prSet>
      <dgm:spPr/>
    </dgm:pt>
    <dgm:pt modelId="{AD4D7689-003C-47FE-A0C5-B49C38EC3E14}" type="pres">
      <dgm:prSet presAssocID="{594392C5-71CD-4FAD-8094-24781A6C876F}" presName="sibTrans" presStyleCnt="0"/>
      <dgm:spPr/>
    </dgm:pt>
    <dgm:pt modelId="{F3744EBD-A39C-4046-A147-CC482568A6D3}" type="pres">
      <dgm:prSet presAssocID="{9F878606-35A5-4AB6-9763-96F3FB947264}" presName="node" presStyleLbl="node1" presStyleIdx="4" presStyleCnt="6">
        <dgm:presLayoutVars>
          <dgm:bulletEnabled val="1"/>
        </dgm:presLayoutVars>
      </dgm:prSet>
      <dgm:spPr/>
    </dgm:pt>
    <dgm:pt modelId="{7369B2D5-2C0C-4530-A186-6374E21D4710}" type="pres">
      <dgm:prSet presAssocID="{DC55F540-2135-4C93-8677-18556B797CEE}" presName="sibTrans" presStyleCnt="0"/>
      <dgm:spPr/>
    </dgm:pt>
    <dgm:pt modelId="{BB476697-311B-457D-B6F2-A8556FBC4626}" type="pres">
      <dgm:prSet presAssocID="{8866B9B2-D8B1-4168-9001-7F683E697B6E}" presName="node" presStyleLbl="node1" presStyleIdx="5" presStyleCnt="6">
        <dgm:presLayoutVars>
          <dgm:bulletEnabled val="1"/>
        </dgm:presLayoutVars>
      </dgm:prSet>
      <dgm:spPr/>
    </dgm:pt>
  </dgm:ptLst>
  <dgm:cxnLst>
    <dgm:cxn modelId="{D4C44F18-FCB3-4327-ADE4-A7B77A80F82E}" type="presOf" srcId="{409AD5C5-25B3-4CC2-A0DA-4F2A09ED3AB2}" destId="{123C3175-4E50-4A8B-8086-78C7A35F7C9F}" srcOrd="0" destOrd="0" presId="urn:microsoft.com/office/officeart/2005/8/layout/default"/>
    <dgm:cxn modelId="{4FAEDC33-CCB7-4046-9122-10C74438ED39}" srcId="{561F08EA-B58E-4913-A349-58C5853B9CA9}" destId="{8866B9B2-D8B1-4168-9001-7F683E697B6E}" srcOrd="5" destOrd="0" parTransId="{102CF63F-F337-44DD-80DE-21C05D8C218A}" sibTransId="{6E9B08F8-D6AE-429D-BABC-F216FED725D4}"/>
    <dgm:cxn modelId="{24FA445E-3D63-4B17-B65E-2B2522903F97}" srcId="{561F08EA-B58E-4913-A349-58C5853B9CA9}" destId="{23C03AA6-9A27-41A0-BEE5-6A8DE0E7881A}" srcOrd="0" destOrd="0" parTransId="{4EB20CB0-7E36-4EB5-8E4D-A8A3E18A4FF8}" sibTransId="{BA5441B8-3749-48E9-942C-03E9E9E46086}"/>
    <dgm:cxn modelId="{E6C66861-231A-453D-A4E6-B7FDDFA1E048}" srcId="{561F08EA-B58E-4913-A349-58C5853B9CA9}" destId="{409AD5C5-25B3-4CC2-A0DA-4F2A09ED3AB2}" srcOrd="3" destOrd="0" parTransId="{9F2A4A05-0D13-43F8-803F-930D8619D102}" sibTransId="{594392C5-71CD-4FAD-8094-24781A6C876F}"/>
    <dgm:cxn modelId="{09BB4143-9951-4565-880B-BE8326A292A7}" type="presOf" srcId="{59BBE309-1668-4473-8999-3B6B572D446F}" destId="{6675F9BC-D863-43A9-8CC9-2C91F1D075EE}" srcOrd="0" destOrd="0" presId="urn:microsoft.com/office/officeart/2005/8/layout/default"/>
    <dgm:cxn modelId="{58EBF64D-7060-40D3-AB08-597994400FC9}" srcId="{561F08EA-B58E-4913-A349-58C5853B9CA9}" destId="{4C74C690-1762-42A2-916B-4A21FA4FB712}" srcOrd="2" destOrd="0" parTransId="{A87A8331-B613-4883-92D9-ABC46C7E9BB2}" sibTransId="{882F3AED-06C3-4E1A-8EC4-6CA71480BAF4}"/>
    <dgm:cxn modelId="{849F438A-7261-4EA9-A33C-43462AE961F2}" type="presOf" srcId="{8866B9B2-D8B1-4168-9001-7F683E697B6E}" destId="{BB476697-311B-457D-B6F2-A8556FBC4626}" srcOrd="0" destOrd="0" presId="urn:microsoft.com/office/officeart/2005/8/layout/default"/>
    <dgm:cxn modelId="{D5FBF9A4-7A5E-4CD7-B151-FFE8379F0D70}" srcId="{561F08EA-B58E-4913-A349-58C5853B9CA9}" destId="{9F878606-35A5-4AB6-9763-96F3FB947264}" srcOrd="4" destOrd="0" parTransId="{E02F06D7-F3C2-4DF8-863C-12E8EEAA8649}" sibTransId="{DC55F540-2135-4C93-8677-18556B797CEE}"/>
    <dgm:cxn modelId="{E97161A8-9D40-43F9-94BD-81B444166A12}" type="presOf" srcId="{561F08EA-B58E-4913-A349-58C5853B9CA9}" destId="{90B87C2A-B802-4465-8AFB-AF65B660A0DD}" srcOrd="0" destOrd="0" presId="urn:microsoft.com/office/officeart/2005/8/layout/default"/>
    <dgm:cxn modelId="{9DF60ABB-409A-4A7D-A4A8-E94B7C29490F}" type="presOf" srcId="{23C03AA6-9A27-41A0-BEE5-6A8DE0E7881A}" destId="{3916D363-4447-4A86-9669-1C867D6D4AF9}" srcOrd="0" destOrd="0" presId="urn:microsoft.com/office/officeart/2005/8/layout/default"/>
    <dgm:cxn modelId="{27455EC2-BCDA-4533-AE41-22EAA6CDB5E3}" type="presOf" srcId="{9F878606-35A5-4AB6-9763-96F3FB947264}" destId="{F3744EBD-A39C-4046-A147-CC482568A6D3}" srcOrd="0" destOrd="0" presId="urn:microsoft.com/office/officeart/2005/8/layout/default"/>
    <dgm:cxn modelId="{E11589DF-046E-471B-872A-5287DF8532CF}" srcId="{561F08EA-B58E-4913-A349-58C5853B9CA9}" destId="{59BBE309-1668-4473-8999-3B6B572D446F}" srcOrd="1" destOrd="0" parTransId="{1B331409-8E0E-4AEE-BFBA-0F63F34CA087}" sibTransId="{01637948-39E4-443E-B7D4-C92D4CAD4F45}"/>
    <dgm:cxn modelId="{BEE945E9-54DD-43DC-95E4-BBCCDD9193B9}" type="presOf" srcId="{4C74C690-1762-42A2-916B-4A21FA4FB712}" destId="{F794A59A-6EDF-46C2-9C26-22565C8EE2A0}" srcOrd="0" destOrd="0" presId="urn:microsoft.com/office/officeart/2005/8/layout/default"/>
    <dgm:cxn modelId="{74378C0F-945D-4FC4-9A64-F5C6312B5F26}" type="presParOf" srcId="{90B87C2A-B802-4465-8AFB-AF65B660A0DD}" destId="{3916D363-4447-4A86-9669-1C867D6D4AF9}" srcOrd="0" destOrd="0" presId="urn:microsoft.com/office/officeart/2005/8/layout/default"/>
    <dgm:cxn modelId="{1B323394-06D0-4B6B-AA90-D06E78EE6441}" type="presParOf" srcId="{90B87C2A-B802-4465-8AFB-AF65B660A0DD}" destId="{F58C9478-7CA2-42C3-B0A4-FC3C5BA0C8E6}" srcOrd="1" destOrd="0" presId="urn:microsoft.com/office/officeart/2005/8/layout/default"/>
    <dgm:cxn modelId="{D9A10F15-8EC8-41C0-A659-55485770153B}" type="presParOf" srcId="{90B87C2A-B802-4465-8AFB-AF65B660A0DD}" destId="{6675F9BC-D863-43A9-8CC9-2C91F1D075EE}" srcOrd="2" destOrd="0" presId="urn:microsoft.com/office/officeart/2005/8/layout/default"/>
    <dgm:cxn modelId="{A12BC26E-0AC9-4BFC-A4C8-48077455ABA3}" type="presParOf" srcId="{90B87C2A-B802-4465-8AFB-AF65B660A0DD}" destId="{E4BAAAF6-ACBC-4C02-BA99-52E5D63C83A2}" srcOrd="3" destOrd="0" presId="urn:microsoft.com/office/officeart/2005/8/layout/default"/>
    <dgm:cxn modelId="{EB4EA79F-B13E-481A-8F77-8F9DC5FF46C8}" type="presParOf" srcId="{90B87C2A-B802-4465-8AFB-AF65B660A0DD}" destId="{F794A59A-6EDF-46C2-9C26-22565C8EE2A0}" srcOrd="4" destOrd="0" presId="urn:microsoft.com/office/officeart/2005/8/layout/default"/>
    <dgm:cxn modelId="{A02D4745-480F-458C-801E-1B1D2C5387B2}" type="presParOf" srcId="{90B87C2A-B802-4465-8AFB-AF65B660A0DD}" destId="{B2167A89-6FC7-4C2A-AB39-84E54F5F3694}" srcOrd="5" destOrd="0" presId="urn:microsoft.com/office/officeart/2005/8/layout/default"/>
    <dgm:cxn modelId="{A14676A4-7928-4E29-836C-4517C8DC93A9}" type="presParOf" srcId="{90B87C2A-B802-4465-8AFB-AF65B660A0DD}" destId="{123C3175-4E50-4A8B-8086-78C7A35F7C9F}" srcOrd="6" destOrd="0" presId="urn:microsoft.com/office/officeart/2005/8/layout/default"/>
    <dgm:cxn modelId="{A3E7B676-D74D-4BA8-80AC-D97F84F84FC4}" type="presParOf" srcId="{90B87C2A-B802-4465-8AFB-AF65B660A0DD}" destId="{AD4D7689-003C-47FE-A0C5-B49C38EC3E14}" srcOrd="7" destOrd="0" presId="urn:microsoft.com/office/officeart/2005/8/layout/default"/>
    <dgm:cxn modelId="{B63C60C4-87D6-49DC-BF8E-97F65DB70DBB}" type="presParOf" srcId="{90B87C2A-B802-4465-8AFB-AF65B660A0DD}" destId="{F3744EBD-A39C-4046-A147-CC482568A6D3}" srcOrd="8" destOrd="0" presId="urn:microsoft.com/office/officeart/2005/8/layout/default"/>
    <dgm:cxn modelId="{1FBA510E-3313-4E25-BF61-887F2BC9F07D}" type="presParOf" srcId="{90B87C2A-B802-4465-8AFB-AF65B660A0DD}" destId="{7369B2D5-2C0C-4530-A186-6374E21D4710}" srcOrd="9" destOrd="0" presId="urn:microsoft.com/office/officeart/2005/8/layout/default"/>
    <dgm:cxn modelId="{C70A0484-07BF-437A-8F03-F985CE1BDF81}" type="presParOf" srcId="{90B87C2A-B802-4465-8AFB-AF65B660A0DD}" destId="{BB476697-311B-457D-B6F2-A8556FBC4626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F6C4CB4-DE87-4648-8B92-8A83B1F204A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F89F7292-0756-4F56-AE61-69A43A086A91}">
      <dgm:prSet/>
      <dgm:spPr/>
      <dgm:t>
        <a:bodyPr/>
        <a:lstStyle/>
        <a:p>
          <a:r>
            <a:rPr lang="en-US"/>
            <a:t>RIMS II multipliers are only meaningful for analyzing the impact of final demand change in a region. Final demand consist of a number of different types of transactions:</a:t>
          </a:r>
        </a:p>
      </dgm:t>
    </dgm:pt>
    <dgm:pt modelId="{4CB249DF-897F-4669-8CD5-DF4D5F570F4D}" type="parTrans" cxnId="{9CCAF727-7516-4B4F-91AB-A6200C8CAABC}">
      <dgm:prSet/>
      <dgm:spPr/>
      <dgm:t>
        <a:bodyPr/>
        <a:lstStyle/>
        <a:p>
          <a:endParaRPr lang="en-US"/>
        </a:p>
      </dgm:t>
    </dgm:pt>
    <dgm:pt modelId="{DA179AA2-69C0-45B4-B273-ABBB0F212A2A}" type="sibTrans" cxnId="{9CCAF727-7516-4B4F-91AB-A6200C8CAABC}">
      <dgm:prSet/>
      <dgm:spPr/>
      <dgm:t>
        <a:bodyPr/>
        <a:lstStyle/>
        <a:p>
          <a:endParaRPr lang="en-US"/>
        </a:p>
      </dgm:t>
    </dgm:pt>
    <dgm:pt modelId="{C3F4A38F-01B9-48B2-8936-6B852FB8FE13}">
      <dgm:prSet/>
      <dgm:spPr/>
      <dgm:t>
        <a:bodyPr/>
        <a:lstStyle/>
        <a:p>
          <a:r>
            <a:rPr lang="en-US"/>
            <a:t>Purchases by consumers outside the region </a:t>
          </a:r>
        </a:p>
      </dgm:t>
    </dgm:pt>
    <dgm:pt modelId="{26B39E47-03DA-4D14-93CD-F6821FCB0956}" type="parTrans" cxnId="{DD7ACCD5-E12F-460C-83F3-2EAA27F002B1}">
      <dgm:prSet/>
      <dgm:spPr/>
      <dgm:t>
        <a:bodyPr/>
        <a:lstStyle/>
        <a:p>
          <a:endParaRPr lang="en-US"/>
        </a:p>
      </dgm:t>
    </dgm:pt>
    <dgm:pt modelId="{DE269E78-10E5-41E1-BE2D-CA620CC066DF}" type="sibTrans" cxnId="{DD7ACCD5-E12F-460C-83F3-2EAA27F002B1}">
      <dgm:prSet/>
      <dgm:spPr/>
      <dgm:t>
        <a:bodyPr/>
        <a:lstStyle/>
        <a:p>
          <a:endParaRPr lang="en-US"/>
        </a:p>
      </dgm:t>
    </dgm:pt>
    <dgm:pt modelId="{4921CD2F-66CA-4EF0-A4C6-B08D2D4D2BB4}">
      <dgm:prSet/>
      <dgm:spPr/>
      <dgm:t>
        <a:bodyPr/>
        <a:lstStyle/>
        <a:p>
          <a:r>
            <a:rPr lang="en-US"/>
            <a:t>Investment in new buildings, equipment, and software</a:t>
          </a:r>
        </a:p>
      </dgm:t>
    </dgm:pt>
    <dgm:pt modelId="{6004E3EF-FE46-45B0-9E7B-DA8A1CC1D9F2}" type="parTrans" cxnId="{A5E3E528-E046-4E21-9FCB-84974EA07B65}">
      <dgm:prSet/>
      <dgm:spPr/>
      <dgm:t>
        <a:bodyPr/>
        <a:lstStyle/>
        <a:p>
          <a:endParaRPr lang="en-US"/>
        </a:p>
      </dgm:t>
    </dgm:pt>
    <dgm:pt modelId="{A0D62DA7-70AE-4541-8533-C0600C7A42C1}" type="sibTrans" cxnId="{A5E3E528-E046-4E21-9FCB-84974EA07B65}">
      <dgm:prSet/>
      <dgm:spPr/>
      <dgm:t>
        <a:bodyPr/>
        <a:lstStyle/>
        <a:p>
          <a:endParaRPr lang="en-US"/>
        </a:p>
      </dgm:t>
    </dgm:pt>
    <dgm:pt modelId="{4D88877F-559D-4A40-8B4E-962EF076D8E0}">
      <dgm:prSet/>
      <dgm:spPr/>
      <dgm:t>
        <a:bodyPr/>
        <a:lstStyle/>
        <a:p>
          <a:r>
            <a:rPr lang="en-US"/>
            <a:t>Purchases by government </a:t>
          </a:r>
        </a:p>
      </dgm:t>
    </dgm:pt>
    <dgm:pt modelId="{29A498EE-C0C6-400A-B786-996B1E67A104}" type="parTrans" cxnId="{525E3C88-9FA0-458A-A078-D2D62CB17368}">
      <dgm:prSet/>
      <dgm:spPr/>
      <dgm:t>
        <a:bodyPr/>
        <a:lstStyle/>
        <a:p>
          <a:endParaRPr lang="en-US"/>
        </a:p>
      </dgm:t>
    </dgm:pt>
    <dgm:pt modelId="{499C6698-E2DF-48E0-9438-E1C1B88D2DEF}" type="sibTrans" cxnId="{525E3C88-9FA0-458A-A078-D2D62CB17368}">
      <dgm:prSet/>
      <dgm:spPr/>
      <dgm:t>
        <a:bodyPr/>
        <a:lstStyle/>
        <a:p>
          <a:endParaRPr lang="en-US"/>
        </a:p>
      </dgm:t>
    </dgm:pt>
    <dgm:pt modelId="{6AEF311F-FB6A-4377-B875-137135451CA5}">
      <dgm:prSet/>
      <dgm:spPr/>
      <dgm:t>
        <a:bodyPr/>
        <a:lstStyle/>
        <a:p>
          <a:r>
            <a:rPr lang="en-US"/>
            <a:t>Purchases by households</a:t>
          </a:r>
        </a:p>
      </dgm:t>
    </dgm:pt>
    <dgm:pt modelId="{B13D184B-C3F6-4499-8CDD-7CD5D38E0771}" type="parTrans" cxnId="{61E0B7D8-E939-445D-B2D6-1BEA83671B4C}">
      <dgm:prSet/>
      <dgm:spPr/>
      <dgm:t>
        <a:bodyPr/>
        <a:lstStyle/>
        <a:p>
          <a:endParaRPr lang="en-US"/>
        </a:p>
      </dgm:t>
    </dgm:pt>
    <dgm:pt modelId="{94879B5F-101A-4ABA-83E6-F079B3255B91}" type="sibTrans" cxnId="{61E0B7D8-E939-445D-B2D6-1BEA83671B4C}">
      <dgm:prSet/>
      <dgm:spPr/>
      <dgm:t>
        <a:bodyPr/>
        <a:lstStyle/>
        <a:p>
          <a:endParaRPr lang="en-US"/>
        </a:p>
      </dgm:t>
    </dgm:pt>
    <dgm:pt modelId="{27BFAD0E-A54A-4541-8C27-FD9535AF5A57}" type="pres">
      <dgm:prSet presAssocID="{9F6C4CB4-DE87-4648-8B92-8A83B1F204A2}" presName="root" presStyleCnt="0">
        <dgm:presLayoutVars>
          <dgm:dir/>
          <dgm:resizeHandles val="exact"/>
        </dgm:presLayoutVars>
      </dgm:prSet>
      <dgm:spPr/>
    </dgm:pt>
    <dgm:pt modelId="{F19AA0B8-9814-4151-8A92-AFC7D1C1A14F}" type="pres">
      <dgm:prSet presAssocID="{F89F7292-0756-4F56-AE61-69A43A086A91}" presName="compNode" presStyleCnt="0"/>
      <dgm:spPr/>
    </dgm:pt>
    <dgm:pt modelId="{7B0E7AF9-987F-41C1-AA86-DB037AE0400A}" type="pres">
      <dgm:prSet presAssocID="{F89F7292-0756-4F56-AE61-69A43A086A91}" presName="bgRect" presStyleLbl="bgShp" presStyleIdx="0" presStyleCnt="5"/>
      <dgm:spPr/>
    </dgm:pt>
    <dgm:pt modelId="{A5EEF784-4D59-4C35-8817-FE10A15ADFEA}" type="pres">
      <dgm:prSet presAssocID="{F89F7292-0756-4F56-AE61-69A43A086A9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Upward Trend"/>
        </a:ext>
      </dgm:extLst>
    </dgm:pt>
    <dgm:pt modelId="{372D6FCA-97AC-4A23-A49B-99D98EC83658}" type="pres">
      <dgm:prSet presAssocID="{F89F7292-0756-4F56-AE61-69A43A086A91}" presName="spaceRect" presStyleCnt="0"/>
      <dgm:spPr/>
    </dgm:pt>
    <dgm:pt modelId="{4F6BC50C-31F5-4B5E-AD41-4E855AF248E6}" type="pres">
      <dgm:prSet presAssocID="{F89F7292-0756-4F56-AE61-69A43A086A91}" presName="parTx" presStyleLbl="revTx" presStyleIdx="0" presStyleCnt="5">
        <dgm:presLayoutVars>
          <dgm:chMax val="0"/>
          <dgm:chPref val="0"/>
        </dgm:presLayoutVars>
      </dgm:prSet>
      <dgm:spPr/>
    </dgm:pt>
    <dgm:pt modelId="{F2411EC7-E83D-41F4-828B-74D9DA61904F}" type="pres">
      <dgm:prSet presAssocID="{DA179AA2-69C0-45B4-B273-ABBB0F212A2A}" presName="sibTrans" presStyleCnt="0"/>
      <dgm:spPr/>
    </dgm:pt>
    <dgm:pt modelId="{2E03BBF4-20EC-4460-BD02-C1088B273FF8}" type="pres">
      <dgm:prSet presAssocID="{C3F4A38F-01B9-48B2-8936-6B852FB8FE13}" presName="compNode" presStyleCnt="0"/>
      <dgm:spPr/>
    </dgm:pt>
    <dgm:pt modelId="{992B3487-509D-464A-A831-E549A238D33C}" type="pres">
      <dgm:prSet presAssocID="{C3F4A38F-01B9-48B2-8936-6B852FB8FE13}" presName="bgRect" presStyleLbl="bgShp" presStyleIdx="1" presStyleCnt="5"/>
      <dgm:spPr/>
    </dgm:pt>
    <dgm:pt modelId="{3CD5B77D-A030-4223-8727-8B937217D297}" type="pres">
      <dgm:prSet presAssocID="{C3F4A38F-01B9-48B2-8936-6B852FB8FE1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9FE3F95F-5103-4A37-A9FD-53BAE15F1F35}" type="pres">
      <dgm:prSet presAssocID="{C3F4A38F-01B9-48B2-8936-6B852FB8FE13}" presName="spaceRect" presStyleCnt="0"/>
      <dgm:spPr/>
    </dgm:pt>
    <dgm:pt modelId="{5E6A1480-2E20-4B53-8E10-A59A8974F76F}" type="pres">
      <dgm:prSet presAssocID="{C3F4A38F-01B9-48B2-8936-6B852FB8FE13}" presName="parTx" presStyleLbl="revTx" presStyleIdx="1" presStyleCnt="5">
        <dgm:presLayoutVars>
          <dgm:chMax val="0"/>
          <dgm:chPref val="0"/>
        </dgm:presLayoutVars>
      </dgm:prSet>
      <dgm:spPr/>
    </dgm:pt>
    <dgm:pt modelId="{61D56735-EBDF-4557-922F-6D6B8AB355AB}" type="pres">
      <dgm:prSet presAssocID="{DE269E78-10E5-41E1-BE2D-CA620CC066DF}" presName="sibTrans" presStyleCnt="0"/>
      <dgm:spPr/>
    </dgm:pt>
    <dgm:pt modelId="{1C7C6428-98E0-4A0F-A2B3-7FB2DE427BBE}" type="pres">
      <dgm:prSet presAssocID="{4921CD2F-66CA-4EF0-A4C6-B08D2D4D2BB4}" presName="compNode" presStyleCnt="0"/>
      <dgm:spPr/>
    </dgm:pt>
    <dgm:pt modelId="{206F2895-CFA6-4281-8E8C-39C28A0562FD}" type="pres">
      <dgm:prSet presAssocID="{4921CD2F-66CA-4EF0-A4C6-B08D2D4D2BB4}" presName="bgRect" presStyleLbl="bgShp" presStyleIdx="2" presStyleCnt="5"/>
      <dgm:spPr/>
    </dgm:pt>
    <dgm:pt modelId="{5A2F8FC9-39B9-421A-9D88-DB32A88EF4A4}" type="pres">
      <dgm:prSet presAssocID="{4921CD2F-66CA-4EF0-A4C6-B08D2D4D2BB4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171711C2-7082-4300-90B4-1C80FFA06732}" type="pres">
      <dgm:prSet presAssocID="{4921CD2F-66CA-4EF0-A4C6-B08D2D4D2BB4}" presName="spaceRect" presStyleCnt="0"/>
      <dgm:spPr/>
    </dgm:pt>
    <dgm:pt modelId="{34C011A2-76B8-4B75-8AAC-3AF66BC47560}" type="pres">
      <dgm:prSet presAssocID="{4921CD2F-66CA-4EF0-A4C6-B08D2D4D2BB4}" presName="parTx" presStyleLbl="revTx" presStyleIdx="2" presStyleCnt="5">
        <dgm:presLayoutVars>
          <dgm:chMax val="0"/>
          <dgm:chPref val="0"/>
        </dgm:presLayoutVars>
      </dgm:prSet>
      <dgm:spPr/>
    </dgm:pt>
    <dgm:pt modelId="{5A3D28DB-5397-4495-A2E9-E7E1E2771A8D}" type="pres">
      <dgm:prSet presAssocID="{A0D62DA7-70AE-4541-8533-C0600C7A42C1}" presName="sibTrans" presStyleCnt="0"/>
      <dgm:spPr/>
    </dgm:pt>
    <dgm:pt modelId="{6E645F2E-B67D-457A-B5A9-32F438C34BF4}" type="pres">
      <dgm:prSet presAssocID="{4D88877F-559D-4A40-8B4E-962EF076D8E0}" presName="compNode" presStyleCnt="0"/>
      <dgm:spPr/>
    </dgm:pt>
    <dgm:pt modelId="{0E31BB4E-62E8-4D55-85E3-A19D483CD37A}" type="pres">
      <dgm:prSet presAssocID="{4D88877F-559D-4A40-8B4E-962EF076D8E0}" presName="bgRect" presStyleLbl="bgShp" presStyleIdx="3" presStyleCnt="5"/>
      <dgm:spPr/>
    </dgm:pt>
    <dgm:pt modelId="{A519D8F9-63D8-4507-9BEE-65580A093A7D}" type="pres">
      <dgm:prSet presAssocID="{4D88877F-559D-4A40-8B4E-962EF076D8E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DF48DBE2-58FD-4293-B81D-39F8F00EC334}" type="pres">
      <dgm:prSet presAssocID="{4D88877F-559D-4A40-8B4E-962EF076D8E0}" presName="spaceRect" presStyleCnt="0"/>
      <dgm:spPr/>
    </dgm:pt>
    <dgm:pt modelId="{4A5C0531-8D11-41A0-993C-6DC57B1695E8}" type="pres">
      <dgm:prSet presAssocID="{4D88877F-559D-4A40-8B4E-962EF076D8E0}" presName="parTx" presStyleLbl="revTx" presStyleIdx="3" presStyleCnt="5">
        <dgm:presLayoutVars>
          <dgm:chMax val="0"/>
          <dgm:chPref val="0"/>
        </dgm:presLayoutVars>
      </dgm:prSet>
      <dgm:spPr/>
    </dgm:pt>
    <dgm:pt modelId="{CC34190B-95F3-46BE-A137-D1DAD9F9BBB3}" type="pres">
      <dgm:prSet presAssocID="{499C6698-E2DF-48E0-9438-E1C1B88D2DEF}" presName="sibTrans" presStyleCnt="0"/>
      <dgm:spPr/>
    </dgm:pt>
    <dgm:pt modelId="{61D17F96-B106-42B9-A678-2A4632F3AB36}" type="pres">
      <dgm:prSet presAssocID="{6AEF311F-FB6A-4377-B875-137135451CA5}" presName="compNode" presStyleCnt="0"/>
      <dgm:spPr/>
    </dgm:pt>
    <dgm:pt modelId="{32F101FF-E79C-4F3F-B698-07AAF80CAE7C}" type="pres">
      <dgm:prSet presAssocID="{6AEF311F-FB6A-4377-B875-137135451CA5}" presName="bgRect" presStyleLbl="bgShp" presStyleIdx="4" presStyleCnt="5"/>
      <dgm:spPr/>
    </dgm:pt>
    <dgm:pt modelId="{01DCA5B8-536F-4432-8BF0-40BA48616481}" type="pres">
      <dgm:prSet presAssocID="{6AEF311F-FB6A-4377-B875-137135451CA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8ECA75DF-10BB-48D7-9731-94CD2076E564}" type="pres">
      <dgm:prSet presAssocID="{6AEF311F-FB6A-4377-B875-137135451CA5}" presName="spaceRect" presStyleCnt="0"/>
      <dgm:spPr/>
    </dgm:pt>
    <dgm:pt modelId="{6C7891BF-6706-46A3-B459-FD706A38CB62}" type="pres">
      <dgm:prSet presAssocID="{6AEF311F-FB6A-4377-B875-137135451CA5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6BE8241B-FBF3-4FE7-B728-5BAE8A666EAD}" type="presOf" srcId="{4921CD2F-66CA-4EF0-A4C6-B08D2D4D2BB4}" destId="{34C011A2-76B8-4B75-8AAC-3AF66BC47560}" srcOrd="0" destOrd="0" presId="urn:microsoft.com/office/officeart/2018/2/layout/IconVerticalSolidList"/>
    <dgm:cxn modelId="{9CCAF727-7516-4B4F-91AB-A6200C8CAABC}" srcId="{9F6C4CB4-DE87-4648-8B92-8A83B1F204A2}" destId="{F89F7292-0756-4F56-AE61-69A43A086A91}" srcOrd="0" destOrd="0" parTransId="{4CB249DF-897F-4669-8CD5-DF4D5F570F4D}" sibTransId="{DA179AA2-69C0-45B4-B273-ABBB0F212A2A}"/>
    <dgm:cxn modelId="{A5E3E528-E046-4E21-9FCB-84974EA07B65}" srcId="{9F6C4CB4-DE87-4648-8B92-8A83B1F204A2}" destId="{4921CD2F-66CA-4EF0-A4C6-B08D2D4D2BB4}" srcOrd="2" destOrd="0" parTransId="{6004E3EF-FE46-45B0-9E7B-DA8A1CC1D9F2}" sibTransId="{A0D62DA7-70AE-4541-8533-C0600C7A42C1}"/>
    <dgm:cxn modelId="{2570BC2E-AB79-4CC7-A042-5824FA756BA1}" type="presOf" srcId="{6AEF311F-FB6A-4377-B875-137135451CA5}" destId="{6C7891BF-6706-46A3-B459-FD706A38CB62}" srcOrd="0" destOrd="0" presId="urn:microsoft.com/office/officeart/2018/2/layout/IconVerticalSolidList"/>
    <dgm:cxn modelId="{B7F2A05B-8F48-4FBC-AE7C-8618FA69C955}" type="presOf" srcId="{C3F4A38F-01B9-48B2-8936-6B852FB8FE13}" destId="{5E6A1480-2E20-4B53-8E10-A59A8974F76F}" srcOrd="0" destOrd="0" presId="urn:microsoft.com/office/officeart/2018/2/layout/IconVerticalSolidList"/>
    <dgm:cxn modelId="{71B5856C-CB09-40ED-B9E9-890E581CB9AC}" type="presOf" srcId="{9F6C4CB4-DE87-4648-8B92-8A83B1F204A2}" destId="{27BFAD0E-A54A-4541-8C27-FD9535AF5A57}" srcOrd="0" destOrd="0" presId="urn:microsoft.com/office/officeart/2018/2/layout/IconVerticalSolidList"/>
    <dgm:cxn modelId="{525E3C88-9FA0-458A-A078-D2D62CB17368}" srcId="{9F6C4CB4-DE87-4648-8B92-8A83B1F204A2}" destId="{4D88877F-559D-4A40-8B4E-962EF076D8E0}" srcOrd="3" destOrd="0" parTransId="{29A498EE-C0C6-400A-B786-996B1E67A104}" sibTransId="{499C6698-E2DF-48E0-9438-E1C1B88D2DEF}"/>
    <dgm:cxn modelId="{F59ED2C8-D1DF-4B5F-ACE2-C5F62A228A85}" type="presOf" srcId="{4D88877F-559D-4A40-8B4E-962EF076D8E0}" destId="{4A5C0531-8D11-41A0-993C-6DC57B1695E8}" srcOrd="0" destOrd="0" presId="urn:microsoft.com/office/officeart/2018/2/layout/IconVerticalSolidList"/>
    <dgm:cxn modelId="{DD7ACCD5-E12F-460C-83F3-2EAA27F002B1}" srcId="{9F6C4CB4-DE87-4648-8B92-8A83B1F204A2}" destId="{C3F4A38F-01B9-48B2-8936-6B852FB8FE13}" srcOrd="1" destOrd="0" parTransId="{26B39E47-03DA-4D14-93CD-F6821FCB0956}" sibTransId="{DE269E78-10E5-41E1-BE2D-CA620CC066DF}"/>
    <dgm:cxn modelId="{61E0B7D8-E939-445D-B2D6-1BEA83671B4C}" srcId="{9F6C4CB4-DE87-4648-8B92-8A83B1F204A2}" destId="{6AEF311F-FB6A-4377-B875-137135451CA5}" srcOrd="4" destOrd="0" parTransId="{B13D184B-C3F6-4499-8CDD-7CD5D38E0771}" sibTransId="{94879B5F-101A-4ABA-83E6-F079B3255B91}"/>
    <dgm:cxn modelId="{057F24EB-3934-4D31-BCC4-750A1E697612}" type="presOf" srcId="{F89F7292-0756-4F56-AE61-69A43A086A91}" destId="{4F6BC50C-31F5-4B5E-AD41-4E855AF248E6}" srcOrd="0" destOrd="0" presId="urn:microsoft.com/office/officeart/2018/2/layout/IconVerticalSolidList"/>
    <dgm:cxn modelId="{A8860035-9E28-49EA-9619-B423B2ED511D}" type="presParOf" srcId="{27BFAD0E-A54A-4541-8C27-FD9535AF5A57}" destId="{F19AA0B8-9814-4151-8A92-AFC7D1C1A14F}" srcOrd="0" destOrd="0" presId="urn:microsoft.com/office/officeart/2018/2/layout/IconVerticalSolidList"/>
    <dgm:cxn modelId="{B3DEFA76-7D12-4622-A20C-EF0035C3B439}" type="presParOf" srcId="{F19AA0B8-9814-4151-8A92-AFC7D1C1A14F}" destId="{7B0E7AF9-987F-41C1-AA86-DB037AE0400A}" srcOrd="0" destOrd="0" presId="urn:microsoft.com/office/officeart/2018/2/layout/IconVerticalSolidList"/>
    <dgm:cxn modelId="{2EB14ED6-9F5E-4882-8AB8-6524D8905741}" type="presParOf" srcId="{F19AA0B8-9814-4151-8A92-AFC7D1C1A14F}" destId="{A5EEF784-4D59-4C35-8817-FE10A15ADFEA}" srcOrd="1" destOrd="0" presId="urn:microsoft.com/office/officeart/2018/2/layout/IconVerticalSolidList"/>
    <dgm:cxn modelId="{5C4572EA-60AD-47E0-8701-D13596317932}" type="presParOf" srcId="{F19AA0B8-9814-4151-8A92-AFC7D1C1A14F}" destId="{372D6FCA-97AC-4A23-A49B-99D98EC83658}" srcOrd="2" destOrd="0" presId="urn:microsoft.com/office/officeart/2018/2/layout/IconVerticalSolidList"/>
    <dgm:cxn modelId="{A19E082D-C785-471F-A4E0-D94570EDFD0C}" type="presParOf" srcId="{F19AA0B8-9814-4151-8A92-AFC7D1C1A14F}" destId="{4F6BC50C-31F5-4B5E-AD41-4E855AF248E6}" srcOrd="3" destOrd="0" presId="urn:microsoft.com/office/officeart/2018/2/layout/IconVerticalSolidList"/>
    <dgm:cxn modelId="{3CC1FEEF-908B-46EF-B5B0-C00FFFDE1613}" type="presParOf" srcId="{27BFAD0E-A54A-4541-8C27-FD9535AF5A57}" destId="{F2411EC7-E83D-41F4-828B-74D9DA61904F}" srcOrd="1" destOrd="0" presId="urn:microsoft.com/office/officeart/2018/2/layout/IconVerticalSolidList"/>
    <dgm:cxn modelId="{8298EDEE-343E-4689-BE7B-048B706EBFD6}" type="presParOf" srcId="{27BFAD0E-A54A-4541-8C27-FD9535AF5A57}" destId="{2E03BBF4-20EC-4460-BD02-C1088B273FF8}" srcOrd="2" destOrd="0" presId="urn:microsoft.com/office/officeart/2018/2/layout/IconVerticalSolidList"/>
    <dgm:cxn modelId="{E0F904DD-8A11-4585-BB96-B89F54D08F54}" type="presParOf" srcId="{2E03BBF4-20EC-4460-BD02-C1088B273FF8}" destId="{992B3487-509D-464A-A831-E549A238D33C}" srcOrd="0" destOrd="0" presId="urn:microsoft.com/office/officeart/2018/2/layout/IconVerticalSolidList"/>
    <dgm:cxn modelId="{B0BF1464-A4E0-45D1-9D58-535C2A6B9710}" type="presParOf" srcId="{2E03BBF4-20EC-4460-BD02-C1088B273FF8}" destId="{3CD5B77D-A030-4223-8727-8B937217D297}" srcOrd="1" destOrd="0" presId="urn:microsoft.com/office/officeart/2018/2/layout/IconVerticalSolidList"/>
    <dgm:cxn modelId="{94C7D11D-2251-404D-8AC4-846F4243E046}" type="presParOf" srcId="{2E03BBF4-20EC-4460-BD02-C1088B273FF8}" destId="{9FE3F95F-5103-4A37-A9FD-53BAE15F1F35}" srcOrd="2" destOrd="0" presId="urn:microsoft.com/office/officeart/2018/2/layout/IconVerticalSolidList"/>
    <dgm:cxn modelId="{B4B61B5E-E602-4590-849D-2DD105F9350B}" type="presParOf" srcId="{2E03BBF4-20EC-4460-BD02-C1088B273FF8}" destId="{5E6A1480-2E20-4B53-8E10-A59A8974F76F}" srcOrd="3" destOrd="0" presId="urn:microsoft.com/office/officeart/2018/2/layout/IconVerticalSolidList"/>
    <dgm:cxn modelId="{6290B895-63C3-4002-A9C7-1B8CFA0D0226}" type="presParOf" srcId="{27BFAD0E-A54A-4541-8C27-FD9535AF5A57}" destId="{61D56735-EBDF-4557-922F-6D6B8AB355AB}" srcOrd="3" destOrd="0" presId="urn:microsoft.com/office/officeart/2018/2/layout/IconVerticalSolidList"/>
    <dgm:cxn modelId="{F4BD04BF-530E-4952-943D-29D667673400}" type="presParOf" srcId="{27BFAD0E-A54A-4541-8C27-FD9535AF5A57}" destId="{1C7C6428-98E0-4A0F-A2B3-7FB2DE427BBE}" srcOrd="4" destOrd="0" presId="urn:microsoft.com/office/officeart/2018/2/layout/IconVerticalSolidList"/>
    <dgm:cxn modelId="{719972C1-09B5-4AE5-9694-118B067B843C}" type="presParOf" srcId="{1C7C6428-98E0-4A0F-A2B3-7FB2DE427BBE}" destId="{206F2895-CFA6-4281-8E8C-39C28A0562FD}" srcOrd="0" destOrd="0" presId="urn:microsoft.com/office/officeart/2018/2/layout/IconVerticalSolidList"/>
    <dgm:cxn modelId="{D680F466-ADCC-44E5-BC73-077D605820A2}" type="presParOf" srcId="{1C7C6428-98E0-4A0F-A2B3-7FB2DE427BBE}" destId="{5A2F8FC9-39B9-421A-9D88-DB32A88EF4A4}" srcOrd="1" destOrd="0" presId="urn:microsoft.com/office/officeart/2018/2/layout/IconVerticalSolidList"/>
    <dgm:cxn modelId="{8BBC0454-D8DF-4470-AB59-1D64BBE19293}" type="presParOf" srcId="{1C7C6428-98E0-4A0F-A2B3-7FB2DE427BBE}" destId="{171711C2-7082-4300-90B4-1C80FFA06732}" srcOrd="2" destOrd="0" presId="urn:microsoft.com/office/officeart/2018/2/layout/IconVerticalSolidList"/>
    <dgm:cxn modelId="{4DD71DF3-A266-4607-9421-5FF14F3576C0}" type="presParOf" srcId="{1C7C6428-98E0-4A0F-A2B3-7FB2DE427BBE}" destId="{34C011A2-76B8-4B75-8AAC-3AF66BC47560}" srcOrd="3" destOrd="0" presId="urn:microsoft.com/office/officeart/2018/2/layout/IconVerticalSolidList"/>
    <dgm:cxn modelId="{6D13EE7D-7E22-47FD-96A0-8DF337649645}" type="presParOf" srcId="{27BFAD0E-A54A-4541-8C27-FD9535AF5A57}" destId="{5A3D28DB-5397-4495-A2E9-E7E1E2771A8D}" srcOrd="5" destOrd="0" presId="urn:microsoft.com/office/officeart/2018/2/layout/IconVerticalSolidList"/>
    <dgm:cxn modelId="{CB20B6E3-58F4-4A91-8046-053E33DA8E2F}" type="presParOf" srcId="{27BFAD0E-A54A-4541-8C27-FD9535AF5A57}" destId="{6E645F2E-B67D-457A-B5A9-32F438C34BF4}" srcOrd="6" destOrd="0" presId="urn:microsoft.com/office/officeart/2018/2/layout/IconVerticalSolidList"/>
    <dgm:cxn modelId="{570F04DC-DFAA-4FA6-94B5-E1A764E73EE5}" type="presParOf" srcId="{6E645F2E-B67D-457A-B5A9-32F438C34BF4}" destId="{0E31BB4E-62E8-4D55-85E3-A19D483CD37A}" srcOrd="0" destOrd="0" presId="urn:microsoft.com/office/officeart/2018/2/layout/IconVerticalSolidList"/>
    <dgm:cxn modelId="{BCB1A625-D089-4833-9E02-F8B9F0F678E8}" type="presParOf" srcId="{6E645F2E-B67D-457A-B5A9-32F438C34BF4}" destId="{A519D8F9-63D8-4507-9BEE-65580A093A7D}" srcOrd="1" destOrd="0" presId="urn:microsoft.com/office/officeart/2018/2/layout/IconVerticalSolidList"/>
    <dgm:cxn modelId="{3F8B28EC-B83F-4B44-B656-B7550D324612}" type="presParOf" srcId="{6E645F2E-B67D-457A-B5A9-32F438C34BF4}" destId="{DF48DBE2-58FD-4293-B81D-39F8F00EC334}" srcOrd="2" destOrd="0" presId="urn:microsoft.com/office/officeart/2018/2/layout/IconVerticalSolidList"/>
    <dgm:cxn modelId="{A0C42224-3263-4886-A3A5-1670D04775F9}" type="presParOf" srcId="{6E645F2E-B67D-457A-B5A9-32F438C34BF4}" destId="{4A5C0531-8D11-41A0-993C-6DC57B1695E8}" srcOrd="3" destOrd="0" presId="urn:microsoft.com/office/officeart/2018/2/layout/IconVerticalSolidList"/>
    <dgm:cxn modelId="{73F6374C-DD01-424C-A413-2853C1ED69C8}" type="presParOf" srcId="{27BFAD0E-A54A-4541-8C27-FD9535AF5A57}" destId="{CC34190B-95F3-46BE-A137-D1DAD9F9BBB3}" srcOrd="7" destOrd="0" presId="urn:microsoft.com/office/officeart/2018/2/layout/IconVerticalSolidList"/>
    <dgm:cxn modelId="{A1422B51-B1C9-4CFC-816D-EF7A74FDC48C}" type="presParOf" srcId="{27BFAD0E-A54A-4541-8C27-FD9535AF5A57}" destId="{61D17F96-B106-42B9-A678-2A4632F3AB36}" srcOrd="8" destOrd="0" presId="urn:microsoft.com/office/officeart/2018/2/layout/IconVerticalSolidList"/>
    <dgm:cxn modelId="{6AE8C571-A012-49D0-9722-A4F920A7B98A}" type="presParOf" srcId="{61D17F96-B106-42B9-A678-2A4632F3AB36}" destId="{32F101FF-E79C-4F3F-B698-07AAF80CAE7C}" srcOrd="0" destOrd="0" presId="urn:microsoft.com/office/officeart/2018/2/layout/IconVerticalSolidList"/>
    <dgm:cxn modelId="{FECD50A3-4E43-43C3-95B7-6A58143F8DC1}" type="presParOf" srcId="{61D17F96-B106-42B9-A678-2A4632F3AB36}" destId="{01DCA5B8-536F-4432-8BF0-40BA48616481}" srcOrd="1" destOrd="0" presId="urn:microsoft.com/office/officeart/2018/2/layout/IconVerticalSolidList"/>
    <dgm:cxn modelId="{7B9C9182-7A94-41F1-866B-6570489AD724}" type="presParOf" srcId="{61D17F96-B106-42B9-A678-2A4632F3AB36}" destId="{8ECA75DF-10BB-48D7-9731-94CD2076E564}" srcOrd="2" destOrd="0" presId="urn:microsoft.com/office/officeart/2018/2/layout/IconVerticalSolidList"/>
    <dgm:cxn modelId="{80CEB9DA-BDDA-4C40-AD4D-2EE1D59A1CCB}" type="presParOf" srcId="{61D17F96-B106-42B9-A678-2A4632F3AB36}" destId="{6C7891BF-6706-46A3-B459-FD706A38CB6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3D3EA9B-BF74-471D-8ACD-9ABCE4CC791D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940185B5-3962-4908-A641-AF57A7B753B0}">
      <dgm:prSet/>
      <dgm:spPr/>
      <dgm:t>
        <a:bodyPr/>
        <a:lstStyle/>
        <a:p>
          <a:r>
            <a:rPr lang="en-US"/>
            <a:t>Collect survey data and incorporate it into the data set we already have built</a:t>
          </a:r>
        </a:p>
      </dgm:t>
    </dgm:pt>
    <dgm:pt modelId="{D0D08388-D3E9-4DB0-8843-77364A246DF5}" type="parTrans" cxnId="{A8E10F84-C5BA-4003-A49F-3ED7BDC4F15D}">
      <dgm:prSet/>
      <dgm:spPr/>
      <dgm:t>
        <a:bodyPr/>
        <a:lstStyle/>
        <a:p>
          <a:endParaRPr lang="en-US"/>
        </a:p>
      </dgm:t>
    </dgm:pt>
    <dgm:pt modelId="{C5CF080B-6C69-43E1-8F45-1B470C337424}" type="sibTrans" cxnId="{A8E10F84-C5BA-4003-A49F-3ED7BDC4F15D}">
      <dgm:prSet/>
      <dgm:spPr/>
      <dgm:t>
        <a:bodyPr/>
        <a:lstStyle/>
        <a:p>
          <a:endParaRPr lang="en-US"/>
        </a:p>
      </dgm:t>
    </dgm:pt>
    <dgm:pt modelId="{70E167E5-A9E0-41D1-A739-4883F0FF206D}">
      <dgm:prSet/>
      <dgm:spPr/>
      <dgm:t>
        <a:bodyPr/>
        <a:lstStyle/>
        <a:p>
          <a:r>
            <a:rPr lang="en-US"/>
            <a:t>Use both collected data and secondary studies to build a cohesive data set</a:t>
          </a:r>
        </a:p>
      </dgm:t>
    </dgm:pt>
    <dgm:pt modelId="{DD43E7A2-E332-449C-87A6-53BB5233C64F}" type="parTrans" cxnId="{AF8BBB8A-4A00-4266-B769-87AA3BF4BF48}">
      <dgm:prSet/>
      <dgm:spPr/>
      <dgm:t>
        <a:bodyPr/>
        <a:lstStyle/>
        <a:p>
          <a:endParaRPr lang="en-US"/>
        </a:p>
      </dgm:t>
    </dgm:pt>
    <dgm:pt modelId="{F74BD444-071E-4CD3-97F4-40693AA5F2C7}" type="sibTrans" cxnId="{AF8BBB8A-4A00-4266-B769-87AA3BF4BF48}">
      <dgm:prSet/>
      <dgm:spPr/>
      <dgm:t>
        <a:bodyPr/>
        <a:lstStyle/>
        <a:p>
          <a:endParaRPr lang="en-US"/>
        </a:p>
      </dgm:t>
    </dgm:pt>
    <dgm:pt modelId="{9FBFDC03-FF45-4D42-8A9C-E1908DEFE2FC}">
      <dgm:prSet/>
      <dgm:spPr/>
      <dgm:t>
        <a:bodyPr/>
        <a:lstStyle/>
        <a:p>
          <a:r>
            <a:rPr lang="en-US"/>
            <a:t>Once data set is complete begin analysis using RIMS II multipliers as laid out in the manual published by the Bureau of Economic Analysis (BEA).</a:t>
          </a:r>
        </a:p>
      </dgm:t>
    </dgm:pt>
    <dgm:pt modelId="{83655DF9-659A-4269-A12C-3201D7352BD9}" type="parTrans" cxnId="{A4F795AA-4A46-4E75-B9B5-3396FBF817A0}">
      <dgm:prSet/>
      <dgm:spPr/>
      <dgm:t>
        <a:bodyPr/>
        <a:lstStyle/>
        <a:p>
          <a:endParaRPr lang="en-US"/>
        </a:p>
      </dgm:t>
    </dgm:pt>
    <dgm:pt modelId="{C2C5CB99-670D-4440-A6F0-A2C615265A22}" type="sibTrans" cxnId="{A4F795AA-4A46-4E75-B9B5-3396FBF817A0}">
      <dgm:prSet/>
      <dgm:spPr/>
      <dgm:t>
        <a:bodyPr/>
        <a:lstStyle/>
        <a:p>
          <a:endParaRPr lang="en-US"/>
        </a:p>
      </dgm:t>
    </dgm:pt>
    <dgm:pt modelId="{D51E20DA-186D-41EE-8741-2A4D8B7CA263}">
      <dgm:prSet/>
      <dgm:spPr/>
      <dgm:t>
        <a:bodyPr/>
        <a:lstStyle/>
        <a:p>
          <a:r>
            <a:rPr lang="en-US"/>
            <a:t>Produce numbers that correspond with the various economic effects produced by the project</a:t>
          </a:r>
        </a:p>
      </dgm:t>
    </dgm:pt>
    <dgm:pt modelId="{B1168DC0-B9B9-47B4-BA4F-C3CA5CEAF50C}" type="parTrans" cxnId="{692723AC-2065-4FE2-9266-B8E417A97D28}">
      <dgm:prSet/>
      <dgm:spPr/>
      <dgm:t>
        <a:bodyPr/>
        <a:lstStyle/>
        <a:p>
          <a:endParaRPr lang="en-US"/>
        </a:p>
      </dgm:t>
    </dgm:pt>
    <dgm:pt modelId="{3B507E66-876A-4B44-901D-145327571A0A}" type="sibTrans" cxnId="{692723AC-2065-4FE2-9266-B8E417A97D28}">
      <dgm:prSet/>
      <dgm:spPr/>
      <dgm:t>
        <a:bodyPr/>
        <a:lstStyle/>
        <a:p>
          <a:endParaRPr lang="en-US"/>
        </a:p>
      </dgm:t>
    </dgm:pt>
    <dgm:pt modelId="{4509085F-781A-4532-AADD-0081B385816E}">
      <dgm:prSet/>
      <dgm:spPr/>
      <dgm:t>
        <a:bodyPr/>
        <a:lstStyle/>
        <a:p>
          <a:r>
            <a:rPr lang="en-US"/>
            <a:t>Compile an economic analysis for the park expansion based off of these findings</a:t>
          </a:r>
        </a:p>
      </dgm:t>
    </dgm:pt>
    <dgm:pt modelId="{943FC2DB-6DBF-4C70-9789-0C9DEA2199D8}" type="parTrans" cxnId="{4BEF9C96-0270-4227-8850-985BA3775AA8}">
      <dgm:prSet/>
      <dgm:spPr/>
      <dgm:t>
        <a:bodyPr/>
        <a:lstStyle/>
        <a:p>
          <a:endParaRPr lang="en-US"/>
        </a:p>
      </dgm:t>
    </dgm:pt>
    <dgm:pt modelId="{F06159FC-9FD2-4877-906D-9BFB57D13EC3}" type="sibTrans" cxnId="{4BEF9C96-0270-4227-8850-985BA3775AA8}">
      <dgm:prSet/>
      <dgm:spPr/>
      <dgm:t>
        <a:bodyPr/>
        <a:lstStyle/>
        <a:p>
          <a:endParaRPr lang="en-US"/>
        </a:p>
      </dgm:t>
    </dgm:pt>
    <dgm:pt modelId="{70FD9BA7-97F3-4FB6-99CC-4E1122A17A62}" type="pres">
      <dgm:prSet presAssocID="{C3D3EA9B-BF74-471D-8ACD-9ABCE4CC791D}" presName="Name0" presStyleCnt="0">
        <dgm:presLayoutVars>
          <dgm:dir/>
          <dgm:resizeHandles val="exact"/>
        </dgm:presLayoutVars>
      </dgm:prSet>
      <dgm:spPr/>
    </dgm:pt>
    <dgm:pt modelId="{5FB0F67D-6201-4A6E-AE7B-B78DAA3FF577}" type="pres">
      <dgm:prSet presAssocID="{940185B5-3962-4908-A641-AF57A7B753B0}" presName="node" presStyleLbl="node1" presStyleIdx="0" presStyleCnt="5">
        <dgm:presLayoutVars>
          <dgm:bulletEnabled val="1"/>
        </dgm:presLayoutVars>
      </dgm:prSet>
      <dgm:spPr/>
    </dgm:pt>
    <dgm:pt modelId="{DB867B76-5BC1-48E8-927E-4BE1A9261366}" type="pres">
      <dgm:prSet presAssocID="{C5CF080B-6C69-43E1-8F45-1B470C337424}" presName="sibTrans" presStyleLbl="sibTrans1D1" presStyleIdx="0" presStyleCnt="4"/>
      <dgm:spPr/>
    </dgm:pt>
    <dgm:pt modelId="{1F6DFA9D-3B18-4517-A036-F803FE99B990}" type="pres">
      <dgm:prSet presAssocID="{C5CF080B-6C69-43E1-8F45-1B470C337424}" presName="connectorText" presStyleLbl="sibTrans1D1" presStyleIdx="0" presStyleCnt="4"/>
      <dgm:spPr/>
    </dgm:pt>
    <dgm:pt modelId="{646ED1BC-8D90-4D8F-AF91-9F462C009253}" type="pres">
      <dgm:prSet presAssocID="{70E167E5-A9E0-41D1-A739-4883F0FF206D}" presName="node" presStyleLbl="node1" presStyleIdx="1" presStyleCnt="5">
        <dgm:presLayoutVars>
          <dgm:bulletEnabled val="1"/>
        </dgm:presLayoutVars>
      </dgm:prSet>
      <dgm:spPr/>
    </dgm:pt>
    <dgm:pt modelId="{F7CB4452-BCFA-46A5-8DFE-E3431AE934FD}" type="pres">
      <dgm:prSet presAssocID="{F74BD444-071E-4CD3-97F4-40693AA5F2C7}" presName="sibTrans" presStyleLbl="sibTrans1D1" presStyleIdx="1" presStyleCnt="4"/>
      <dgm:spPr/>
    </dgm:pt>
    <dgm:pt modelId="{1BBF27FF-0B71-43D6-A70C-B3CE18B420C9}" type="pres">
      <dgm:prSet presAssocID="{F74BD444-071E-4CD3-97F4-40693AA5F2C7}" presName="connectorText" presStyleLbl="sibTrans1D1" presStyleIdx="1" presStyleCnt="4"/>
      <dgm:spPr/>
    </dgm:pt>
    <dgm:pt modelId="{9327CB3D-2951-4C50-B48A-2895073DC22F}" type="pres">
      <dgm:prSet presAssocID="{9FBFDC03-FF45-4D42-8A9C-E1908DEFE2FC}" presName="node" presStyleLbl="node1" presStyleIdx="2" presStyleCnt="5">
        <dgm:presLayoutVars>
          <dgm:bulletEnabled val="1"/>
        </dgm:presLayoutVars>
      </dgm:prSet>
      <dgm:spPr/>
    </dgm:pt>
    <dgm:pt modelId="{ACF88311-EC52-4E43-97DD-55527A6158A5}" type="pres">
      <dgm:prSet presAssocID="{C2C5CB99-670D-4440-A6F0-A2C615265A22}" presName="sibTrans" presStyleLbl="sibTrans1D1" presStyleIdx="2" presStyleCnt="4"/>
      <dgm:spPr/>
    </dgm:pt>
    <dgm:pt modelId="{EF2A6A8C-4ED1-4994-8392-69AAED41495B}" type="pres">
      <dgm:prSet presAssocID="{C2C5CB99-670D-4440-A6F0-A2C615265A22}" presName="connectorText" presStyleLbl="sibTrans1D1" presStyleIdx="2" presStyleCnt="4"/>
      <dgm:spPr/>
    </dgm:pt>
    <dgm:pt modelId="{83F539C9-E80B-4334-9216-217BE3D94AA7}" type="pres">
      <dgm:prSet presAssocID="{D51E20DA-186D-41EE-8741-2A4D8B7CA263}" presName="node" presStyleLbl="node1" presStyleIdx="3" presStyleCnt="5">
        <dgm:presLayoutVars>
          <dgm:bulletEnabled val="1"/>
        </dgm:presLayoutVars>
      </dgm:prSet>
      <dgm:spPr/>
    </dgm:pt>
    <dgm:pt modelId="{7964A830-BE29-45D4-B012-69C1DB10D168}" type="pres">
      <dgm:prSet presAssocID="{3B507E66-876A-4B44-901D-145327571A0A}" presName="sibTrans" presStyleLbl="sibTrans1D1" presStyleIdx="3" presStyleCnt="4"/>
      <dgm:spPr/>
    </dgm:pt>
    <dgm:pt modelId="{B7CD247E-00EB-4E4B-A563-DD6C62D06953}" type="pres">
      <dgm:prSet presAssocID="{3B507E66-876A-4B44-901D-145327571A0A}" presName="connectorText" presStyleLbl="sibTrans1D1" presStyleIdx="3" presStyleCnt="4"/>
      <dgm:spPr/>
    </dgm:pt>
    <dgm:pt modelId="{E1932477-B796-4E1A-9EDC-5609A00D291B}" type="pres">
      <dgm:prSet presAssocID="{4509085F-781A-4532-AADD-0081B385816E}" presName="node" presStyleLbl="node1" presStyleIdx="4" presStyleCnt="5">
        <dgm:presLayoutVars>
          <dgm:bulletEnabled val="1"/>
        </dgm:presLayoutVars>
      </dgm:prSet>
      <dgm:spPr/>
    </dgm:pt>
  </dgm:ptLst>
  <dgm:cxnLst>
    <dgm:cxn modelId="{8158180B-749D-4CA0-90B6-21078DAA2752}" type="presOf" srcId="{3B507E66-876A-4B44-901D-145327571A0A}" destId="{7964A830-BE29-45D4-B012-69C1DB10D168}" srcOrd="0" destOrd="0" presId="urn:microsoft.com/office/officeart/2016/7/layout/RepeatingBendingProcessNew"/>
    <dgm:cxn modelId="{5B3B380E-E478-436A-B802-676D32D972DE}" type="presOf" srcId="{C2C5CB99-670D-4440-A6F0-A2C615265A22}" destId="{EF2A6A8C-4ED1-4994-8392-69AAED41495B}" srcOrd="1" destOrd="0" presId="urn:microsoft.com/office/officeart/2016/7/layout/RepeatingBendingProcessNew"/>
    <dgm:cxn modelId="{7F09311D-A307-4EEA-87B0-875A9189528E}" type="presOf" srcId="{9FBFDC03-FF45-4D42-8A9C-E1908DEFE2FC}" destId="{9327CB3D-2951-4C50-B48A-2895073DC22F}" srcOrd="0" destOrd="0" presId="urn:microsoft.com/office/officeart/2016/7/layout/RepeatingBendingProcessNew"/>
    <dgm:cxn modelId="{81FD8628-79FF-46C1-81C5-87CD75DE9EA1}" type="presOf" srcId="{D51E20DA-186D-41EE-8741-2A4D8B7CA263}" destId="{83F539C9-E80B-4334-9216-217BE3D94AA7}" srcOrd="0" destOrd="0" presId="urn:microsoft.com/office/officeart/2016/7/layout/RepeatingBendingProcessNew"/>
    <dgm:cxn modelId="{EBF4955E-FB00-4E73-810A-BB9834BC1D5F}" type="presOf" srcId="{C5CF080B-6C69-43E1-8F45-1B470C337424}" destId="{DB867B76-5BC1-48E8-927E-4BE1A9261366}" srcOrd="0" destOrd="0" presId="urn:microsoft.com/office/officeart/2016/7/layout/RepeatingBendingProcessNew"/>
    <dgm:cxn modelId="{0D817768-7C8F-48B8-B0CE-27B4947A7477}" type="presOf" srcId="{C5CF080B-6C69-43E1-8F45-1B470C337424}" destId="{1F6DFA9D-3B18-4517-A036-F803FE99B990}" srcOrd="1" destOrd="0" presId="urn:microsoft.com/office/officeart/2016/7/layout/RepeatingBendingProcessNew"/>
    <dgm:cxn modelId="{33F86450-FC03-49A0-A44B-AAB0046A731D}" type="presOf" srcId="{F74BD444-071E-4CD3-97F4-40693AA5F2C7}" destId="{1BBF27FF-0B71-43D6-A70C-B3CE18B420C9}" srcOrd="1" destOrd="0" presId="urn:microsoft.com/office/officeart/2016/7/layout/RepeatingBendingProcessNew"/>
    <dgm:cxn modelId="{A8E10F84-C5BA-4003-A49F-3ED7BDC4F15D}" srcId="{C3D3EA9B-BF74-471D-8ACD-9ABCE4CC791D}" destId="{940185B5-3962-4908-A641-AF57A7B753B0}" srcOrd="0" destOrd="0" parTransId="{D0D08388-D3E9-4DB0-8843-77364A246DF5}" sibTransId="{C5CF080B-6C69-43E1-8F45-1B470C337424}"/>
    <dgm:cxn modelId="{AF8BBB8A-4A00-4266-B769-87AA3BF4BF48}" srcId="{C3D3EA9B-BF74-471D-8ACD-9ABCE4CC791D}" destId="{70E167E5-A9E0-41D1-A739-4883F0FF206D}" srcOrd="1" destOrd="0" parTransId="{DD43E7A2-E332-449C-87A6-53BB5233C64F}" sibTransId="{F74BD444-071E-4CD3-97F4-40693AA5F2C7}"/>
    <dgm:cxn modelId="{47729D8E-7EC0-4049-B84C-AD1223269976}" type="presOf" srcId="{C2C5CB99-670D-4440-A6F0-A2C615265A22}" destId="{ACF88311-EC52-4E43-97DD-55527A6158A5}" srcOrd="0" destOrd="0" presId="urn:microsoft.com/office/officeart/2016/7/layout/RepeatingBendingProcessNew"/>
    <dgm:cxn modelId="{4BEF9C96-0270-4227-8850-985BA3775AA8}" srcId="{C3D3EA9B-BF74-471D-8ACD-9ABCE4CC791D}" destId="{4509085F-781A-4532-AADD-0081B385816E}" srcOrd="4" destOrd="0" parTransId="{943FC2DB-6DBF-4C70-9789-0C9DEA2199D8}" sibTransId="{F06159FC-9FD2-4877-906D-9BFB57D13EC3}"/>
    <dgm:cxn modelId="{A4F795AA-4A46-4E75-B9B5-3396FBF817A0}" srcId="{C3D3EA9B-BF74-471D-8ACD-9ABCE4CC791D}" destId="{9FBFDC03-FF45-4D42-8A9C-E1908DEFE2FC}" srcOrd="2" destOrd="0" parTransId="{83655DF9-659A-4269-A12C-3201D7352BD9}" sibTransId="{C2C5CB99-670D-4440-A6F0-A2C615265A22}"/>
    <dgm:cxn modelId="{A955D5AA-C0DA-426E-B8D5-8A89CA513977}" type="presOf" srcId="{70E167E5-A9E0-41D1-A739-4883F0FF206D}" destId="{646ED1BC-8D90-4D8F-AF91-9F462C009253}" srcOrd="0" destOrd="0" presId="urn:microsoft.com/office/officeart/2016/7/layout/RepeatingBendingProcessNew"/>
    <dgm:cxn modelId="{692723AC-2065-4FE2-9266-B8E417A97D28}" srcId="{C3D3EA9B-BF74-471D-8ACD-9ABCE4CC791D}" destId="{D51E20DA-186D-41EE-8741-2A4D8B7CA263}" srcOrd="3" destOrd="0" parTransId="{B1168DC0-B9B9-47B4-BA4F-C3CA5CEAF50C}" sibTransId="{3B507E66-876A-4B44-901D-145327571A0A}"/>
    <dgm:cxn modelId="{C7C075B4-FE9F-4B86-B9F5-FBF93B16EEC2}" type="presOf" srcId="{940185B5-3962-4908-A641-AF57A7B753B0}" destId="{5FB0F67D-6201-4A6E-AE7B-B78DAA3FF577}" srcOrd="0" destOrd="0" presId="urn:microsoft.com/office/officeart/2016/7/layout/RepeatingBendingProcessNew"/>
    <dgm:cxn modelId="{D9D264D5-2B15-479B-8CE6-DD492D7CAC2E}" type="presOf" srcId="{4509085F-781A-4532-AADD-0081B385816E}" destId="{E1932477-B796-4E1A-9EDC-5609A00D291B}" srcOrd="0" destOrd="0" presId="urn:microsoft.com/office/officeart/2016/7/layout/RepeatingBendingProcessNew"/>
    <dgm:cxn modelId="{210054EA-420E-42B1-8176-1FCC688DFB16}" type="presOf" srcId="{3B507E66-876A-4B44-901D-145327571A0A}" destId="{B7CD247E-00EB-4E4B-A563-DD6C62D06953}" srcOrd="1" destOrd="0" presId="urn:microsoft.com/office/officeart/2016/7/layout/RepeatingBendingProcessNew"/>
    <dgm:cxn modelId="{35C836EF-D55F-4DB4-AA54-48D5148C1DA8}" type="presOf" srcId="{C3D3EA9B-BF74-471D-8ACD-9ABCE4CC791D}" destId="{70FD9BA7-97F3-4FB6-99CC-4E1122A17A62}" srcOrd="0" destOrd="0" presId="urn:microsoft.com/office/officeart/2016/7/layout/RepeatingBendingProcessNew"/>
    <dgm:cxn modelId="{42B1D2F0-B868-4103-96C2-BE4404017403}" type="presOf" srcId="{F74BD444-071E-4CD3-97F4-40693AA5F2C7}" destId="{F7CB4452-BCFA-46A5-8DFE-E3431AE934FD}" srcOrd="0" destOrd="0" presId="urn:microsoft.com/office/officeart/2016/7/layout/RepeatingBendingProcessNew"/>
    <dgm:cxn modelId="{9B0F6E88-C37F-48D9-9015-FAF2807EE5B2}" type="presParOf" srcId="{70FD9BA7-97F3-4FB6-99CC-4E1122A17A62}" destId="{5FB0F67D-6201-4A6E-AE7B-B78DAA3FF577}" srcOrd="0" destOrd="0" presId="urn:microsoft.com/office/officeart/2016/7/layout/RepeatingBendingProcessNew"/>
    <dgm:cxn modelId="{E72ECCEF-6567-4FBA-B980-0F6BB8114B6C}" type="presParOf" srcId="{70FD9BA7-97F3-4FB6-99CC-4E1122A17A62}" destId="{DB867B76-5BC1-48E8-927E-4BE1A9261366}" srcOrd="1" destOrd="0" presId="urn:microsoft.com/office/officeart/2016/7/layout/RepeatingBendingProcessNew"/>
    <dgm:cxn modelId="{B274D2DC-6991-410B-BD10-7742AF7A1090}" type="presParOf" srcId="{DB867B76-5BC1-48E8-927E-4BE1A9261366}" destId="{1F6DFA9D-3B18-4517-A036-F803FE99B990}" srcOrd="0" destOrd="0" presId="urn:microsoft.com/office/officeart/2016/7/layout/RepeatingBendingProcessNew"/>
    <dgm:cxn modelId="{AC0967B2-15B3-46C9-8271-389E5D97F37A}" type="presParOf" srcId="{70FD9BA7-97F3-4FB6-99CC-4E1122A17A62}" destId="{646ED1BC-8D90-4D8F-AF91-9F462C009253}" srcOrd="2" destOrd="0" presId="urn:microsoft.com/office/officeart/2016/7/layout/RepeatingBendingProcessNew"/>
    <dgm:cxn modelId="{B0D58217-ADB3-4761-9E32-39FAD1E717F2}" type="presParOf" srcId="{70FD9BA7-97F3-4FB6-99CC-4E1122A17A62}" destId="{F7CB4452-BCFA-46A5-8DFE-E3431AE934FD}" srcOrd="3" destOrd="0" presId="urn:microsoft.com/office/officeart/2016/7/layout/RepeatingBendingProcessNew"/>
    <dgm:cxn modelId="{DAD23667-336D-41D3-A008-8C3CE9BCE452}" type="presParOf" srcId="{F7CB4452-BCFA-46A5-8DFE-E3431AE934FD}" destId="{1BBF27FF-0B71-43D6-A70C-B3CE18B420C9}" srcOrd="0" destOrd="0" presId="urn:microsoft.com/office/officeart/2016/7/layout/RepeatingBendingProcessNew"/>
    <dgm:cxn modelId="{3AB89D31-03ED-4504-AB62-48E520D7D17D}" type="presParOf" srcId="{70FD9BA7-97F3-4FB6-99CC-4E1122A17A62}" destId="{9327CB3D-2951-4C50-B48A-2895073DC22F}" srcOrd="4" destOrd="0" presId="urn:microsoft.com/office/officeart/2016/7/layout/RepeatingBendingProcessNew"/>
    <dgm:cxn modelId="{3F15A313-34FA-4BF0-8996-0097665D256D}" type="presParOf" srcId="{70FD9BA7-97F3-4FB6-99CC-4E1122A17A62}" destId="{ACF88311-EC52-4E43-97DD-55527A6158A5}" srcOrd="5" destOrd="0" presId="urn:microsoft.com/office/officeart/2016/7/layout/RepeatingBendingProcessNew"/>
    <dgm:cxn modelId="{BABC2750-945D-41A7-AD23-8EE1F567EC73}" type="presParOf" srcId="{ACF88311-EC52-4E43-97DD-55527A6158A5}" destId="{EF2A6A8C-4ED1-4994-8392-69AAED41495B}" srcOrd="0" destOrd="0" presId="urn:microsoft.com/office/officeart/2016/7/layout/RepeatingBendingProcessNew"/>
    <dgm:cxn modelId="{73C2CBA6-C1B4-4BA3-AA69-9C2976D9E6A9}" type="presParOf" srcId="{70FD9BA7-97F3-4FB6-99CC-4E1122A17A62}" destId="{83F539C9-E80B-4334-9216-217BE3D94AA7}" srcOrd="6" destOrd="0" presId="urn:microsoft.com/office/officeart/2016/7/layout/RepeatingBendingProcessNew"/>
    <dgm:cxn modelId="{4AA1D22C-19B6-48FF-B489-0EF34A26345B}" type="presParOf" srcId="{70FD9BA7-97F3-4FB6-99CC-4E1122A17A62}" destId="{7964A830-BE29-45D4-B012-69C1DB10D168}" srcOrd="7" destOrd="0" presId="urn:microsoft.com/office/officeart/2016/7/layout/RepeatingBendingProcessNew"/>
    <dgm:cxn modelId="{84F26A59-1780-4A94-A874-9A331EFFF3E2}" type="presParOf" srcId="{7964A830-BE29-45D4-B012-69C1DB10D168}" destId="{B7CD247E-00EB-4E4B-A563-DD6C62D06953}" srcOrd="0" destOrd="0" presId="urn:microsoft.com/office/officeart/2016/7/layout/RepeatingBendingProcessNew"/>
    <dgm:cxn modelId="{D6100844-5E9A-45C1-B97C-723F4E87187B}" type="presParOf" srcId="{70FD9BA7-97F3-4FB6-99CC-4E1122A17A62}" destId="{E1932477-B796-4E1A-9EDC-5609A00D291B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8A0D06-BE08-4442-9443-C7E7EE7131F8}">
      <dsp:nvSpPr>
        <dsp:cNvPr id="0" name=""/>
        <dsp:cNvSpPr/>
      </dsp:nvSpPr>
      <dsp:spPr>
        <a:xfrm>
          <a:off x="0" y="0"/>
          <a:ext cx="7694506" cy="90056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Johnson City Parks and Recreation department has received funding to move forward with a park expansion. </a:t>
          </a:r>
        </a:p>
      </dsp:txBody>
      <dsp:txXfrm>
        <a:off x="26377" y="26377"/>
        <a:ext cx="6646626" cy="847812"/>
      </dsp:txXfrm>
    </dsp:sp>
    <dsp:sp modelId="{D8C47405-32C4-40A4-B3EF-46EEF55C4585}">
      <dsp:nvSpPr>
        <dsp:cNvPr id="0" name=""/>
        <dsp:cNvSpPr/>
      </dsp:nvSpPr>
      <dsp:spPr>
        <a:xfrm>
          <a:off x="644414" y="1064305"/>
          <a:ext cx="7694506" cy="900566"/>
        </a:xfrm>
        <a:prstGeom prst="roundRect">
          <a:avLst>
            <a:gd name="adj" fmla="val 10000"/>
          </a:avLst>
        </a:prstGeom>
        <a:solidFill>
          <a:schemeClr val="accent2">
            <a:hueOff val="-988095"/>
            <a:satOff val="4733"/>
            <a:lumOff val="437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This park expansion will increase the current field count, up from 5 baseball/softball fields and 3 soccer fields to 9 baseball/softball fields and 6 soccer fields </a:t>
          </a:r>
        </a:p>
      </dsp:txBody>
      <dsp:txXfrm>
        <a:off x="670791" y="1090682"/>
        <a:ext cx="6411969" cy="847812"/>
      </dsp:txXfrm>
    </dsp:sp>
    <dsp:sp modelId="{D79BC2C3-FCF7-4700-855F-AB9BA81D03BD}">
      <dsp:nvSpPr>
        <dsp:cNvPr id="0" name=""/>
        <dsp:cNvSpPr/>
      </dsp:nvSpPr>
      <dsp:spPr>
        <a:xfrm>
          <a:off x="1279211" y="2128610"/>
          <a:ext cx="7694506" cy="900566"/>
        </a:xfrm>
        <a:prstGeom prst="roundRect">
          <a:avLst>
            <a:gd name="adj" fmla="val 10000"/>
          </a:avLst>
        </a:prstGeom>
        <a:solidFill>
          <a:schemeClr val="accent2">
            <a:hueOff val="-1976191"/>
            <a:satOff val="9467"/>
            <a:lumOff val="8758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existing fields will remain natural turf, but the new fields will be made using artificial turf. </a:t>
          </a:r>
        </a:p>
      </dsp:txBody>
      <dsp:txXfrm>
        <a:off x="1305588" y="2154987"/>
        <a:ext cx="6421587" cy="847812"/>
      </dsp:txXfrm>
    </dsp:sp>
    <dsp:sp modelId="{2D4FF8C9-12CF-4521-B0B4-BE9D1072F2E6}">
      <dsp:nvSpPr>
        <dsp:cNvPr id="0" name=""/>
        <dsp:cNvSpPr/>
      </dsp:nvSpPr>
      <dsp:spPr>
        <a:xfrm>
          <a:off x="1923626" y="3192915"/>
          <a:ext cx="7694506" cy="900566"/>
        </a:xfrm>
        <a:prstGeom prst="roundRect">
          <a:avLst>
            <a:gd name="adj" fmla="val 10000"/>
          </a:avLst>
        </a:prstGeom>
        <a:solidFill>
          <a:schemeClr val="accent2">
            <a:hueOff val="-2964286"/>
            <a:satOff val="14200"/>
            <a:lumOff val="1313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We are tasked with performing an economic impact analysis on this park expansion to determine the degree of benefit obtained by the regional economy as a whole.</a:t>
          </a:r>
        </a:p>
      </dsp:txBody>
      <dsp:txXfrm>
        <a:off x="1950003" y="3219292"/>
        <a:ext cx="6411969" cy="847812"/>
      </dsp:txXfrm>
    </dsp:sp>
    <dsp:sp modelId="{109140CD-ED44-4D12-8CFD-5B2ED2DD026D}">
      <dsp:nvSpPr>
        <dsp:cNvPr id="0" name=""/>
        <dsp:cNvSpPr/>
      </dsp:nvSpPr>
      <dsp:spPr>
        <a:xfrm>
          <a:off x="7109138" y="689751"/>
          <a:ext cx="585367" cy="58536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7240846" y="689751"/>
        <a:ext cx="321951" cy="440489"/>
      </dsp:txXfrm>
    </dsp:sp>
    <dsp:sp modelId="{8C8B47AE-3F0F-45D8-B13C-76A3595B7170}">
      <dsp:nvSpPr>
        <dsp:cNvPr id="0" name=""/>
        <dsp:cNvSpPr/>
      </dsp:nvSpPr>
      <dsp:spPr>
        <a:xfrm>
          <a:off x="7753553" y="1754057"/>
          <a:ext cx="585367" cy="58536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2045920"/>
            <a:satOff val="22554"/>
            <a:lumOff val="2148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2045920"/>
              <a:satOff val="22554"/>
              <a:lumOff val="214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7885261" y="1754057"/>
        <a:ext cx="321951" cy="440489"/>
      </dsp:txXfrm>
    </dsp:sp>
    <dsp:sp modelId="{434AE3EA-8B51-47DA-8927-4C9C692F78D6}">
      <dsp:nvSpPr>
        <dsp:cNvPr id="0" name=""/>
        <dsp:cNvSpPr/>
      </dsp:nvSpPr>
      <dsp:spPr>
        <a:xfrm>
          <a:off x="8388350" y="2818362"/>
          <a:ext cx="585367" cy="58536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4091839"/>
            <a:satOff val="45107"/>
            <a:lumOff val="4296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4091839"/>
              <a:satOff val="45107"/>
              <a:lumOff val="42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8520058" y="2818362"/>
        <a:ext cx="321951" cy="4404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5FE112-7872-460D-B557-9E1D8E35BD5C}">
      <dsp:nvSpPr>
        <dsp:cNvPr id="0" name=""/>
        <dsp:cNvSpPr/>
      </dsp:nvSpPr>
      <dsp:spPr>
        <a:xfrm>
          <a:off x="493759" y="1044957"/>
          <a:ext cx="806835" cy="8068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47E5A2-69F3-4CE6-B8C4-F064B2D53DD7}">
      <dsp:nvSpPr>
        <dsp:cNvPr id="0" name=""/>
        <dsp:cNvSpPr/>
      </dsp:nvSpPr>
      <dsp:spPr>
        <a:xfrm>
          <a:off x="693" y="2196004"/>
          <a:ext cx="1792968" cy="114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Collect all possible data from the source, either JC parks and recreation directly, or other regional government offices that can provide required information. </a:t>
          </a:r>
        </a:p>
      </dsp:txBody>
      <dsp:txXfrm>
        <a:off x="693" y="2196004"/>
        <a:ext cx="1792968" cy="1143017"/>
      </dsp:txXfrm>
    </dsp:sp>
    <dsp:sp modelId="{42EBC8B3-17BC-4427-821C-DB56BE169782}">
      <dsp:nvSpPr>
        <dsp:cNvPr id="0" name=""/>
        <dsp:cNvSpPr/>
      </dsp:nvSpPr>
      <dsp:spPr>
        <a:xfrm>
          <a:off x="2600498" y="1044957"/>
          <a:ext cx="806835" cy="8068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B9DF69-D1B8-487D-AA7E-3C1ECB5F9981}">
      <dsp:nvSpPr>
        <dsp:cNvPr id="0" name=""/>
        <dsp:cNvSpPr/>
      </dsp:nvSpPr>
      <dsp:spPr>
        <a:xfrm>
          <a:off x="2107431" y="2196004"/>
          <a:ext cx="1792968" cy="114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Create and distribute a survey in an attempt to capture relevant information from regions outside the target region (Washington County in this case). </a:t>
          </a:r>
        </a:p>
      </dsp:txBody>
      <dsp:txXfrm>
        <a:off x="2107431" y="2196004"/>
        <a:ext cx="1792968" cy="1143017"/>
      </dsp:txXfrm>
    </dsp:sp>
    <dsp:sp modelId="{46239B09-0A4D-4914-973E-F228365DA393}">
      <dsp:nvSpPr>
        <dsp:cNvPr id="0" name=""/>
        <dsp:cNvSpPr/>
      </dsp:nvSpPr>
      <dsp:spPr>
        <a:xfrm>
          <a:off x="4707236" y="1044957"/>
          <a:ext cx="806835" cy="8068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C9A0BD-D848-4A65-ADC1-801388BBB191}">
      <dsp:nvSpPr>
        <dsp:cNvPr id="0" name=""/>
        <dsp:cNvSpPr/>
      </dsp:nvSpPr>
      <dsp:spPr>
        <a:xfrm>
          <a:off x="4214170" y="2196004"/>
          <a:ext cx="1792968" cy="114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For additional data not obtained through first two means, we refer to secondary studies to obtain data such as a  proportion of non-local visitors.</a:t>
          </a:r>
        </a:p>
      </dsp:txBody>
      <dsp:txXfrm>
        <a:off x="4214170" y="2196004"/>
        <a:ext cx="1792968" cy="1143017"/>
      </dsp:txXfrm>
    </dsp:sp>
    <dsp:sp modelId="{735901BB-AF86-40B8-B68F-428B6C66A21A}">
      <dsp:nvSpPr>
        <dsp:cNvPr id="0" name=""/>
        <dsp:cNvSpPr/>
      </dsp:nvSpPr>
      <dsp:spPr>
        <a:xfrm>
          <a:off x="6813974" y="1044957"/>
          <a:ext cx="806835" cy="80683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CA28BC-AF2B-478C-978B-0FDCB80FDA68}">
      <dsp:nvSpPr>
        <dsp:cNvPr id="0" name=""/>
        <dsp:cNvSpPr/>
      </dsp:nvSpPr>
      <dsp:spPr>
        <a:xfrm>
          <a:off x="6320908" y="2196004"/>
          <a:ext cx="1792968" cy="114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Create estimates for each sport based </a:t>
          </a:r>
          <a:r>
            <a:rPr lang="en-US" sz="1100" kern="1200">
              <a:latin typeface="Trebuchet MS" panose="020B0603020202020204"/>
            </a:rPr>
            <a:t>on</a:t>
          </a:r>
          <a:r>
            <a:rPr lang="en-US" sz="1100" kern="1200"/>
            <a:t> preceding data </a:t>
          </a:r>
        </a:p>
      </dsp:txBody>
      <dsp:txXfrm>
        <a:off x="6320908" y="2196004"/>
        <a:ext cx="1792968" cy="1143017"/>
      </dsp:txXfrm>
    </dsp:sp>
    <dsp:sp modelId="{975977AF-B26B-4A65-9808-A3F3609D7FA7}">
      <dsp:nvSpPr>
        <dsp:cNvPr id="0" name=""/>
        <dsp:cNvSpPr/>
      </dsp:nvSpPr>
      <dsp:spPr>
        <a:xfrm>
          <a:off x="8920713" y="1044957"/>
          <a:ext cx="806835" cy="80683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F8CEB9-83C6-428C-8216-EFD418BA2A2F}">
      <dsp:nvSpPr>
        <dsp:cNvPr id="0" name=""/>
        <dsp:cNvSpPr/>
      </dsp:nvSpPr>
      <dsp:spPr>
        <a:xfrm>
          <a:off x="8427646" y="2196004"/>
          <a:ext cx="1792968" cy="114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Apply multipliers using RIMS II I/O model table for the region </a:t>
          </a:r>
        </a:p>
      </dsp:txBody>
      <dsp:txXfrm>
        <a:off x="8427646" y="2196004"/>
        <a:ext cx="1792968" cy="114301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16D363-4447-4A86-9669-1C867D6D4AF9}">
      <dsp:nvSpPr>
        <dsp:cNvPr id="0" name=""/>
        <dsp:cNvSpPr/>
      </dsp:nvSpPr>
      <dsp:spPr>
        <a:xfrm>
          <a:off x="0" y="93057"/>
          <a:ext cx="3005666" cy="180339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RIMS II is a backward-linkage model </a:t>
          </a:r>
        </a:p>
      </dsp:txBody>
      <dsp:txXfrm>
        <a:off x="0" y="93057"/>
        <a:ext cx="3005666" cy="1803399"/>
      </dsp:txXfrm>
    </dsp:sp>
    <dsp:sp modelId="{6675F9BC-D863-43A9-8CC9-2C91F1D075EE}">
      <dsp:nvSpPr>
        <dsp:cNvPr id="0" name=""/>
        <dsp:cNvSpPr/>
      </dsp:nvSpPr>
      <dsp:spPr>
        <a:xfrm>
          <a:off x="3306233" y="93057"/>
          <a:ext cx="3005666" cy="180339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RIMS II uses Fixed Purchase Patterns </a:t>
          </a:r>
        </a:p>
      </dsp:txBody>
      <dsp:txXfrm>
        <a:off x="3306233" y="93057"/>
        <a:ext cx="3005666" cy="1803399"/>
      </dsp:txXfrm>
    </dsp:sp>
    <dsp:sp modelId="{F794A59A-6EDF-46C2-9C26-22565C8EE2A0}">
      <dsp:nvSpPr>
        <dsp:cNvPr id="0" name=""/>
        <dsp:cNvSpPr/>
      </dsp:nvSpPr>
      <dsp:spPr>
        <a:xfrm>
          <a:off x="6612466" y="93057"/>
          <a:ext cx="3005666" cy="180339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Industry Homogeneity </a:t>
          </a:r>
        </a:p>
      </dsp:txBody>
      <dsp:txXfrm>
        <a:off x="6612466" y="93057"/>
        <a:ext cx="3005666" cy="1803399"/>
      </dsp:txXfrm>
    </dsp:sp>
    <dsp:sp modelId="{123C3175-4E50-4A8B-8086-78C7A35F7C9F}">
      <dsp:nvSpPr>
        <dsp:cNvPr id="0" name=""/>
        <dsp:cNvSpPr/>
      </dsp:nvSpPr>
      <dsp:spPr>
        <a:xfrm>
          <a:off x="0" y="2197024"/>
          <a:ext cx="3005666" cy="180339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No Supply Constraints </a:t>
          </a:r>
        </a:p>
      </dsp:txBody>
      <dsp:txXfrm>
        <a:off x="0" y="2197024"/>
        <a:ext cx="3005666" cy="1803399"/>
      </dsp:txXfrm>
    </dsp:sp>
    <dsp:sp modelId="{F3744EBD-A39C-4046-A147-CC482568A6D3}">
      <dsp:nvSpPr>
        <dsp:cNvPr id="0" name=""/>
        <dsp:cNvSpPr/>
      </dsp:nvSpPr>
      <dsp:spPr>
        <a:xfrm>
          <a:off x="3306233" y="2197024"/>
          <a:ext cx="3005666" cy="180339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No Regional Feedback </a:t>
          </a:r>
        </a:p>
      </dsp:txBody>
      <dsp:txXfrm>
        <a:off x="3306233" y="2197024"/>
        <a:ext cx="3005666" cy="1803399"/>
      </dsp:txXfrm>
    </dsp:sp>
    <dsp:sp modelId="{BB476697-311B-457D-B6F2-A8556FBC4626}">
      <dsp:nvSpPr>
        <dsp:cNvPr id="0" name=""/>
        <dsp:cNvSpPr/>
      </dsp:nvSpPr>
      <dsp:spPr>
        <a:xfrm>
          <a:off x="6612466" y="2197024"/>
          <a:ext cx="3005666" cy="180339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No Time Dimension</a:t>
          </a:r>
        </a:p>
      </dsp:txBody>
      <dsp:txXfrm>
        <a:off x="6612466" y="2197024"/>
        <a:ext cx="3005666" cy="180339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0E7AF9-987F-41C1-AA86-DB037AE0400A}">
      <dsp:nvSpPr>
        <dsp:cNvPr id="0" name=""/>
        <dsp:cNvSpPr/>
      </dsp:nvSpPr>
      <dsp:spPr>
        <a:xfrm>
          <a:off x="0" y="3198"/>
          <a:ext cx="9618133" cy="68118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EEF784-4D59-4C35-8817-FE10A15ADFEA}">
      <dsp:nvSpPr>
        <dsp:cNvPr id="0" name=""/>
        <dsp:cNvSpPr/>
      </dsp:nvSpPr>
      <dsp:spPr>
        <a:xfrm>
          <a:off x="206057" y="156463"/>
          <a:ext cx="374649" cy="3746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6BC50C-31F5-4B5E-AD41-4E855AF248E6}">
      <dsp:nvSpPr>
        <dsp:cNvPr id="0" name=""/>
        <dsp:cNvSpPr/>
      </dsp:nvSpPr>
      <dsp:spPr>
        <a:xfrm>
          <a:off x="786764" y="3198"/>
          <a:ext cx="8831368" cy="681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92" tIns="72092" rIns="72092" bIns="7209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RIMS II multipliers are only meaningful for analyzing the impact of final demand change in a region. Final demand consist of a number of different types of transactions:</a:t>
          </a:r>
        </a:p>
      </dsp:txBody>
      <dsp:txXfrm>
        <a:off x="786764" y="3198"/>
        <a:ext cx="8831368" cy="681180"/>
      </dsp:txXfrm>
    </dsp:sp>
    <dsp:sp modelId="{992B3487-509D-464A-A831-E549A238D33C}">
      <dsp:nvSpPr>
        <dsp:cNvPr id="0" name=""/>
        <dsp:cNvSpPr/>
      </dsp:nvSpPr>
      <dsp:spPr>
        <a:xfrm>
          <a:off x="0" y="854674"/>
          <a:ext cx="9618133" cy="68118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D5B77D-A030-4223-8727-8B937217D297}">
      <dsp:nvSpPr>
        <dsp:cNvPr id="0" name=""/>
        <dsp:cNvSpPr/>
      </dsp:nvSpPr>
      <dsp:spPr>
        <a:xfrm>
          <a:off x="206057" y="1007939"/>
          <a:ext cx="374649" cy="3746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6A1480-2E20-4B53-8E10-A59A8974F76F}">
      <dsp:nvSpPr>
        <dsp:cNvPr id="0" name=""/>
        <dsp:cNvSpPr/>
      </dsp:nvSpPr>
      <dsp:spPr>
        <a:xfrm>
          <a:off x="786764" y="854674"/>
          <a:ext cx="8831368" cy="681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92" tIns="72092" rIns="72092" bIns="7209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Purchases by consumers outside the region </a:t>
          </a:r>
        </a:p>
      </dsp:txBody>
      <dsp:txXfrm>
        <a:off x="786764" y="854674"/>
        <a:ext cx="8831368" cy="681180"/>
      </dsp:txXfrm>
    </dsp:sp>
    <dsp:sp modelId="{206F2895-CFA6-4281-8E8C-39C28A0562FD}">
      <dsp:nvSpPr>
        <dsp:cNvPr id="0" name=""/>
        <dsp:cNvSpPr/>
      </dsp:nvSpPr>
      <dsp:spPr>
        <a:xfrm>
          <a:off x="0" y="1706150"/>
          <a:ext cx="9618133" cy="68118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2F8FC9-39B9-421A-9D88-DB32A88EF4A4}">
      <dsp:nvSpPr>
        <dsp:cNvPr id="0" name=""/>
        <dsp:cNvSpPr/>
      </dsp:nvSpPr>
      <dsp:spPr>
        <a:xfrm>
          <a:off x="206057" y="1859416"/>
          <a:ext cx="374649" cy="3746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C011A2-76B8-4B75-8AAC-3AF66BC47560}">
      <dsp:nvSpPr>
        <dsp:cNvPr id="0" name=""/>
        <dsp:cNvSpPr/>
      </dsp:nvSpPr>
      <dsp:spPr>
        <a:xfrm>
          <a:off x="786764" y="1706150"/>
          <a:ext cx="8831368" cy="681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92" tIns="72092" rIns="72092" bIns="7209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Investment in new buildings, equipment, and software</a:t>
          </a:r>
        </a:p>
      </dsp:txBody>
      <dsp:txXfrm>
        <a:off x="786764" y="1706150"/>
        <a:ext cx="8831368" cy="681180"/>
      </dsp:txXfrm>
    </dsp:sp>
    <dsp:sp modelId="{0E31BB4E-62E8-4D55-85E3-A19D483CD37A}">
      <dsp:nvSpPr>
        <dsp:cNvPr id="0" name=""/>
        <dsp:cNvSpPr/>
      </dsp:nvSpPr>
      <dsp:spPr>
        <a:xfrm>
          <a:off x="0" y="2557626"/>
          <a:ext cx="9618133" cy="68118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19D8F9-63D8-4507-9BEE-65580A093A7D}">
      <dsp:nvSpPr>
        <dsp:cNvPr id="0" name=""/>
        <dsp:cNvSpPr/>
      </dsp:nvSpPr>
      <dsp:spPr>
        <a:xfrm>
          <a:off x="206057" y="2710892"/>
          <a:ext cx="374649" cy="3746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5C0531-8D11-41A0-993C-6DC57B1695E8}">
      <dsp:nvSpPr>
        <dsp:cNvPr id="0" name=""/>
        <dsp:cNvSpPr/>
      </dsp:nvSpPr>
      <dsp:spPr>
        <a:xfrm>
          <a:off x="786764" y="2557626"/>
          <a:ext cx="8831368" cy="681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92" tIns="72092" rIns="72092" bIns="7209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Purchases by government </a:t>
          </a:r>
        </a:p>
      </dsp:txBody>
      <dsp:txXfrm>
        <a:off x="786764" y="2557626"/>
        <a:ext cx="8831368" cy="681180"/>
      </dsp:txXfrm>
    </dsp:sp>
    <dsp:sp modelId="{32F101FF-E79C-4F3F-B698-07AAF80CAE7C}">
      <dsp:nvSpPr>
        <dsp:cNvPr id="0" name=""/>
        <dsp:cNvSpPr/>
      </dsp:nvSpPr>
      <dsp:spPr>
        <a:xfrm>
          <a:off x="0" y="3409102"/>
          <a:ext cx="9618133" cy="68118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DCA5B8-536F-4432-8BF0-40BA48616481}">
      <dsp:nvSpPr>
        <dsp:cNvPr id="0" name=""/>
        <dsp:cNvSpPr/>
      </dsp:nvSpPr>
      <dsp:spPr>
        <a:xfrm>
          <a:off x="206057" y="3562368"/>
          <a:ext cx="374649" cy="3746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7891BF-6706-46A3-B459-FD706A38CB62}">
      <dsp:nvSpPr>
        <dsp:cNvPr id="0" name=""/>
        <dsp:cNvSpPr/>
      </dsp:nvSpPr>
      <dsp:spPr>
        <a:xfrm>
          <a:off x="786764" y="3409102"/>
          <a:ext cx="8831368" cy="681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92" tIns="72092" rIns="72092" bIns="72092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Purchases by households</a:t>
          </a:r>
        </a:p>
      </dsp:txBody>
      <dsp:txXfrm>
        <a:off x="786764" y="3409102"/>
        <a:ext cx="8831368" cy="6811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867B76-5BC1-48E8-927E-4BE1A9261366}">
      <dsp:nvSpPr>
        <dsp:cNvPr id="0" name=""/>
        <dsp:cNvSpPr/>
      </dsp:nvSpPr>
      <dsp:spPr>
        <a:xfrm>
          <a:off x="2485566" y="865144"/>
          <a:ext cx="53997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9978" y="45720"/>
              </a:lnTo>
            </a:path>
          </a:pathLst>
        </a:custGeom>
        <a:noFill/>
        <a:ln w="1270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741291" y="908011"/>
        <a:ext cx="28528" cy="5705"/>
      </dsp:txXfrm>
    </dsp:sp>
    <dsp:sp modelId="{5FB0F67D-6201-4A6E-AE7B-B78DAA3FF577}">
      <dsp:nvSpPr>
        <dsp:cNvPr id="0" name=""/>
        <dsp:cNvSpPr/>
      </dsp:nvSpPr>
      <dsp:spPr>
        <a:xfrm>
          <a:off x="6590" y="166631"/>
          <a:ext cx="2480776" cy="148846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560" tIns="127599" rIns="121560" bIns="127599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Collect survey data and incorporate it into the data set we already have built</a:t>
          </a:r>
        </a:p>
      </dsp:txBody>
      <dsp:txXfrm>
        <a:off x="6590" y="166631"/>
        <a:ext cx="2480776" cy="1488466"/>
      </dsp:txXfrm>
    </dsp:sp>
    <dsp:sp modelId="{F7CB4452-BCFA-46A5-8DFE-E3431AE934FD}">
      <dsp:nvSpPr>
        <dsp:cNvPr id="0" name=""/>
        <dsp:cNvSpPr/>
      </dsp:nvSpPr>
      <dsp:spPr>
        <a:xfrm>
          <a:off x="5536922" y="865144"/>
          <a:ext cx="53997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9978" y="45720"/>
              </a:lnTo>
            </a:path>
          </a:pathLst>
        </a:custGeom>
        <a:noFill/>
        <a:ln w="12700" cap="rnd" cmpd="sng" algn="ctr">
          <a:solidFill>
            <a:schemeClr val="accent5">
              <a:hueOff val="831752"/>
              <a:satOff val="-16830"/>
              <a:lumOff val="52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792647" y="908011"/>
        <a:ext cx="28528" cy="5705"/>
      </dsp:txXfrm>
    </dsp:sp>
    <dsp:sp modelId="{646ED1BC-8D90-4D8F-AF91-9F462C009253}">
      <dsp:nvSpPr>
        <dsp:cNvPr id="0" name=""/>
        <dsp:cNvSpPr/>
      </dsp:nvSpPr>
      <dsp:spPr>
        <a:xfrm>
          <a:off x="3057945" y="166631"/>
          <a:ext cx="2480776" cy="1488466"/>
        </a:xfrm>
        <a:prstGeom prst="rect">
          <a:avLst/>
        </a:prstGeom>
        <a:solidFill>
          <a:schemeClr val="accent5">
            <a:hueOff val="623814"/>
            <a:satOff val="-12622"/>
            <a:lumOff val="39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560" tIns="127599" rIns="121560" bIns="127599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Use both collected data and secondary studies to build a cohesive data set</a:t>
          </a:r>
        </a:p>
      </dsp:txBody>
      <dsp:txXfrm>
        <a:off x="3057945" y="166631"/>
        <a:ext cx="2480776" cy="1488466"/>
      </dsp:txXfrm>
    </dsp:sp>
    <dsp:sp modelId="{ACF88311-EC52-4E43-97DD-55527A6158A5}">
      <dsp:nvSpPr>
        <dsp:cNvPr id="0" name=""/>
        <dsp:cNvSpPr/>
      </dsp:nvSpPr>
      <dsp:spPr>
        <a:xfrm>
          <a:off x="1246978" y="1653297"/>
          <a:ext cx="6102710" cy="539978"/>
        </a:xfrm>
        <a:custGeom>
          <a:avLst/>
          <a:gdLst/>
          <a:ahLst/>
          <a:cxnLst/>
          <a:rect l="0" t="0" r="0" b="0"/>
          <a:pathLst>
            <a:path>
              <a:moveTo>
                <a:pt x="6102710" y="0"/>
              </a:moveTo>
              <a:lnTo>
                <a:pt x="6102710" y="287089"/>
              </a:lnTo>
              <a:lnTo>
                <a:pt x="0" y="287089"/>
              </a:lnTo>
              <a:lnTo>
                <a:pt x="0" y="539978"/>
              </a:lnTo>
            </a:path>
          </a:pathLst>
        </a:custGeom>
        <a:noFill/>
        <a:ln w="12700" cap="rnd" cmpd="sng" algn="ctr">
          <a:solidFill>
            <a:schemeClr val="accent5">
              <a:hueOff val="1663504"/>
              <a:satOff val="-33659"/>
              <a:lumOff val="104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45100" y="1920433"/>
        <a:ext cx="306466" cy="5705"/>
      </dsp:txXfrm>
    </dsp:sp>
    <dsp:sp modelId="{9327CB3D-2951-4C50-B48A-2895073DC22F}">
      <dsp:nvSpPr>
        <dsp:cNvPr id="0" name=""/>
        <dsp:cNvSpPr/>
      </dsp:nvSpPr>
      <dsp:spPr>
        <a:xfrm>
          <a:off x="6109301" y="166631"/>
          <a:ext cx="2480776" cy="1488466"/>
        </a:xfrm>
        <a:prstGeom prst="rect">
          <a:avLst/>
        </a:prstGeom>
        <a:solidFill>
          <a:schemeClr val="accent5">
            <a:hueOff val="1247628"/>
            <a:satOff val="-25244"/>
            <a:lumOff val="78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560" tIns="127599" rIns="121560" bIns="127599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Once data set is complete begin analysis using RIMS II multipliers as laid out in the manual published by the Bureau of Economic Analysis (BEA).</a:t>
          </a:r>
        </a:p>
      </dsp:txBody>
      <dsp:txXfrm>
        <a:off x="6109301" y="166631"/>
        <a:ext cx="2480776" cy="1488466"/>
      </dsp:txXfrm>
    </dsp:sp>
    <dsp:sp modelId="{7964A830-BE29-45D4-B012-69C1DB10D168}">
      <dsp:nvSpPr>
        <dsp:cNvPr id="0" name=""/>
        <dsp:cNvSpPr/>
      </dsp:nvSpPr>
      <dsp:spPr>
        <a:xfrm>
          <a:off x="2485566" y="2924188"/>
          <a:ext cx="53997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9978" y="45720"/>
              </a:lnTo>
            </a:path>
          </a:pathLst>
        </a:custGeom>
        <a:noFill/>
        <a:ln w="12700" cap="rnd" cmpd="sng" algn="ctr">
          <a:solidFill>
            <a:schemeClr val="accent5">
              <a:hueOff val="2495256"/>
              <a:satOff val="-50489"/>
              <a:lumOff val="1569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741291" y="2967055"/>
        <a:ext cx="28528" cy="5705"/>
      </dsp:txXfrm>
    </dsp:sp>
    <dsp:sp modelId="{83F539C9-E80B-4334-9216-217BE3D94AA7}">
      <dsp:nvSpPr>
        <dsp:cNvPr id="0" name=""/>
        <dsp:cNvSpPr/>
      </dsp:nvSpPr>
      <dsp:spPr>
        <a:xfrm>
          <a:off x="6590" y="2225675"/>
          <a:ext cx="2480776" cy="1488466"/>
        </a:xfrm>
        <a:prstGeom prst="rect">
          <a:avLst/>
        </a:prstGeom>
        <a:solidFill>
          <a:schemeClr val="accent5">
            <a:hueOff val="1871442"/>
            <a:satOff val="-37867"/>
            <a:lumOff val="117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560" tIns="127599" rIns="121560" bIns="127599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Produce numbers that correspond with the various economic effects produced by the project</a:t>
          </a:r>
        </a:p>
      </dsp:txBody>
      <dsp:txXfrm>
        <a:off x="6590" y="2225675"/>
        <a:ext cx="2480776" cy="1488466"/>
      </dsp:txXfrm>
    </dsp:sp>
    <dsp:sp modelId="{E1932477-B796-4E1A-9EDC-5609A00D291B}">
      <dsp:nvSpPr>
        <dsp:cNvPr id="0" name=""/>
        <dsp:cNvSpPr/>
      </dsp:nvSpPr>
      <dsp:spPr>
        <a:xfrm>
          <a:off x="3057945" y="2225675"/>
          <a:ext cx="2480776" cy="1488466"/>
        </a:xfrm>
        <a:prstGeom prst="rect">
          <a:avLst/>
        </a:prstGeom>
        <a:solidFill>
          <a:schemeClr val="accent5">
            <a:hueOff val="2495256"/>
            <a:satOff val="-50489"/>
            <a:lumOff val="156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560" tIns="127599" rIns="121560" bIns="127599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Compile an economic analysis for the park expansion based off of these findings</a:t>
          </a:r>
        </a:p>
      </dsp:txBody>
      <dsp:txXfrm>
        <a:off x="3057945" y="2225675"/>
        <a:ext cx="2480776" cy="14884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10/29/2023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10/29/2023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212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694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872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10/29/2023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310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880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008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858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333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561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417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392261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4425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061945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8052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10/29/2023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2951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467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636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  <p:sldLayoutId id="2147483846" r:id="rId12"/>
    <p:sldLayoutId id="2147483847" r:id="rId13"/>
    <p:sldLayoutId id="2147483848" r:id="rId14"/>
    <p:sldLayoutId id="2147483849" r:id="rId15"/>
    <p:sldLayoutId id="214748385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google.com/maps/d/edit?mid=11j6LqPc0YP-rNN90qcG_l612N54ZeTs&amp;usp=sharing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forms/d/e/1FAIpQLScD4NI19zBT1PyfLsbvYWQA6MJSZKmjWwtkXWSLqJa5ocHcJg/viewform?usp=sf_link" TargetMode="Externa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3824" y="2404534"/>
            <a:ext cx="8412979" cy="1646302"/>
          </a:xfrm>
        </p:spPr>
        <p:txBody>
          <a:bodyPr/>
          <a:lstStyle/>
          <a:p>
            <a:r>
              <a:rPr lang="en-US"/>
              <a:t>Winged Deer Park</a:t>
            </a:r>
            <a:br>
              <a:rPr lang="en-US"/>
            </a:br>
            <a:r>
              <a:rPr lang="en-US"/>
              <a:t>Economic Impact Study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68D447-28D3-4F5F-B2DC-FD67E90158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200"/>
              </a:spcBef>
            </a:pPr>
            <a:r>
              <a:rPr lang="en-US" sz="2200">
                <a:ea typeface="+mn-lt"/>
                <a:cs typeface="+mn-lt"/>
              </a:rPr>
              <a:t>Kent Roller, Toby Adebiyi, Adade Yeboah</a:t>
            </a:r>
            <a:endParaRPr lang="en-US"/>
          </a:p>
          <a:p>
            <a:pPr>
              <a:lnSpc>
                <a:spcPct val="90000"/>
              </a:lnSpc>
              <a:spcBef>
                <a:spcPts val="1200"/>
              </a:spcBef>
            </a:pPr>
            <a:r>
              <a:rPr lang="en-US" sz="2200">
                <a:ea typeface="+mn-lt"/>
                <a:cs typeface="+mn-lt"/>
              </a:rPr>
              <a:t>Kevin Willis, Richard Ojo, Katelyn Williams</a:t>
            </a:r>
            <a:endParaRPr lang="en-US"/>
          </a:p>
        </p:txBody>
      </p:sp>
      <p:pic>
        <p:nvPicPr>
          <p:cNvPr id="4" name="Picture 3" descr="A logo with mountains and a mustache&#10;&#10;Description automatically generated">
            <a:extLst>
              <a:ext uri="{FF2B5EF4-FFF2-40B4-BE49-F238E27FC236}">
                <a16:creationId xmlns:a16="http://schemas.microsoft.com/office/drawing/2014/main" id="{62019056-FF3F-4197-C64C-5FEB9026A5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487" y="4957976"/>
            <a:ext cx="2743200" cy="1812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82DC0512-A0B4-22C1-BBBE-A29AF11A78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472" r="9532" b="-4"/>
          <a:stretch/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3F744A-EF0D-C661-8C02-66219BE8C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>
            <a:normAutofit/>
          </a:bodyPr>
          <a:lstStyle/>
          <a:p>
            <a:r>
              <a:rPr lang="en-US"/>
              <a:t>Table of Contents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A269F-E53D-1649-3BC6-0E3AB7204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Project Overview and Goals 3-4</a:t>
            </a:r>
          </a:p>
          <a:p>
            <a:r>
              <a:rPr lang="en-US"/>
              <a:t>Initial Data Sets and Analysis 5-10</a:t>
            </a:r>
          </a:p>
          <a:p>
            <a:r>
              <a:rPr lang="en-US"/>
              <a:t>Multiplier Effect and Impact Estimation 11-15</a:t>
            </a:r>
          </a:p>
          <a:p>
            <a:r>
              <a:rPr lang="en-US"/>
              <a:t>Survey Overview 16</a:t>
            </a:r>
          </a:p>
          <a:p>
            <a:r>
              <a:rPr lang="en-US"/>
              <a:t>RIMS II integration and Moving Forward 17-22</a:t>
            </a:r>
          </a:p>
          <a:p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5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83943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939635-02AC-4B72-0B04-97894CCC2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US"/>
              <a:t>Project Overview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0E868B-19F6-F500-F16B-ABF37FC6E8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659920"/>
              </p:ext>
            </p:extLst>
          </p:nvPr>
        </p:nvGraphicFramePr>
        <p:xfrm>
          <a:off x="207433" y="13770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52295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F3C43E-6C4A-364B-1415-A98593CBFC56}"/>
              </a:ext>
            </a:extLst>
          </p:cNvPr>
          <p:cNvSpPr txBox="1"/>
          <p:nvPr/>
        </p:nvSpPr>
        <p:spPr>
          <a:xfrm>
            <a:off x="3151323" y="180813"/>
            <a:ext cx="510152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/>
              <a:t> JC Park &amp; Recreation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15738E-079D-3413-DE50-8B87A9CD531C}"/>
              </a:ext>
            </a:extLst>
          </p:cNvPr>
          <p:cNvSpPr txBox="1"/>
          <p:nvPr/>
        </p:nvSpPr>
        <p:spPr>
          <a:xfrm>
            <a:off x="1627320" y="6167034"/>
            <a:ext cx="724545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hlinkClick r:id="rId2"/>
              </a:rPr>
              <a:t>JC PARK DIGITIZE LAYOUT</a:t>
            </a:r>
            <a:endParaRPr lang="en-US"/>
          </a:p>
        </p:txBody>
      </p:sp>
      <p:pic>
        <p:nvPicPr>
          <p:cNvPr id="5" name="Picture 4" descr="A map of a baseball field&#10;&#10;Description automatically generated">
            <a:extLst>
              <a:ext uri="{FF2B5EF4-FFF2-40B4-BE49-F238E27FC236}">
                <a16:creationId xmlns:a16="http://schemas.microsoft.com/office/drawing/2014/main" id="{1F62D07A-09BE-30E7-B0E1-B15DA0135C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78" y="813609"/>
            <a:ext cx="8990370" cy="528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171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42C3B-5FA5-3DF9-547E-3956F3B96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Goals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1DCD83C1-E843-BE59-FA39-396719DA4F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1318008"/>
              </p:ext>
            </p:extLst>
          </p:nvPr>
        </p:nvGraphicFramePr>
        <p:xfrm>
          <a:off x="303523" y="2160589"/>
          <a:ext cx="10221309" cy="43839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22973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76D5E-1789-E239-65D8-30BDE8F9B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Number of Teams per Month Attending Tournaments</a:t>
            </a:r>
          </a:p>
        </p:txBody>
      </p:sp>
      <p:pic>
        <p:nvPicPr>
          <p:cNvPr id="5" name="Content Placeholder 4" descr="A graph of numbers and a number of teams per month&#10;&#10;Description automatically generated">
            <a:extLst>
              <a:ext uri="{FF2B5EF4-FFF2-40B4-BE49-F238E27FC236}">
                <a16:creationId xmlns:a16="http://schemas.microsoft.com/office/drawing/2014/main" id="{50699209-CE02-B2DD-2167-EC39E844BBD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77863" y="2159286"/>
            <a:ext cx="5525633" cy="3593756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789454-2ADB-FC23-3A82-76F866DACF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80839" y="2160589"/>
            <a:ext cx="2693165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Total Number of Teams in 2022: 560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Total Number of Teams in 2023: 523</a:t>
            </a:r>
          </a:p>
        </p:txBody>
      </p:sp>
    </p:spTree>
    <p:extLst>
      <p:ext uri="{BB962C8B-B14F-4D97-AF65-F5344CB8AC3E}">
        <p14:creationId xmlns:p14="http://schemas.microsoft.com/office/powerpoint/2010/main" val="545195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3D542-F871-B3AF-0EE1-D5C0906DA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Total Amount Charged to Tournament Directors per Month 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1244CA-140E-DD95-F2F8-410C1095C7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64274" y="2160589"/>
            <a:ext cx="2709730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Total Amount Charged in 2022: $19,340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Total Amount Charged in 2023: $19,252</a:t>
            </a:r>
          </a:p>
        </p:txBody>
      </p:sp>
      <p:pic>
        <p:nvPicPr>
          <p:cNvPr id="8" name="Content Placeholder 7" descr="A graph of numbers and a number of months&#10;&#10;Description automatically generated">
            <a:extLst>
              <a:ext uri="{FF2B5EF4-FFF2-40B4-BE49-F238E27FC236}">
                <a16:creationId xmlns:a16="http://schemas.microsoft.com/office/drawing/2014/main" id="{48982988-85A0-D1DC-6244-76BA68B67AF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77334" y="2162445"/>
            <a:ext cx="5729806" cy="3935115"/>
          </a:xfrm>
        </p:spPr>
      </p:pic>
    </p:spTree>
    <p:extLst>
      <p:ext uri="{BB962C8B-B14F-4D97-AF65-F5344CB8AC3E}">
        <p14:creationId xmlns:p14="http://schemas.microsoft.com/office/powerpoint/2010/main" val="2617326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F5AB1-90D6-BA4B-1993-65AF8C6DD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USA Softball 18U National Championship</a:t>
            </a:r>
            <a:br>
              <a:rPr lang="en-US"/>
            </a:br>
            <a:r>
              <a:rPr lang="en-US"/>
              <a:t>July 2023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C9DA720-E5C0-9F6C-B9DF-E7C25CECC05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348389469"/>
              </p:ext>
            </p:extLst>
          </p:nvPr>
        </p:nvGraphicFramePr>
        <p:xfrm>
          <a:off x="677863" y="2160588"/>
          <a:ext cx="4183062" cy="3942080"/>
        </p:xfrm>
        <a:graphic>
          <a:graphicData uri="http://schemas.openxmlformats.org/drawingml/2006/table">
            <a:tbl>
              <a:tblPr firstCol="1">
                <a:tableStyleId>{5C22544A-7EE6-4342-B048-85BDC9FD1C3A}</a:tableStyleId>
              </a:tblPr>
              <a:tblGrid>
                <a:gridCol w="2091531">
                  <a:extLst>
                    <a:ext uri="{9D8B030D-6E8A-4147-A177-3AD203B41FA5}">
                      <a16:colId xmlns:a16="http://schemas.microsoft.com/office/drawing/2014/main" val="310271027"/>
                    </a:ext>
                  </a:extLst>
                </a:gridCol>
                <a:gridCol w="2091531">
                  <a:extLst>
                    <a:ext uri="{9D8B030D-6E8A-4147-A177-3AD203B41FA5}">
                      <a16:colId xmlns:a16="http://schemas.microsoft.com/office/drawing/2014/main" val="788775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Total Attendees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1,320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7514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Average Spent per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$132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4819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Average Hotel Rate per Night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$118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0338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2603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Total Visitor Spending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$871,200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655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Sales Tax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$10,995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978181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Lodging Tax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$9,499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272424"/>
                  </a:ext>
                </a:extLst>
              </a:tr>
            </a:tbl>
          </a:graphicData>
        </a:graphic>
      </p:graphicFrame>
      <p:pic>
        <p:nvPicPr>
          <p:cNvPr id="6" name="Content Placeholder 5" descr="Luncheon – Northeast Tennessee Tourism Pinnacle Awards">
            <a:extLst>
              <a:ext uri="{FF2B5EF4-FFF2-40B4-BE49-F238E27FC236}">
                <a16:creationId xmlns:a16="http://schemas.microsoft.com/office/drawing/2014/main" id="{D6845A58-8ACB-037C-0E16-519A5BB426B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025797" y="5541735"/>
            <a:ext cx="1471592" cy="1313771"/>
          </a:xfr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08FB056E-E823-579A-5B00-7B0DB30231E0}"/>
              </a:ext>
            </a:extLst>
          </p:cNvPr>
          <p:cNvSpPr txBox="1">
            <a:spLocks/>
          </p:cNvSpPr>
          <p:nvPr/>
        </p:nvSpPr>
        <p:spPr>
          <a:xfrm>
            <a:off x="5501260" y="1871328"/>
            <a:ext cx="3589895" cy="4924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>
                <a:solidFill>
                  <a:schemeClr val="tx1"/>
                </a:solidFill>
                <a:ea typeface="+mn-lt"/>
                <a:cs typeface="+mn-lt"/>
              </a:rPr>
              <a:t>The USA Softball National Tournament is one of the largest tournaments hosted by Visit JC each year. In 2023, this 5-day event was held at Winged Deer Park for the 18U Girls Class 'A' Fastpitch softball. </a:t>
            </a:r>
            <a:endParaRPr lang="en-US" sz="1700">
              <a:solidFill>
                <a:schemeClr val="tx1"/>
              </a:solidFill>
            </a:endParaRPr>
          </a:p>
          <a:p>
            <a:r>
              <a:rPr lang="en-US" sz="1700">
                <a:solidFill>
                  <a:schemeClr val="tx1"/>
                </a:solidFill>
                <a:ea typeface="+mn-lt"/>
                <a:cs typeface="+mn-lt"/>
              </a:rPr>
              <a:t>National tournaments bring non-locals to the JC area. Visitor spending then impacts the amount of tax revenue the city will in turn receive. </a:t>
            </a:r>
            <a:endParaRPr lang="en-US" sz="170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6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5971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45CA2-9C49-73BF-E0DB-89EF6A837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Average Maintenance Cost per Type of Tournament</a:t>
            </a:r>
          </a:p>
        </p:txBody>
      </p:sp>
      <p:pic>
        <p:nvPicPr>
          <p:cNvPr id="5" name="Content Placeholder 4" descr="A graph showing the average cost per tournament&#10;&#10;Description automatically generated">
            <a:extLst>
              <a:ext uri="{FF2B5EF4-FFF2-40B4-BE49-F238E27FC236}">
                <a16:creationId xmlns:a16="http://schemas.microsoft.com/office/drawing/2014/main" id="{A3A79FCA-E9B3-6503-E6C3-3490442A8A8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77863" y="2172191"/>
            <a:ext cx="5743347" cy="3466344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548E44-8F4E-8FE3-A5F0-ACF8D2DC27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9316" y="2168871"/>
            <a:ext cx="2726296" cy="387249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>
                <a:solidFill>
                  <a:schemeClr val="tx1"/>
                </a:solidFill>
              </a:rPr>
              <a:t>Total Cost for 1-Day Tournament: $1,545</a:t>
            </a:r>
          </a:p>
          <a:p>
            <a:endParaRPr lang="en-US" sz="1600">
              <a:solidFill>
                <a:schemeClr val="tx1"/>
              </a:solidFill>
            </a:endParaRPr>
          </a:p>
          <a:p>
            <a:r>
              <a:rPr lang="en-US" sz="1600">
                <a:solidFill>
                  <a:schemeClr val="tx1"/>
                </a:solidFill>
              </a:rPr>
              <a:t>Total Cost for 2-Day Tournament: $3,475</a:t>
            </a:r>
          </a:p>
          <a:p>
            <a:endParaRPr lang="en-US" sz="1600">
              <a:solidFill>
                <a:schemeClr val="tx1"/>
              </a:solidFill>
            </a:endParaRPr>
          </a:p>
          <a:p>
            <a:r>
              <a:rPr lang="en-US" sz="1600">
                <a:solidFill>
                  <a:schemeClr val="tx1"/>
                </a:solidFill>
              </a:rPr>
              <a:t>Total Cost for National Tournament: $6,057</a:t>
            </a:r>
          </a:p>
        </p:txBody>
      </p:sp>
    </p:spTree>
    <p:extLst>
      <p:ext uri="{BB962C8B-B14F-4D97-AF65-F5344CB8AC3E}">
        <p14:creationId xmlns:p14="http://schemas.microsoft.com/office/powerpoint/2010/main" val="90975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10BE40E3-5550-4CDD-B4FD-387C33EBF1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1A6B738-E50C-4653-B343-B9D6A5EA2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98768D6-B28C-40A3-B381-39306F581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23">
              <a:extLst>
                <a:ext uri="{FF2B5EF4-FFF2-40B4-BE49-F238E27FC236}">
                  <a16:creationId xmlns:a16="http://schemas.microsoft.com/office/drawing/2014/main" id="{B27C15B9-7795-4321-AB30-DF1DEF65C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5">
              <a:extLst>
                <a:ext uri="{FF2B5EF4-FFF2-40B4-BE49-F238E27FC236}">
                  <a16:creationId xmlns:a16="http://schemas.microsoft.com/office/drawing/2014/main" id="{578EC957-1F3F-4C00-B023-C8725C21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3D642632-BBD5-46D6-A91D-9B2BF6821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27">
              <a:extLst>
                <a:ext uri="{FF2B5EF4-FFF2-40B4-BE49-F238E27FC236}">
                  <a16:creationId xmlns:a16="http://schemas.microsoft.com/office/drawing/2014/main" id="{BF9D518D-AFF5-4DE2-AEE2-0EC15479A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28">
              <a:extLst>
                <a:ext uri="{FF2B5EF4-FFF2-40B4-BE49-F238E27FC236}">
                  <a16:creationId xmlns:a16="http://schemas.microsoft.com/office/drawing/2014/main" id="{14EF979B-B00D-460C-BD56-7EEAFB7E0F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9">
              <a:extLst>
                <a:ext uri="{FF2B5EF4-FFF2-40B4-BE49-F238E27FC236}">
                  <a16:creationId xmlns:a16="http://schemas.microsoft.com/office/drawing/2014/main" id="{3E40F9A1-6B82-400F-9397-26D1D36F1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2EF7DDF1-FF86-4CA4-B08B-8939557EBD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D7C1F89-72B2-4FDC-B9E2-04F52D5C5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12E00ED-8EAA-282C-612A-1493BCC8C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/>
              <a:t>Maintenance Cost Estimates 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3B29CE-5892-0DEB-D92A-4A12BEF28B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063160" y="2160589"/>
            <a:ext cx="5207839" cy="3880773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Wingdings 3" charset="2"/>
              <a:buChar char=""/>
            </a:pPr>
            <a:endParaRPr lang="en-US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8522232D-8D6B-DFFC-8A04-A9F5F5C23B2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rcRect t="4165" r="1" b="4166"/>
          <a:stretch/>
        </p:blipFill>
        <p:spPr>
          <a:xfrm>
            <a:off x="677334" y="2029935"/>
            <a:ext cx="3144597" cy="3939872"/>
          </a:xfrm>
          <a:prstGeom prst="rect">
            <a:avLst/>
          </a:prstGeom>
        </p:spPr>
      </p:pic>
      <p:pic>
        <p:nvPicPr>
          <p:cNvPr id="9" name="Picture 8" descr="A graph of different colored squares&#10;&#10;Description automatically generated">
            <a:extLst>
              <a:ext uri="{FF2B5EF4-FFF2-40B4-BE49-F238E27FC236}">
                <a16:creationId xmlns:a16="http://schemas.microsoft.com/office/drawing/2014/main" id="{DC6C732B-589C-0E3E-9192-25FBEFD5E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6213" y="2032958"/>
            <a:ext cx="3059349" cy="4114800"/>
          </a:xfrm>
          <a:prstGeom prst="rect">
            <a:avLst/>
          </a:prstGeom>
        </p:spPr>
      </p:pic>
      <p:pic>
        <p:nvPicPr>
          <p:cNvPr id="24" name="Picture 23" descr="A graph of a bar chart&#10;&#10;Description automatically generated">
            <a:extLst>
              <a:ext uri="{FF2B5EF4-FFF2-40B4-BE49-F238E27FC236}">
                <a16:creationId xmlns:a16="http://schemas.microsoft.com/office/drawing/2014/main" id="{A281D1FB-75A0-7C23-8675-263C3CD135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112" y="1917940"/>
            <a:ext cx="306555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18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B1012-5DDE-AD33-A1A0-54318B1FA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Gathering Survey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B058EE-EC6A-B489-76F6-B6B7692EF0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endParaRPr lang="en-US" sz="1200"/>
          </a:p>
          <a:p>
            <a:pPr algn="ctr"/>
            <a:r>
              <a:rPr lang="en-US">
                <a:hlinkClick r:id="rId2"/>
              </a:rPr>
              <a:t>Survey Link</a:t>
            </a:r>
            <a:endParaRPr lang="en-US"/>
          </a:p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639632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4E690-7F9E-BC53-0ECE-E153E173B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448" y="156075"/>
            <a:ext cx="8596668" cy="1826581"/>
          </a:xfrm>
        </p:spPr>
        <p:txBody>
          <a:bodyPr/>
          <a:lstStyle/>
          <a:p>
            <a:r>
              <a:rPr lang="en-US" dirty="0"/>
              <a:t>Multiplier Effect 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F99A9-151D-7AF8-129A-B363543FC9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diagram of a government investment&#10;&#10;Description automatically generated">
            <a:extLst>
              <a:ext uri="{FF2B5EF4-FFF2-40B4-BE49-F238E27FC236}">
                <a16:creationId xmlns:a16="http://schemas.microsoft.com/office/drawing/2014/main" id="{9851598C-04E6-5099-0431-564EAA310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058" y="2083464"/>
            <a:ext cx="9374036" cy="4560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150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266F6-19E8-FA63-BE97-E3EEA1DFF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751" y="141697"/>
            <a:ext cx="8912969" cy="820166"/>
          </a:xfrm>
        </p:spPr>
        <p:txBody>
          <a:bodyPr>
            <a:normAutofit/>
          </a:bodyPr>
          <a:lstStyle/>
          <a:p>
            <a:r>
              <a:rPr lang="en-US" sz="4400" dirty="0"/>
              <a:t>Multiplier Effect Pt2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349684-5DC8-2D9B-6E8A-034E545BD2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flipH="1">
            <a:off x="14984" y="6353372"/>
            <a:ext cx="1625634" cy="558476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diagram of a graph&#10;&#10;Description automatically generated">
            <a:extLst>
              <a:ext uri="{FF2B5EF4-FFF2-40B4-BE49-F238E27FC236}">
                <a16:creationId xmlns:a16="http://schemas.microsoft.com/office/drawing/2014/main" id="{6AC51FB6-3293-C551-FE6E-91FC5AC44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798" y="1400356"/>
            <a:ext cx="6333838" cy="473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9836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B2A72-0136-7F77-6239-C16772930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034" y="101600"/>
            <a:ext cx="8596668" cy="1320800"/>
          </a:xfrm>
        </p:spPr>
        <p:txBody>
          <a:bodyPr/>
          <a:lstStyle/>
          <a:p>
            <a:r>
              <a:rPr lang="en-US"/>
              <a:t>Impact Estimation w/o I/O model</a:t>
            </a:r>
          </a:p>
        </p:txBody>
      </p:sp>
      <p:pic>
        <p:nvPicPr>
          <p:cNvPr id="5" name="Content Placeholder 3" descr="A white text on a white background&#10;&#10;Description automatically generated">
            <a:extLst>
              <a:ext uri="{FF2B5EF4-FFF2-40B4-BE49-F238E27FC236}">
                <a16:creationId xmlns:a16="http://schemas.microsoft.com/office/drawing/2014/main" id="{605E32F3-7C7D-82D3-097A-16345A8E3A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73" r="-160" b="-2273"/>
          <a:stretch/>
        </p:blipFill>
        <p:spPr>
          <a:xfrm>
            <a:off x="1843109" y="1068830"/>
            <a:ext cx="7954703" cy="4469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1361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B4DE830A-B531-4A3B-96F6-0ECE88B08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13DF2C-461A-4A8F-9679-A172790D1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4CD3A85-C039-4249-86E4-1EB9318B5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87EA6D2-2883-42C2-993D-094CA6D65D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5">
              <a:extLst>
                <a:ext uri="{FF2B5EF4-FFF2-40B4-BE49-F238E27FC236}">
                  <a16:creationId xmlns:a16="http://schemas.microsoft.com/office/drawing/2014/main" id="{3B895046-636F-4D1B-ACA4-29AA0CB33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5">
              <a:extLst>
                <a:ext uri="{FF2B5EF4-FFF2-40B4-BE49-F238E27FC236}">
                  <a16:creationId xmlns:a16="http://schemas.microsoft.com/office/drawing/2014/main" id="{C6B0CDE3-E054-4EDD-A43B-F96843D8B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7">
              <a:extLst>
                <a:ext uri="{FF2B5EF4-FFF2-40B4-BE49-F238E27FC236}">
                  <a16:creationId xmlns:a16="http://schemas.microsoft.com/office/drawing/2014/main" id="{3B66B1A2-F145-4C9B-85CC-4BF30D58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8">
              <a:extLst>
                <a:ext uri="{FF2B5EF4-FFF2-40B4-BE49-F238E27FC236}">
                  <a16:creationId xmlns:a16="http://schemas.microsoft.com/office/drawing/2014/main" id="{5D4FC972-94B3-4035-8D31-E668C132B4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9">
              <a:extLst>
                <a:ext uri="{FF2B5EF4-FFF2-40B4-BE49-F238E27FC236}">
                  <a16:creationId xmlns:a16="http://schemas.microsoft.com/office/drawing/2014/main" id="{374B9941-AFBE-4A77-A50E-B6EA04A74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27A982C5-2C38-4CE9-BC18-94697AD657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0060D8D1-7BB1-498F-AFBB-ADAC130A9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49B2A72-0136-7F77-6239-C16772930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365" y="182995"/>
            <a:ext cx="8288032" cy="10963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3700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Impact Estimation w/o I/O model II</a:t>
            </a:r>
          </a:p>
        </p:txBody>
      </p:sp>
      <p:pic>
        <p:nvPicPr>
          <p:cNvPr id="8" name="Content Placeholder 3" descr="A white text with black text&#10;&#10;Description automatically generated">
            <a:extLst>
              <a:ext uri="{FF2B5EF4-FFF2-40B4-BE49-F238E27FC236}">
                <a16:creationId xmlns:a16="http://schemas.microsoft.com/office/drawing/2014/main" id="{D8FEB51B-E98B-FDA0-0033-0FFA8F0CE2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0008" y="1710600"/>
            <a:ext cx="8884933" cy="4334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5696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B2A72-0136-7F77-6239-C16772930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Baseline Estimates from supplied Data</a:t>
            </a:r>
          </a:p>
        </p:txBody>
      </p:sp>
      <p:pic>
        <p:nvPicPr>
          <p:cNvPr id="13" name="Content Placeholder 3" descr="A white background with black text and numbers&#10;&#10;Description automatically generated">
            <a:extLst>
              <a:ext uri="{FF2B5EF4-FFF2-40B4-BE49-F238E27FC236}">
                <a16:creationId xmlns:a16="http://schemas.microsoft.com/office/drawing/2014/main" id="{0C71653A-603E-E6B9-75D3-13888955B4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202" b="1202"/>
          <a:stretch/>
        </p:blipFill>
        <p:spPr>
          <a:xfrm>
            <a:off x="119747" y="1413285"/>
            <a:ext cx="9821548" cy="519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1283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C110C-86C6-DB21-5066-4A4A4A97C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842" y="634584"/>
            <a:ext cx="8596668" cy="1320800"/>
          </a:xfrm>
        </p:spPr>
        <p:txBody>
          <a:bodyPr/>
          <a:lstStyle/>
          <a:p>
            <a:r>
              <a:rPr lang="en-US"/>
              <a:t>Estimates by Year from supplied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DEC43F-38FA-318F-FD09-CB0EBD20DF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2022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E1B1D9-568F-F5F1-9CD6-DAE6F948C96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Non-adjusted Estimate</a:t>
            </a:r>
          </a:p>
          <a:p>
            <a:pPr lvl="1"/>
            <a:r>
              <a:rPr lang="en-US"/>
              <a:t>$4.98 million</a:t>
            </a:r>
          </a:p>
          <a:p>
            <a:r>
              <a:rPr lang="en-US"/>
              <a:t>Adjusted Estimate</a:t>
            </a:r>
          </a:p>
          <a:p>
            <a:pPr lvl="1"/>
            <a:r>
              <a:rPr lang="en-US"/>
              <a:t>$3.95 million lower</a:t>
            </a:r>
          </a:p>
          <a:p>
            <a:pPr lvl="1"/>
            <a:r>
              <a:rPr lang="en-US"/>
              <a:t>$4.61 million upper</a:t>
            </a:r>
          </a:p>
          <a:p>
            <a:pPr lvl="1"/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27109A-2B95-79A7-EE61-D79136F359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2023 YTD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320BD1-A4F4-7ED7-7943-C72537B7BA3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Non-adjusted Estimate</a:t>
            </a:r>
          </a:p>
          <a:p>
            <a:pPr lvl="1"/>
            <a:r>
              <a:rPr lang="en-US"/>
              <a:t>$3.17 million</a:t>
            </a:r>
          </a:p>
          <a:p>
            <a:r>
              <a:rPr lang="en-US"/>
              <a:t>Adjusted Estimate</a:t>
            </a:r>
          </a:p>
          <a:p>
            <a:pPr lvl="1"/>
            <a:r>
              <a:rPr lang="en-US"/>
              <a:t>$2.78 million lower</a:t>
            </a:r>
          </a:p>
          <a:p>
            <a:pPr lvl="1"/>
            <a:r>
              <a:rPr lang="en-US"/>
              <a:t>$3.23 million upper</a:t>
            </a:r>
          </a:p>
        </p:txBody>
      </p:sp>
    </p:spTree>
    <p:extLst>
      <p:ext uri="{BB962C8B-B14F-4D97-AF65-F5344CB8AC3E}">
        <p14:creationId xmlns:p14="http://schemas.microsoft.com/office/powerpoint/2010/main" val="11215215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FDAC9-2CF5-FABC-4492-9A125E54B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27198-0E08-AEFB-7EC8-82954230E1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Production Matrix using Input Output model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09ACE0-F217-1736-23A8-99A90C0BD9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200" dirty="0">
                <a:solidFill>
                  <a:schemeClr val="accent1"/>
                </a:solidFill>
              </a:rPr>
              <a:t>Input Output Model</a:t>
            </a:r>
            <a:endParaRPr lang="en-US" dirty="0">
              <a:solidFill>
                <a:schemeClr val="accent1"/>
              </a:solidFill>
            </a:endParaRPr>
          </a:p>
          <a:p>
            <a:r>
              <a:rPr lang="en-US" dirty="0"/>
              <a:t>The Input Output model is built using a Leontief Matrix, which was developed by Russian-American Economist Wassily Leontief in the 1930s to measure interdependency between industries. </a:t>
            </a:r>
          </a:p>
        </p:txBody>
      </p:sp>
      <p:pic>
        <p:nvPicPr>
          <p:cNvPr id="5" name="Picture 4" descr="A person in a suit and tie&#10;&#10;Description automatically generated">
            <a:extLst>
              <a:ext uri="{FF2B5EF4-FFF2-40B4-BE49-F238E27FC236}">
                <a16:creationId xmlns:a16="http://schemas.microsoft.com/office/drawing/2014/main" id="{EEAB8F30-5191-0866-50D6-59762163D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5365" y="784408"/>
            <a:ext cx="2695106" cy="38776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DEB1EF-2955-2455-3667-02D17986D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557" y="651474"/>
            <a:ext cx="8806721" cy="2981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5252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89AC4-040C-E2CE-3C71-507BA97C2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825" y="5576977"/>
            <a:ext cx="8596667" cy="739266"/>
          </a:xfrm>
        </p:spPr>
        <p:txBody>
          <a:bodyPr>
            <a:noAutofit/>
          </a:bodyPr>
          <a:lstStyle/>
          <a:p>
            <a:r>
              <a:rPr lang="en-US" sz="2800"/>
              <a:t>RIMS II table example w/final demand multipliers</a:t>
            </a:r>
          </a:p>
        </p:txBody>
      </p:sp>
      <p:pic>
        <p:nvPicPr>
          <p:cNvPr id="5" name="Picture Placeholder 4" descr="A screenshot of a table&#10;&#10;Description automatically generated">
            <a:extLst>
              <a:ext uri="{FF2B5EF4-FFF2-40B4-BE49-F238E27FC236}">
                <a16:creationId xmlns:a16="http://schemas.microsoft.com/office/drawing/2014/main" id="{3B863243-226F-9DB5-F261-CD3101387E1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0128" b="10128"/>
          <a:stretch/>
        </p:blipFill>
        <p:spPr>
          <a:xfrm>
            <a:off x="159750" y="92016"/>
            <a:ext cx="11673421" cy="5542244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394AFC-99D9-2BC4-0ABE-4441B245F1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9825" y="6316242"/>
            <a:ext cx="8596667" cy="242704"/>
          </a:xfrm>
        </p:spPr>
        <p:txBody>
          <a:bodyPr>
            <a:normAutofit fontScale="92500" lnSpcReduction="1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1889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A87989-17BE-57AB-F739-5AEA0BC84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US"/>
              <a:t>Assumptions made when Using I/O model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3DF9885-D780-F8C1-2AB3-369FFF7DC1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5192341"/>
              </p:ext>
            </p:extLst>
          </p:nvPr>
        </p:nvGraphicFramePr>
        <p:xfrm>
          <a:off x="1756833" y="18469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457157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44EBE2-E9B3-96AF-7ACE-5898D36B8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US"/>
              <a:t>Additional RIMS II information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E21BF5C-5984-A4ED-A53D-B094EB466B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4465626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515995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A95BB-83EC-A153-886B-2587C9503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RIMS II Integration </a:t>
            </a:r>
            <a:br>
              <a:rPr lang="en-US"/>
            </a:br>
            <a:r>
              <a:rPr lang="en-US"/>
              <a:t>Input-Output Model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7E7CE8A-6DAE-8AAA-3BC5-F6D61BCC77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2408770"/>
              </p:ext>
            </p:extLst>
          </p:nvPr>
        </p:nvGraphicFramePr>
        <p:xfrm>
          <a:off x="677863" y="2160588"/>
          <a:ext cx="8596311" cy="3337559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756228">
                  <a:extLst>
                    <a:ext uri="{9D8B030D-6E8A-4147-A177-3AD203B41FA5}">
                      <a16:colId xmlns:a16="http://schemas.microsoft.com/office/drawing/2014/main" val="2147263340"/>
                    </a:ext>
                  </a:extLst>
                </a:gridCol>
                <a:gridCol w="6840083">
                  <a:extLst>
                    <a:ext uri="{9D8B030D-6E8A-4147-A177-3AD203B41FA5}">
                      <a16:colId xmlns:a16="http://schemas.microsoft.com/office/drawing/2014/main" val="42634299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Step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Gathering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383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Step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Identify Key Secondary Study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9692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Step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Segment Events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956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Step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Calculate Travel Party Days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157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Step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Estimate Total Non-local Parties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1415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Step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Apply Cost of Living Adjustments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156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Step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Estimate Total Direct Spending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004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Step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Estimate Total Spending Multiplier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303085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Step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Calculate Estimated Range of Final Demand Impact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52225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65412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9DEDE-3584-CBB2-CA4E-E1CC89AF5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/>
              <a:t>Moving Forward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11BB65E-9E1F-5723-61FC-6E4FC4B5F1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4222659"/>
              </p:ext>
            </p:extLst>
          </p:nvPr>
        </p:nvGraphicFramePr>
        <p:xfrm>
          <a:off x="677334" y="2160589"/>
          <a:ext cx="8596668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6188801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A73794D-D7EA-4048-9998-F5D6224939BE}">
  <ds:schemaRefs>
    <ds:schemaRef ds:uri="16c05727-aa75-4e4a-9b5f-8a80a1165891"/>
    <ds:schemaRef ds:uri="230e9df3-be65-4c73-a93b-d1236ebd677e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18A0498-6641-479D-8115-8BC7C8E6B1B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FAC3131-8810-4A91-9F94-92262D4BBD0E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23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Facet</vt:lpstr>
      <vt:lpstr>Winged Deer Park Economic Impact Study</vt:lpstr>
      <vt:lpstr>Table of Contents </vt:lpstr>
      <vt:lpstr>Project Overview</vt:lpstr>
      <vt:lpstr>PowerPoint Presentation</vt:lpstr>
      <vt:lpstr>Project Goals</vt:lpstr>
      <vt:lpstr>Number of Teams per Month Attending Tournaments</vt:lpstr>
      <vt:lpstr>Total Amount Charged to Tournament Directors per Month </vt:lpstr>
      <vt:lpstr>USA Softball 18U National Championship July 2023</vt:lpstr>
      <vt:lpstr>Average Maintenance Cost per Type of Tournament</vt:lpstr>
      <vt:lpstr>Maintenance Cost Estimates </vt:lpstr>
      <vt:lpstr>Gathering Survey Data</vt:lpstr>
      <vt:lpstr>Multiplier Effect </vt:lpstr>
      <vt:lpstr>Multiplier Effect Pt2</vt:lpstr>
      <vt:lpstr>Impact Estimation w/o I/O model</vt:lpstr>
      <vt:lpstr>Impact Estimation w/o I/O model II</vt:lpstr>
      <vt:lpstr>Baseline Estimates from supplied Data</vt:lpstr>
      <vt:lpstr>Estimates by Year from supplied Data</vt:lpstr>
      <vt:lpstr>PowerPoint Presentation</vt:lpstr>
      <vt:lpstr>RIMS II table example w/final demand multipliers</vt:lpstr>
      <vt:lpstr>Assumptions made when Using I/O model</vt:lpstr>
      <vt:lpstr>Additional RIMS II information</vt:lpstr>
      <vt:lpstr>RIMS II Integration  Input-Output Model</vt:lpstr>
      <vt:lpstr>Moving Forward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/>
  <cp:revision>113</cp:revision>
  <dcterms:created xsi:type="dcterms:W3CDTF">2023-10-06T00:37:02Z</dcterms:created>
  <dcterms:modified xsi:type="dcterms:W3CDTF">2023-10-30T06:20:23Z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