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57" r:id="rId3"/>
    <p:sldId id="259" r:id="rId4"/>
    <p:sldId id="258" r:id="rId5"/>
    <p:sldId id="262" r:id="rId6"/>
    <p:sldId id="260" r:id="rId7"/>
    <p:sldId id="261"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609520-A4E5-43AC-BC95-1826039F5454}" v="420" dt="2023-09-23T02:07:18.623"/>
    <p1510:client id="{1004ABCB-4A80-D2D6-FF95-CDDAB0B85552}" v="1322" dt="2023-09-24T21:25:02.690"/>
    <p1510:client id="{464AD40B-6EB5-4803-B5C6-54B5764CD39E}" v="75" dt="2023-09-20T18:46:28.119"/>
    <p1510:client id="{EB46CD5E-7B5E-4E12-9F9C-311EF01E1A64}" v="132" dt="2023-09-25T00:07:07.0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dirty="0"/>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9/24/2023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653807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9/24/2023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909949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9/24/2023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008433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9/24/2023</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894323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9/24/2023</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863205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9/24/2023</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721189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9/24/2023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809784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dirty="0"/>
              <a:t>Click to edit Master title style</a:t>
            </a:r>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9/24/2023</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849107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dirty="0"/>
              <a:t>Click to edit Master title style</a:t>
            </a:r>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9/24/2023</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5677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9/24/2023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362125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9/24/2023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632772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dirty="0"/>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9/24/2023</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625227378"/>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JC Parks and Rec Group</a:t>
            </a:r>
            <a:br>
              <a:rPr lang="en-US" dirty="0">
                <a:cs typeface="Calibri Light"/>
              </a:rPr>
            </a:br>
            <a:r>
              <a:rPr lang="en-US" dirty="0">
                <a:cs typeface="Calibri Light"/>
              </a:rPr>
              <a:t>Exploratory Analysis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Kent Roller, Toby Adebiyi, Adade Yeboah</a:t>
            </a:r>
          </a:p>
          <a:p>
            <a:r>
              <a:rPr lang="en-US" dirty="0">
                <a:cs typeface="Calibri"/>
              </a:rPr>
              <a:t>Kevin Willis, Richard Ojo, Katelyn Williams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120" y="757325"/>
            <a:ext cx="4341880"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0292EC-512B-4079-4EF6-F37423E65C87}"/>
              </a:ext>
            </a:extLst>
          </p:cNvPr>
          <p:cNvSpPr>
            <a:spLocks noGrp="1"/>
          </p:cNvSpPr>
          <p:nvPr>
            <p:ph type="title"/>
          </p:nvPr>
        </p:nvSpPr>
        <p:spPr>
          <a:xfrm>
            <a:off x="8161390" y="1079770"/>
            <a:ext cx="3654857" cy="1527244"/>
          </a:xfrm>
        </p:spPr>
        <p:txBody>
          <a:bodyPr>
            <a:normAutofit/>
          </a:bodyPr>
          <a:lstStyle/>
          <a:p>
            <a:r>
              <a:rPr lang="en-US" sz="3200" dirty="0"/>
              <a:t>Revenue Earned </a:t>
            </a:r>
            <a:br>
              <a:rPr lang="en-US" sz="3200" dirty="0"/>
            </a:br>
            <a:r>
              <a:rPr lang="en-US" sz="3200" dirty="0"/>
              <a:t>per Month in </a:t>
            </a:r>
            <a:br>
              <a:rPr lang="en-US" sz="3200" dirty="0"/>
            </a:br>
            <a:r>
              <a:rPr lang="en-US" sz="3200" dirty="0"/>
              <a:t>2022 and 2023</a:t>
            </a:r>
          </a:p>
        </p:txBody>
      </p:sp>
      <p:sp>
        <p:nvSpPr>
          <p:cNvPr id="15" name="Rectangle 14">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Content Placeholder 3" descr="A graph with blue and orange lines&#10;&#10;Description automatically generated">
            <a:extLst>
              <a:ext uri="{FF2B5EF4-FFF2-40B4-BE49-F238E27FC236}">
                <a16:creationId xmlns:a16="http://schemas.microsoft.com/office/drawing/2014/main" id="{C7FD5CF4-1EE5-8372-A2D0-3B506C5AF0DB}"/>
              </a:ext>
            </a:extLst>
          </p:cNvPr>
          <p:cNvPicPr>
            <a:picLocks noChangeAspect="1"/>
          </p:cNvPicPr>
          <p:nvPr/>
        </p:nvPicPr>
        <p:blipFill>
          <a:blip r:embed="rId2"/>
          <a:stretch>
            <a:fillRect/>
          </a:stretch>
        </p:blipFill>
        <p:spPr>
          <a:xfrm>
            <a:off x="864515" y="1065384"/>
            <a:ext cx="6500974" cy="4713206"/>
          </a:xfrm>
          <a:prstGeom prst="rect">
            <a:avLst/>
          </a:prstGeom>
        </p:spPr>
      </p:pic>
      <p:sp>
        <p:nvSpPr>
          <p:cNvPr id="8" name="Content Placeholder 7">
            <a:extLst>
              <a:ext uri="{FF2B5EF4-FFF2-40B4-BE49-F238E27FC236}">
                <a16:creationId xmlns:a16="http://schemas.microsoft.com/office/drawing/2014/main" id="{8983E337-2CF5-53D9-8546-11492A3E99DB}"/>
              </a:ext>
            </a:extLst>
          </p:cNvPr>
          <p:cNvSpPr>
            <a:spLocks noGrp="1"/>
          </p:cNvSpPr>
          <p:nvPr>
            <p:ph idx="1"/>
          </p:nvPr>
        </p:nvSpPr>
        <p:spPr>
          <a:xfrm>
            <a:off x="8161390" y="2607014"/>
            <a:ext cx="3654857" cy="3157903"/>
          </a:xfrm>
        </p:spPr>
        <p:txBody>
          <a:bodyPr anchor="t">
            <a:normAutofit/>
          </a:bodyPr>
          <a:lstStyle/>
          <a:p>
            <a:r>
              <a:rPr lang="en-US" sz="1600" dirty="0">
                <a:solidFill>
                  <a:srgbClr val="FFFFFF"/>
                </a:solidFill>
              </a:rPr>
              <a:t>This graph shows the direct revenue brought in by the tournaments hosted at Winged Deer Park for the years 2022 and 2023. Tournaments are not held during the months of January, February, and December therefore, no revenue is earned. As seen in the graph, the amount brought in each month in comparison to each year is different. These causes include possible rainouts, the size of the tournament, and the number of fields rented.   </a:t>
            </a:r>
          </a:p>
        </p:txBody>
      </p:sp>
    </p:spTree>
    <p:extLst>
      <p:ext uri="{BB962C8B-B14F-4D97-AF65-F5344CB8AC3E}">
        <p14:creationId xmlns:p14="http://schemas.microsoft.com/office/powerpoint/2010/main" val="1170292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120" y="757325"/>
            <a:ext cx="4341880"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C18228-5147-EEB2-1053-1B9408032FEF}"/>
              </a:ext>
            </a:extLst>
          </p:cNvPr>
          <p:cNvSpPr>
            <a:spLocks noGrp="1"/>
          </p:cNvSpPr>
          <p:nvPr>
            <p:ph type="title"/>
          </p:nvPr>
        </p:nvSpPr>
        <p:spPr>
          <a:xfrm>
            <a:off x="8161390" y="1079770"/>
            <a:ext cx="3654857" cy="1527244"/>
          </a:xfrm>
        </p:spPr>
        <p:txBody>
          <a:bodyPr>
            <a:normAutofit/>
          </a:bodyPr>
          <a:lstStyle/>
          <a:p>
            <a:r>
              <a:rPr lang="en-US" sz="3200" dirty="0"/>
              <a:t>Amount Charged for Tournaments per Month in 2022 </a:t>
            </a:r>
          </a:p>
        </p:txBody>
      </p:sp>
      <p:sp>
        <p:nvSpPr>
          <p:cNvPr id="15" name="Rectangle 14">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Content Placeholder 3" descr="A graph of blue and white bars&#10;&#10;Description automatically generated">
            <a:extLst>
              <a:ext uri="{FF2B5EF4-FFF2-40B4-BE49-F238E27FC236}">
                <a16:creationId xmlns:a16="http://schemas.microsoft.com/office/drawing/2014/main" id="{D7FCD77C-0AF0-20C3-DED7-72BFFCD7E15F}"/>
              </a:ext>
            </a:extLst>
          </p:cNvPr>
          <p:cNvPicPr>
            <a:picLocks noChangeAspect="1"/>
          </p:cNvPicPr>
          <p:nvPr/>
        </p:nvPicPr>
        <p:blipFill>
          <a:blip r:embed="rId2"/>
          <a:stretch>
            <a:fillRect/>
          </a:stretch>
        </p:blipFill>
        <p:spPr>
          <a:xfrm>
            <a:off x="864515" y="1463570"/>
            <a:ext cx="6500974" cy="3916835"/>
          </a:xfrm>
          <a:prstGeom prst="rect">
            <a:avLst/>
          </a:prstGeom>
        </p:spPr>
      </p:pic>
      <p:sp>
        <p:nvSpPr>
          <p:cNvPr id="8" name="Content Placeholder 7">
            <a:extLst>
              <a:ext uri="{FF2B5EF4-FFF2-40B4-BE49-F238E27FC236}">
                <a16:creationId xmlns:a16="http://schemas.microsoft.com/office/drawing/2014/main" id="{1840D796-6A19-C39B-029A-F1CDE8C1F280}"/>
              </a:ext>
            </a:extLst>
          </p:cNvPr>
          <p:cNvSpPr>
            <a:spLocks noGrp="1"/>
          </p:cNvSpPr>
          <p:nvPr>
            <p:ph idx="1"/>
          </p:nvPr>
        </p:nvSpPr>
        <p:spPr>
          <a:xfrm>
            <a:off x="8161390" y="2607014"/>
            <a:ext cx="3654857" cy="3157903"/>
          </a:xfrm>
        </p:spPr>
        <p:txBody>
          <a:bodyPr anchor="t">
            <a:normAutofit/>
          </a:bodyPr>
          <a:lstStyle/>
          <a:p>
            <a:r>
              <a:rPr lang="en-US" sz="1600" dirty="0">
                <a:solidFill>
                  <a:srgbClr val="FFFFFF"/>
                </a:solidFill>
              </a:rPr>
              <a:t>This graph represents the total amount charged per month for tournaments held in 2022. Generally, there is a tournament held each weekend of a given month. The tournament director is charged a specified amount. Pricing charged per tournament is not standard among the given data, so it is inferred that many factors affect the mount charged. Tournaments may also be rained out due to weather, thus a lack of revue that was supposed to be earned for a scheduled tournament.   </a:t>
            </a:r>
          </a:p>
        </p:txBody>
      </p:sp>
    </p:spTree>
    <p:extLst>
      <p:ext uri="{BB962C8B-B14F-4D97-AF65-F5344CB8AC3E}">
        <p14:creationId xmlns:p14="http://schemas.microsoft.com/office/powerpoint/2010/main" val="413254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120" y="757325"/>
            <a:ext cx="4341880"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8251CC-E904-87C2-ADF7-DEF69840447C}"/>
              </a:ext>
            </a:extLst>
          </p:cNvPr>
          <p:cNvSpPr>
            <a:spLocks noGrp="1"/>
          </p:cNvSpPr>
          <p:nvPr>
            <p:ph type="title"/>
          </p:nvPr>
        </p:nvSpPr>
        <p:spPr>
          <a:xfrm>
            <a:off x="8161390" y="1079770"/>
            <a:ext cx="3654857" cy="1527244"/>
          </a:xfrm>
        </p:spPr>
        <p:txBody>
          <a:bodyPr>
            <a:normAutofit/>
          </a:bodyPr>
          <a:lstStyle/>
          <a:p>
            <a:r>
              <a:rPr lang="en-US" sz="3200" dirty="0"/>
              <a:t>Amount Charged for Tournaments per Month in 2023</a:t>
            </a:r>
          </a:p>
        </p:txBody>
      </p:sp>
      <p:sp>
        <p:nvSpPr>
          <p:cNvPr id="15" name="Rectangle 14">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Content Placeholder 3" descr="A graph of blue bars with white text&#10;&#10;Description automatically generated">
            <a:extLst>
              <a:ext uri="{FF2B5EF4-FFF2-40B4-BE49-F238E27FC236}">
                <a16:creationId xmlns:a16="http://schemas.microsoft.com/office/drawing/2014/main" id="{08C001F3-6325-9930-609A-AFCA35690C17}"/>
              </a:ext>
            </a:extLst>
          </p:cNvPr>
          <p:cNvPicPr>
            <a:picLocks noChangeAspect="1"/>
          </p:cNvPicPr>
          <p:nvPr/>
        </p:nvPicPr>
        <p:blipFill>
          <a:blip r:embed="rId2"/>
          <a:stretch>
            <a:fillRect/>
          </a:stretch>
        </p:blipFill>
        <p:spPr>
          <a:xfrm>
            <a:off x="864515" y="1739861"/>
            <a:ext cx="6500974" cy="3364253"/>
          </a:xfrm>
          <a:prstGeom prst="rect">
            <a:avLst/>
          </a:prstGeom>
        </p:spPr>
      </p:pic>
      <p:sp>
        <p:nvSpPr>
          <p:cNvPr id="8" name="Content Placeholder 7">
            <a:extLst>
              <a:ext uri="{FF2B5EF4-FFF2-40B4-BE49-F238E27FC236}">
                <a16:creationId xmlns:a16="http://schemas.microsoft.com/office/drawing/2014/main" id="{E3DE1F93-5156-4153-3FAE-37C75832E0F1}"/>
              </a:ext>
            </a:extLst>
          </p:cNvPr>
          <p:cNvSpPr>
            <a:spLocks noGrp="1"/>
          </p:cNvSpPr>
          <p:nvPr>
            <p:ph idx="1"/>
          </p:nvPr>
        </p:nvSpPr>
        <p:spPr>
          <a:xfrm>
            <a:off x="8161390" y="2607014"/>
            <a:ext cx="3654857" cy="3157903"/>
          </a:xfrm>
        </p:spPr>
        <p:txBody>
          <a:bodyPr anchor="t">
            <a:normAutofit/>
          </a:bodyPr>
          <a:lstStyle/>
          <a:p>
            <a:r>
              <a:rPr lang="en-US" sz="1600" dirty="0">
                <a:solidFill>
                  <a:srgbClr val="FFFFFF"/>
                </a:solidFill>
                <a:ea typeface="+mn-lt"/>
                <a:cs typeface="+mn-lt"/>
              </a:rPr>
              <a:t>This graph represents the total amount charged per month for tournaments held in 2023. Generally, there is a tournament held each weekend of a given month. The tournament director is charged a specified amount. Pricing charged per tournament is not standard among the given data, so it is inferred that many factors affect the amount charged. If a national tournament is held at Winged Deer Park, the fee charged is unknown </a:t>
            </a:r>
            <a:r>
              <a:rPr lang="en-US" sz="1600">
                <a:solidFill>
                  <a:srgbClr val="FFFFFF"/>
                </a:solidFill>
                <a:ea typeface="+mn-lt"/>
                <a:cs typeface="+mn-lt"/>
              </a:rPr>
              <a:t>and not included in this graph.  </a:t>
            </a:r>
          </a:p>
        </p:txBody>
      </p:sp>
    </p:spTree>
    <p:extLst>
      <p:ext uri="{BB962C8B-B14F-4D97-AF65-F5344CB8AC3E}">
        <p14:creationId xmlns:p14="http://schemas.microsoft.com/office/powerpoint/2010/main" val="6402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120" y="757325"/>
            <a:ext cx="4341880"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634806-4ACE-0BC7-AB10-9ADC5E765A35}"/>
              </a:ext>
            </a:extLst>
          </p:cNvPr>
          <p:cNvSpPr>
            <a:spLocks noGrp="1"/>
          </p:cNvSpPr>
          <p:nvPr>
            <p:ph type="title"/>
          </p:nvPr>
        </p:nvSpPr>
        <p:spPr>
          <a:xfrm>
            <a:off x="8161390" y="1079770"/>
            <a:ext cx="3654857" cy="1527244"/>
          </a:xfrm>
        </p:spPr>
        <p:txBody>
          <a:bodyPr>
            <a:normAutofit/>
          </a:bodyPr>
          <a:lstStyle/>
          <a:p>
            <a:r>
              <a:rPr lang="en-US" sz="3200" dirty="0"/>
              <a:t>Average Cost per Type of Tournament</a:t>
            </a:r>
          </a:p>
        </p:txBody>
      </p:sp>
      <p:sp>
        <p:nvSpPr>
          <p:cNvPr id="26" name="Rectangle 25">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Content Placeholder 4">
            <a:extLst>
              <a:ext uri="{FF2B5EF4-FFF2-40B4-BE49-F238E27FC236}">
                <a16:creationId xmlns:a16="http://schemas.microsoft.com/office/drawing/2014/main" id="{A7BB5616-7C47-C75B-0E0A-B87B8E052C3C}"/>
              </a:ext>
            </a:extLst>
          </p:cNvPr>
          <p:cNvPicPr>
            <a:picLocks noChangeAspect="1"/>
          </p:cNvPicPr>
          <p:nvPr/>
        </p:nvPicPr>
        <p:blipFill>
          <a:blip r:embed="rId2"/>
          <a:stretch>
            <a:fillRect/>
          </a:stretch>
        </p:blipFill>
        <p:spPr>
          <a:xfrm>
            <a:off x="864515" y="1463567"/>
            <a:ext cx="6500974" cy="3916840"/>
          </a:xfrm>
          <a:prstGeom prst="rect">
            <a:avLst/>
          </a:prstGeom>
        </p:spPr>
      </p:pic>
      <p:sp>
        <p:nvSpPr>
          <p:cNvPr id="19" name="Content Placeholder 18">
            <a:extLst>
              <a:ext uri="{FF2B5EF4-FFF2-40B4-BE49-F238E27FC236}">
                <a16:creationId xmlns:a16="http://schemas.microsoft.com/office/drawing/2014/main" id="{50AF36DF-E57A-15B4-8A79-142F8B7429B0}"/>
              </a:ext>
            </a:extLst>
          </p:cNvPr>
          <p:cNvSpPr>
            <a:spLocks noGrp="1"/>
          </p:cNvSpPr>
          <p:nvPr>
            <p:ph idx="1"/>
          </p:nvPr>
        </p:nvSpPr>
        <p:spPr>
          <a:xfrm>
            <a:off x="8161390" y="2607014"/>
            <a:ext cx="3654857" cy="3157903"/>
          </a:xfrm>
        </p:spPr>
        <p:txBody>
          <a:bodyPr anchor="t">
            <a:normAutofit lnSpcReduction="10000"/>
          </a:bodyPr>
          <a:lstStyle/>
          <a:p>
            <a:r>
              <a:rPr lang="en-US" sz="1600" dirty="0">
                <a:solidFill>
                  <a:srgbClr val="FFFFFF"/>
                </a:solidFill>
              </a:rPr>
              <a:t>This graph represents the average cost for a tournament to be held at Winged Deer Park. The two categories that impact the total cost of a tournament are the labor costs and the material costs. Further, the type of tournament held also impacts the average cost. The types of tournaments include 1-day, 2-day, or national tournaments. The amount of labor and materials needed to prepare the fields is based </a:t>
            </a:r>
            <a:r>
              <a:rPr lang="en-US" sz="1600" dirty="0">
                <a:solidFill>
                  <a:srgbClr val="FFFFFF"/>
                </a:solidFill>
                <a:ea typeface="+mn-lt"/>
                <a:cs typeface="+mn-lt"/>
              </a:rPr>
              <a:t>on the number of days of the tournament. The total average costs per tournament are $1,545, $3,475, and $6,057. </a:t>
            </a:r>
            <a:endParaRPr lang="en-US" sz="1600" dirty="0">
              <a:solidFill>
                <a:srgbClr val="FFFFFF"/>
              </a:solidFill>
            </a:endParaRPr>
          </a:p>
        </p:txBody>
      </p:sp>
    </p:spTree>
    <p:extLst>
      <p:ext uri="{BB962C8B-B14F-4D97-AF65-F5344CB8AC3E}">
        <p14:creationId xmlns:p14="http://schemas.microsoft.com/office/powerpoint/2010/main" val="1316697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120" y="757325"/>
            <a:ext cx="4341880"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C9A17E-8AA3-7947-4250-5D3448FEE535}"/>
              </a:ext>
            </a:extLst>
          </p:cNvPr>
          <p:cNvSpPr>
            <a:spLocks noGrp="1"/>
          </p:cNvSpPr>
          <p:nvPr>
            <p:ph type="title"/>
          </p:nvPr>
        </p:nvSpPr>
        <p:spPr>
          <a:xfrm>
            <a:off x="8161390" y="1079770"/>
            <a:ext cx="3654857" cy="1527244"/>
          </a:xfrm>
        </p:spPr>
        <p:txBody>
          <a:bodyPr>
            <a:normAutofit fontScale="90000"/>
          </a:bodyPr>
          <a:lstStyle/>
          <a:p>
            <a:r>
              <a:rPr lang="en-US" sz="3200" dirty="0"/>
              <a:t>Total Number of Teams in </a:t>
            </a:r>
            <a:r>
              <a:rPr lang="en-US" sz="3200"/>
              <a:t>Tournaments</a:t>
            </a:r>
            <a:r>
              <a:rPr lang="en-US" sz="3200" dirty="0"/>
              <a:t> per Month in 2022</a:t>
            </a:r>
          </a:p>
        </p:txBody>
      </p:sp>
      <p:sp>
        <p:nvSpPr>
          <p:cNvPr id="15" name="Rectangle 14">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Content Placeholder 3" descr="A graph of numbers and a number of teams&#10;&#10;Description automatically generated">
            <a:extLst>
              <a:ext uri="{FF2B5EF4-FFF2-40B4-BE49-F238E27FC236}">
                <a16:creationId xmlns:a16="http://schemas.microsoft.com/office/drawing/2014/main" id="{A744248D-8A32-DCF6-FEB4-42C3B54E8F79}"/>
              </a:ext>
            </a:extLst>
          </p:cNvPr>
          <p:cNvPicPr>
            <a:picLocks noChangeAspect="1"/>
          </p:cNvPicPr>
          <p:nvPr/>
        </p:nvPicPr>
        <p:blipFill>
          <a:blip r:embed="rId2"/>
          <a:stretch>
            <a:fillRect/>
          </a:stretch>
        </p:blipFill>
        <p:spPr>
          <a:xfrm>
            <a:off x="864515" y="1236034"/>
            <a:ext cx="6500974" cy="4371907"/>
          </a:xfrm>
          <a:prstGeom prst="rect">
            <a:avLst/>
          </a:prstGeom>
        </p:spPr>
      </p:pic>
      <p:sp>
        <p:nvSpPr>
          <p:cNvPr id="8" name="Content Placeholder 7">
            <a:extLst>
              <a:ext uri="{FF2B5EF4-FFF2-40B4-BE49-F238E27FC236}">
                <a16:creationId xmlns:a16="http://schemas.microsoft.com/office/drawing/2014/main" id="{3B403E94-1E25-8032-7E43-193F3FAA56C3}"/>
              </a:ext>
            </a:extLst>
          </p:cNvPr>
          <p:cNvSpPr>
            <a:spLocks noGrp="1"/>
          </p:cNvSpPr>
          <p:nvPr>
            <p:ph idx="1"/>
          </p:nvPr>
        </p:nvSpPr>
        <p:spPr>
          <a:xfrm>
            <a:off x="8161390" y="2607014"/>
            <a:ext cx="3654857" cy="3157903"/>
          </a:xfrm>
        </p:spPr>
        <p:txBody>
          <a:bodyPr anchor="t">
            <a:normAutofit/>
          </a:bodyPr>
          <a:lstStyle/>
          <a:p>
            <a:r>
              <a:rPr lang="en-US" sz="1600" dirty="0">
                <a:solidFill>
                  <a:srgbClr val="FFFFFF"/>
                </a:solidFill>
              </a:rPr>
              <a:t>This graph represents the total number of teams in attendance at a tournament per month in the year 2022. For the year 2022, the total number of teams that attended a tournament at Winged Deer Park is 560. This data will be valuable in helping us determine an estimate of the amount of people attending the tournaments in relation to the number of teams participating. </a:t>
            </a:r>
          </a:p>
        </p:txBody>
      </p:sp>
    </p:spTree>
    <p:extLst>
      <p:ext uri="{BB962C8B-B14F-4D97-AF65-F5344CB8AC3E}">
        <p14:creationId xmlns:p14="http://schemas.microsoft.com/office/powerpoint/2010/main" val="1226787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120" y="757325"/>
            <a:ext cx="4341880"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F219AF-0AF6-2D3D-EE91-3E53CF58ED7F}"/>
              </a:ext>
            </a:extLst>
          </p:cNvPr>
          <p:cNvSpPr>
            <a:spLocks noGrp="1"/>
          </p:cNvSpPr>
          <p:nvPr>
            <p:ph type="title"/>
          </p:nvPr>
        </p:nvSpPr>
        <p:spPr>
          <a:xfrm>
            <a:off x="8161390" y="1079770"/>
            <a:ext cx="3654857" cy="1527244"/>
          </a:xfrm>
        </p:spPr>
        <p:txBody>
          <a:bodyPr>
            <a:normAutofit/>
          </a:bodyPr>
          <a:lstStyle/>
          <a:p>
            <a:r>
              <a:rPr lang="en-US" sz="2900" dirty="0">
                <a:ea typeface="+mj-lt"/>
                <a:cs typeface="+mj-lt"/>
              </a:rPr>
              <a:t>Total Number of Teams in Tournaments per Month in 2023</a:t>
            </a:r>
            <a:endParaRPr lang="en-US" dirty="0"/>
          </a:p>
        </p:txBody>
      </p:sp>
      <p:sp>
        <p:nvSpPr>
          <p:cNvPr id="15" name="Rectangle 14">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Content Placeholder 3" descr="A graph with numbers and letters&#10;&#10;Description automatically generated">
            <a:extLst>
              <a:ext uri="{FF2B5EF4-FFF2-40B4-BE49-F238E27FC236}">
                <a16:creationId xmlns:a16="http://schemas.microsoft.com/office/drawing/2014/main" id="{E1FBDB50-56FB-4EDF-8D40-9259FB26F25B}"/>
              </a:ext>
            </a:extLst>
          </p:cNvPr>
          <p:cNvPicPr>
            <a:picLocks noChangeAspect="1"/>
          </p:cNvPicPr>
          <p:nvPr/>
        </p:nvPicPr>
        <p:blipFill>
          <a:blip r:embed="rId2"/>
          <a:stretch>
            <a:fillRect/>
          </a:stretch>
        </p:blipFill>
        <p:spPr>
          <a:xfrm>
            <a:off x="864515" y="1463567"/>
            <a:ext cx="6500974" cy="3916840"/>
          </a:xfrm>
          <a:prstGeom prst="rect">
            <a:avLst/>
          </a:prstGeom>
        </p:spPr>
      </p:pic>
      <p:sp>
        <p:nvSpPr>
          <p:cNvPr id="8" name="Content Placeholder 7">
            <a:extLst>
              <a:ext uri="{FF2B5EF4-FFF2-40B4-BE49-F238E27FC236}">
                <a16:creationId xmlns:a16="http://schemas.microsoft.com/office/drawing/2014/main" id="{30A2D8D8-FE83-06C8-E5E9-03A6E946E0AC}"/>
              </a:ext>
            </a:extLst>
          </p:cNvPr>
          <p:cNvSpPr>
            <a:spLocks noGrp="1"/>
          </p:cNvSpPr>
          <p:nvPr>
            <p:ph idx="1"/>
          </p:nvPr>
        </p:nvSpPr>
        <p:spPr>
          <a:xfrm>
            <a:off x="8161390" y="2607014"/>
            <a:ext cx="3654857" cy="3157903"/>
          </a:xfrm>
        </p:spPr>
        <p:txBody>
          <a:bodyPr anchor="t">
            <a:normAutofit lnSpcReduction="10000"/>
          </a:bodyPr>
          <a:lstStyle/>
          <a:p>
            <a:r>
              <a:rPr lang="en-US" sz="1600" dirty="0">
                <a:solidFill>
                  <a:srgbClr val="FFFFFF"/>
                </a:solidFill>
                <a:ea typeface="+mn-lt"/>
                <a:cs typeface="+mn-lt"/>
              </a:rPr>
              <a:t>This graph represents the total number of teams in attendance at a tournament per month in the year 2023. The data is based on the months of January to September, so information on the remaining months of 2023 are currently unknown. For the year 2023, the total number of teams that attended a tournament at Winged Deer Park so far is 523. This data will be valuable in helping us determine an estimate of the amount of people attending the tournaments in relation to the number of teams participating. </a:t>
            </a:r>
            <a:endParaRPr lang="en-US" sz="1600" dirty="0">
              <a:solidFill>
                <a:srgbClr val="FFFFFF"/>
              </a:solidFill>
            </a:endParaRPr>
          </a:p>
        </p:txBody>
      </p:sp>
    </p:spTree>
    <p:extLst>
      <p:ext uri="{BB962C8B-B14F-4D97-AF65-F5344CB8AC3E}">
        <p14:creationId xmlns:p14="http://schemas.microsoft.com/office/powerpoint/2010/main" val="537584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9" name="Rectangle 18">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31DE513-3723-5DE4-B4BD-8ABBC674C04C}"/>
              </a:ext>
            </a:extLst>
          </p:cNvPr>
          <p:cNvSpPr>
            <a:spLocks noGrp="1"/>
          </p:cNvSpPr>
          <p:nvPr>
            <p:ph type="title"/>
          </p:nvPr>
        </p:nvSpPr>
        <p:spPr>
          <a:xfrm>
            <a:off x="1069849" y="1298448"/>
            <a:ext cx="3258688" cy="3255264"/>
          </a:xfrm>
        </p:spPr>
        <p:txBody>
          <a:bodyPr vert="horz" lIns="91440" tIns="45720" rIns="91440" bIns="45720" rtlCol="0" anchor="b">
            <a:normAutofit/>
          </a:bodyPr>
          <a:lstStyle/>
          <a:p>
            <a:r>
              <a:rPr lang="en-US" sz="5000" spc="-100"/>
              <a:t>Impact </a:t>
            </a:r>
            <a:br>
              <a:rPr lang="en-US" sz="5000" spc="-100"/>
            </a:br>
            <a:r>
              <a:rPr lang="en-US" sz="5000" spc="-100"/>
              <a:t>Estimation </a:t>
            </a:r>
          </a:p>
        </p:txBody>
      </p:sp>
      <p:pic>
        <p:nvPicPr>
          <p:cNvPr id="4" name="Content Placeholder 3" descr="A white text on a white background&#10;&#10;Description automatically generated">
            <a:extLst>
              <a:ext uri="{FF2B5EF4-FFF2-40B4-BE49-F238E27FC236}">
                <a16:creationId xmlns:a16="http://schemas.microsoft.com/office/drawing/2014/main" id="{BFB0E778-5749-A3EA-6036-7064DDF86640}"/>
              </a:ext>
            </a:extLst>
          </p:cNvPr>
          <p:cNvPicPr>
            <a:picLocks noGrp="1" noChangeAspect="1"/>
          </p:cNvPicPr>
          <p:nvPr>
            <p:ph idx="1"/>
          </p:nvPr>
        </p:nvPicPr>
        <p:blipFill rotWithShape="1">
          <a:blip r:embed="rId2"/>
          <a:srcRect l="591" t="2098" r="-787" b="-2098"/>
          <a:stretch/>
        </p:blipFill>
        <p:spPr>
          <a:xfrm>
            <a:off x="5120640" y="1637632"/>
            <a:ext cx="6367271" cy="3574583"/>
          </a:xfrm>
          <a:prstGeom prst="rect">
            <a:avLst/>
          </a:prstGeom>
        </p:spPr>
      </p:pic>
      <p:sp>
        <p:nvSpPr>
          <p:cNvPr id="17" name="Rectangle 16">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76393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213C8FE-4DB9-1F71-90F9-AFCF8BB21F87}"/>
              </a:ext>
            </a:extLst>
          </p:cNvPr>
          <p:cNvSpPr>
            <a:spLocks noGrp="1"/>
          </p:cNvSpPr>
          <p:nvPr>
            <p:ph type="title"/>
          </p:nvPr>
        </p:nvSpPr>
        <p:spPr>
          <a:xfrm>
            <a:off x="1069849" y="1298448"/>
            <a:ext cx="3258688" cy="3255264"/>
          </a:xfrm>
        </p:spPr>
        <p:txBody>
          <a:bodyPr vert="horz" lIns="91440" tIns="45720" rIns="91440" bIns="45720" rtlCol="0" anchor="b">
            <a:normAutofit/>
          </a:bodyPr>
          <a:lstStyle/>
          <a:p>
            <a:r>
              <a:rPr lang="en-US" sz="5500" spc="-100"/>
              <a:t>Impact</a:t>
            </a:r>
            <a:br>
              <a:rPr lang="en-US" sz="5500" spc="-100"/>
            </a:br>
            <a:r>
              <a:rPr lang="en-US" sz="5500" spc="-100"/>
              <a:t>Estimation II</a:t>
            </a:r>
          </a:p>
        </p:txBody>
      </p:sp>
      <p:pic>
        <p:nvPicPr>
          <p:cNvPr id="4" name="Content Placeholder 3" descr="A white text with black text&#10;&#10;Description automatically generated">
            <a:extLst>
              <a:ext uri="{FF2B5EF4-FFF2-40B4-BE49-F238E27FC236}">
                <a16:creationId xmlns:a16="http://schemas.microsoft.com/office/drawing/2014/main" id="{BEFA042B-9F6B-F7C8-9FE4-EDFE9756669C}"/>
              </a:ext>
            </a:extLst>
          </p:cNvPr>
          <p:cNvPicPr>
            <a:picLocks noGrp="1" noChangeAspect="1"/>
          </p:cNvPicPr>
          <p:nvPr>
            <p:ph idx="1"/>
          </p:nvPr>
        </p:nvPicPr>
        <p:blipFill>
          <a:blip r:embed="rId2"/>
          <a:stretch>
            <a:fillRect/>
          </a:stretch>
        </p:blipFill>
        <p:spPr>
          <a:xfrm>
            <a:off x="5120640" y="1634129"/>
            <a:ext cx="6367271" cy="3581589"/>
          </a:xfrm>
          <a:prstGeom prst="rect">
            <a:avLst/>
          </a:prstGeom>
        </p:spPr>
      </p:pic>
      <p:sp>
        <p:nvSpPr>
          <p:cNvPr id="17" name="Rectangle 16">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8203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D856FDC8-2542-622B-E7E4-D8673DB32699}"/>
              </a:ext>
            </a:extLst>
          </p:cNvPr>
          <p:cNvSpPr>
            <a:spLocks noGrp="1"/>
          </p:cNvSpPr>
          <p:nvPr>
            <p:ph type="title"/>
          </p:nvPr>
        </p:nvSpPr>
        <p:spPr>
          <a:xfrm>
            <a:off x="1069849" y="1298448"/>
            <a:ext cx="3258688" cy="3255264"/>
          </a:xfrm>
        </p:spPr>
        <p:txBody>
          <a:bodyPr vert="horz" lIns="91440" tIns="45720" rIns="91440" bIns="45720" rtlCol="0" anchor="b">
            <a:normAutofit/>
          </a:bodyPr>
          <a:lstStyle/>
          <a:p>
            <a:r>
              <a:rPr lang="en-US" sz="5500" spc="-100"/>
              <a:t>Impact </a:t>
            </a:r>
            <a:br>
              <a:rPr lang="en-US" sz="5500" spc="-100"/>
            </a:br>
            <a:r>
              <a:rPr lang="en-US" sz="5500" spc="-100"/>
              <a:t>Estimation III</a:t>
            </a:r>
          </a:p>
        </p:txBody>
      </p:sp>
      <p:pic>
        <p:nvPicPr>
          <p:cNvPr id="4" name="Content Placeholder 3" descr="A white text with black text&#10;&#10;Description automatically generated">
            <a:extLst>
              <a:ext uri="{FF2B5EF4-FFF2-40B4-BE49-F238E27FC236}">
                <a16:creationId xmlns:a16="http://schemas.microsoft.com/office/drawing/2014/main" id="{94E322C5-2149-A2BC-F697-609F6B03DFFA}"/>
              </a:ext>
            </a:extLst>
          </p:cNvPr>
          <p:cNvPicPr>
            <a:picLocks noGrp="1" noChangeAspect="1"/>
          </p:cNvPicPr>
          <p:nvPr>
            <p:ph idx="1"/>
          </p:nvPr>
        </p:nvPicPr>
        <p:blipFill>
          <a:blip r:embed="rId2"/>
          <a:stretch>
            <a:fillRect/>
          </a:stretch>
        </p:blipFill>
        <p:spPr>
          <a:xfrm>
            <a:off x="5120640" y="1634129"/>
            <a:ext cx="6367271" cy="3581589"/>
          </a:xfrm>
          <a:prstGeom prst="rect">
            <a:avLst/>
          </a:prstGeom>
        </p:spPr>
      </p:pic>
      <p:sp>
        <p:nvSpPr>
          <p:cNvPr id="17" name="Rectangle 16">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90902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F957E-939A-9F93-8199-113CD7F08541}"/>
              </a:ext>
            </a:extLst>
          </p:cNvPr>
          <p:cNvSpPr>
            <a:spLocks noGrp="1"/>
          </p:cNvSpPr>
          <p:nvPr>
            <p:ph type="title"/>
          </p:nvPr>
        </p:nvSpPr>
        <p:spPr/>
        <p:txBody>
          <a:bodyPr/>
          <a:lstStyle/>
          <a:p>
            <a:r>
              <a:rPr lang="en-US" dirty="0"/>
              <a:t>Baseline </a:t>
            </a:r>
            <a:br>
              <a:rPr lang="en-US" dirty="0"/>
            </a:br>
            <a:r>
              <a:rPr lang="en-US" dirty="0"/>
              <a:t>Estimates </a:t>
            </a:r>
          </a:p>
        </p:txBody>
      </p:sp>
      <p:pic>
        <p:nvPicPr>
          <p:cNvPr id="4" name="Content Placeholder 3" descr="A white background with black text and numbers&#10;&#10;Description automatically generated">
            <a:extLst>
              <a:ext uri="{FF2B5EF4-FFF2-40B4-BE49-F238E27FC236}">
                <a16:creationId xmlns:a16="http://schemas.microsoft.com/office/drawing/2014/main" id="{1A223420-CD78-AFA0-66E3-91B568E97F6C}"/>
              </a:ext>
            </a:extLst>
          </p:cNvPr>
          <p:cNvPicPr>
            <a:picLocks noGrp="1" noChangeAspect="1"/>
          </p:cNvPicPr>
          <p:nvPr>
            <p:ph idx="1"/>
          </p:nvPr>
        </p:nvPicPr>
        <p:blipFill>
          <a:blip r:embed="rId2"/>
          <a:stretch>
            <a:fillRect/>
          </a:stretch>
        </p:blipFill>
        <p:spPr>
          <a:xfrm>
            <a:off x="3869268" y="1367028"/>
            <a:ext cx="7315200" cy="4114800"/>
          </a:xfrm>
        </p:spPr>
      </p:pic>
    </p:spTree>
    <p:extLst>
      <p:ext uri="{BB962C8B-B14F-4D97-AF65-F5344CB8AC3E}">
        <p14:creationId xmlns:p14="http://schemas.microsoft.com/office/powerpoint/2010/main" val="1613310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F9ADA-EB14-EF47-5E04-C3A16D377EE6}"/>
              </a:ext>
            </a:extLst>
          </p:cNvPr>
          <p:cNvSpPr>
            <a:spLocks noGrp="1"/>
          </p:cNvSpPr>
          <p:nvPr>
            <p:ph type="title"/>
          </p:nvPr>
        </p:nvSpPr>
        <p:spPr/>
        <p:txBody>
          <a:bodyPr/>
          <a:lstStyle/>
          <a:p>
            <a:r>
              <a:rPr lang="en-US" dirty="0"/>
              <a:t>Estimates By </a:t>
            </a:r>
            <a:br>
              <a:rPr lang="en-US" dirty="0"/>
            </a:br>
            <a:r>
              <a:rPr lang="en-US" dirty="0"/>
              <a:t>Year</a:t>
            </a:r>
          </a:p>
        </p:txBody>
      </p:sp>
      <p:sp>
        <p:nvSpPr>
          <p:cNvPr id="3" name="Text Placeholder 2">
            <a:extLst>
              <a:ext uri="{FF2B5EF4-FFF2-40B4-BE49-F238E27FC236}">
                <a16:creationId xmlns:a16="http://schemas.microsoft.com/office/drawing/2014/main" id="{CFFB254C-84B4-CF78-2239-A8638AECF50A}"/>
              </a:ext>
            </a:extLst>
          </p:cNvPr>
          <p:cNvSpPr>
            <a:spLocks noGrp="1"/>
          </p:cNvSpPr>
          <p:nvPr>
            <p:ph type="body" idx="1"/>
          </p:nvPr>
        </p:nvSpPr>
        <p:spPr/>
        <p:txBody>
          <a:bodyPr>
            <a:normAutofit/>
          </a:bodyPr>
          <a:lstStyle/>
          <a:p>
            <a:r>
              <a:rPr lang="en-US" sz="3600" dirty="0"/>
              <a:t>2022 Data </a:t>
            </a:r>
          </a:p>
        </p:txBody>
      </p:sp>
      <p:sp>
        <p:nvSpPr>
          <p:cNvPr id="4" name="Content Placeholder 3">
            <a:extLst>
              <a:ext uri="{FF2B5EF4-FFF2-40B4-BE49-F238E27FC236}">
                <a16:creationId xmlns:a16="http://schemas.microsoft.com/office/drawing/2014/main" id="{FAD9F064-7A24-B821-4A54-D7A82D0F34FE}"/>
              </a:ext>
            </a:extLst>
          </p:cNvPr>
          <p:cNvSpPr>
            <a:spLocks noGrp="1"/>
          </p:cNvSpPr>
          <p:nvPr>
            <p:ph sz="half" idx="2"/>
          </p:nvPr>
        </p:nvSpPr>
        <p:spPr/>
        <p:txBody>
          <a:bodyPr/>
          <a:lstStyle/>
          <a:p>
            <a:r>
              <a:rPr lang="en-US" sz="2800" dirty="0">
                <a:latin typeface="Arial"/>
                <a:cs typeface="Arial"/>
              </a:rPr>
              <a:t>•</a:t>
            </a:r>
            <a:r>
              <a:rPr lang="en-US" sz="2800" dirty="0">
                <a:solidFill>
                  <a:srgbClr val="000000"/>
                </a:solidFill>
                <a:latin typeface="Calibri"/>
                <a:ea typeface="Calibri"/>
                <a:cs typeface="Calibri"/>
              </a:rPr>
              <a:t>2022</a:t>
            </a:r>
            <a:endParaRPr lang="en-US" dirty="0"/>
          </a:p>
          <a:p>
            <a:r>
              <a:rPr lang="en-US" sz="2800">
                <a:latin typeface="Arial"/>
                <a:cs typeface="Arial"/>
              </a:rPr>
              <a:t>•</a:t>
            </a:r>
            <a:r>
              <a:rPr lang="en-US" sz="2800">
                <a:solidFill>
                  <a:srgbClr val="000000"/>
                </a:solidFill>
                <a:latin typeface="Calibri"/>
                <a:ea typeface="Calibri"/>
                <a:cs typeface="Calibri"/>
              </a:rPr>
              <a:t>$4.98 million non-adjusted </a:t>
            </a:r>
            <a:endParaRPr lang="en-US"/>
          </a:p>
          <a:p>
            <a:r>
              <a:rPr lang="en-US" sz="2800">
                <a:latin typeface="Arial"/>
                <a:cs typeface="Arial"/>
              </a:rPr>
              <a:t>•</a:t>
            </a:r>
            <a:r>
              <a:rPr lang="en-US" sz="2800">
                <a:solidFill>
                  <a:srgbClr val="000000"/>
                </a:solidFill>
                <a:latin typeface="Calibri"/>
                <a:ea typeface="Calibri"/>
                <a:cs typeface="Calibri"/>
              </a:rPr>
              <a:t>Adjusted Estimate: </a:t>
            </a:r>
            <a:endParaRPr lang="en-US"/>
          </a:p>
          <a:p>
            <a:r>
              <a:rPr lang="en-US" sz="2800" dirty="0">
                <a:latin typeface="Arial"/>
                <a:cs typeface="Arial"/>
              </a:rPr>
              <a:t>•</a:t>
            </a:r>
            <a:r>
              <a:rPr lang="en-US" sz="2800" dirty="0">
                <a:solidFill>
                  <a:srgbClr val="000000"/>
                </a:solidFill>
                <a:latin typeface="Calibri"/>
                <a:ea typeface="Calibri"/>
                <a:cs typeface="Calibri"/>
              </a:rPr>
              <a:t>$3.95 million lower </a:t>
            </a:r>
            <a:endParaRPr lang="en-US">
              <a:solidFill>
                <a:srgbClr val="595959"/>
              </a:solidFill>
              <a:latin typeface="Corbel" panose="020B0503020204020204"/>
              <a:ea typeface="Calibri"/>
              <a:cs typeface="Calibri"/>
            </a:endParaRPr>
          </a:p>
          <a:p>
            <a:r>
              <a:rPr lang="en-US" sz="2800" dirty="0">
                <a:latin typeface="Arial"/>
                <a:cs typeface="Arial"/>
              </a:rPr>
              <a:t>•</a:t>
            </a:r>
            <a:r>
              <a:rPr lang="en-US" sz="2800" dirty="0">
                <a:solidFill>
                  <a:srgbClr val="000000"/>
                </a:solidFill>
                <a:latin typeface="Calibri"/>
                <a:ea typeface="Calibri"/>
                <a:cs typeface="Calibri"/>
              </a:rPr>
              <a:t>$4.61million upper </a:t>
            </a:r>
            <a:endParaRPr lang="en-US"/>
          </a:p>
          <a:p>
            <a:endParaRPr lang="en-US" dirty="0"/>
          </a:p>
        </p:txBody>
      </p:sp>
      <p:sp>
        <p:nvSpPr>
          <p:cNvPr id="5" name="Text Placeholder 4">
            <a:extLst>
              <a:ext uri="{FF2B5EF4-FFF2-40B4-BE49-F238E27FC236}">
                <a16:creationId xmlns:a16="http://schemas.microsoft.com/office/drawing/2014/main" id="{C98F2B9A-B2E4-A361-0F51-08CB6E0F9636}"/>
              </a:ext>
            </a:extLst>
          </p:cNvPr>
          <p:cNvSpPr>
            <a:spLocks noGrp="1"/>
          </p:cNvSpPr>
          <p:nvPr>
            <p:ph type="body" sz="quarter" idx="3"/>
          </p:nvPr>
        </p:nvSpPr>
        <p:spPr/>
        <p:txBody>
          <a:bodyPr/>
          <a:lstStyle/>
          <a:p>
            <a:r>
              <a:rPr lang="en-US" sz="3200" dirty="0"/>
              <a:t>2023 Data</a:t>
            </a:r>
            <a:endParaRPr lang="en-US" dirty="0"/>
          </a:p>
        </p:txBody>
      </p:sp>
      <p:sp>
        <p:nvSpPr>
          <p:cNvPr id="6" name="Content Placeholder 5">
            <a:extLst>
              <a:ext uri="{FF2B5EF4-FFF2-40B4-BE49-F238E27FC236}">
                <a16:creationId xmlns:a16="http://schemas.microsoft.com/office/drawing/2014/main" id="{76E8D53F-63AE-F017-73C3-EF56A9AC3337}"/>
              </a:ext>
            </a:extLst>
          </p:cNvPr>
          <p:cNvSpPr>
            <a:spLocks noGrp="1"/>
          </p:cNvSpPr>
          <p:nvPr>
            <p:ph sz="quarter" idx="4"/>
          </p:nvPr>
        </p:nvSpPr>
        <p:spPr/>
        <p:txBody>
          <a:bodyPr/>
          <a:lstStyle/>
          <a:p>
            <a:r>
              <a:rPr lang="en-US" sz="2800" dirty="0">
                <a:latin typeface="Arial"/>
                <a:cs typeface="Arial"/>
              </a:rPr>
              <a:t>•</a:t>
            </a:r>
            <a:r>
              <a:rPr lang="en-US" sz="2800" dirty="0">
                <a:solidFill>
                  <a:srgbClr val="000000"/>
                </a:solidFill>
                <a:latin typeface="Calibri"/>
                <a:ea typeface="Calibri"/>
                <a:cs typeface="Calibri"/>
              </a:rPr>
              <a:t>2023 YTD</a:t>
            </a:r>
            <a:endParaRPr lang="en-US" dirty="0"/>
          </a:p>
          <a:p>
            <a:r>
              <a:rPr lang="en-US" sz="2800">
                <a:latin typeface="Arial"/>
                <a:cs typeface="Arial"/>
              </a:rPr>
              <a:t>•</a:t>
            </a:r>
            <a:r>
              <a:rPr lang="en-US" sz="2800">
                <a:solidFill>
                  <a:srgbClr val="000000"/>
                </a:solidFill>
                <a:latin typeface="Calibri"/>
                <a:ea typeface="Calibri"/>
                <a:cs typeface="Calibri"/>
              </a:rPr>
              <a:t>$3.17 million non-adjusted </a:t>
            </a:r>
            <a:endParaRPr lang="en-US"/>
          </a:p>
          <a:p>
            <a:r>
              <a:rPr lang="en-US" sz="2800" dirty="0">
                <a:latin typeface="Arial"/>
                <a:cs typeface="Arial"/>
              </a:rPr>
              <a:t>•</a:t>
            </a:r>
            <a:r>
              <a:rPr lang="en-US" sz="2800" dirty="0">
                <a:solidFill>
                  <a:srgbClr val="000000"/>
                </a:solidFill>
                <a:latin typeface="Calibri"/>
                <a:ea typeface="Calibri"/>
                <a:cs typeface="Calibri"/>
              </a:rPr>
              <a:t>Adjusted Estimate: </a:t>
            </a:r>
            <a:endParaRPr lang="en-US">
              <a:solidFill>
                <a:srgbClr val="595959"/>
              </a:solidFill>
              <a:latin typeface="Corbel" panose="020B0503020204020204"/>
              <a:ea typeface="Calibri"/>
              <a:cs typeface="Calibri"/>
            </a:endParaRPr>
          </a:p>
          <a:p>
            <a:r>
              <a:rPr lang="en-US" sz="2800" dirty="0">
                <a:latin typeface="Arial"/>
                <a:cs typeface="Arial"/>
              </a:rPr>
              <a:t>•</a:t>
            </a:r>
            <a:r>
              <a:rPr lang="en-US" sz="2800" dirty="0">
                <a:solidFill>
                  <a:srgbClr val="000000"/>
                </a:solidFill>
                <a:latin typeface="Calibri"/>
                <a:ea typeface="Calibri"/>
                <a:cs typeface="Calibri"/>
              </a:rPr>
              <a:t>$2.78 million lower </a:t>
            </a:r>
            <a:endParaRPr lang="en-US"/>
          </a:p>
          <a:p>
            <a:r>
              <a:rPr lang="en-US" sz="2800" dirty="0">
                <a:latin typeface="Arial"/>
                <a:cs typeface="Arial"/>
              </a:rPr>
              <a:t>•</a:t>
            </a:r>
            <a:r>
              <a:rPr lang="en-US" sz="2800" dirty="0">
                <a:solidFill>
                  <a:srgbClr val="000000"/>
                </a:solidFill>
                <a:latin typeface="Calibri"/>
                <a:ea typeface="Calibri"/>
                <a:cs typeface="Calibri"/>
              </a:rPr>
              <a:t>$3.23 million upper </a:t>
            </a:r>
            <a:endParaRPr lang="en-US"/>
          </a:p>
          <a:p>
            <a:endParaRPr lang="en-US" dirty="0"/>
          </a:p>
        </p:txBody>
      </p:sp>
    </p:spTree>
    <p:extLst>
      <p:ext uri="{BB962C8B-B14F-4D97-AF65-F5344CB8AC3E}">
        <p14:creationId xmlns:p14="http://schemas.microsoft.com/office/powerpoint/2010/main" val="2981177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864E1-5F38-270D-7884-6ABD860C1302}"/>
              </a:ext>
            </a:extLst>
          </p:cNvPr>
          <p:cNvSpPr>
            <a:spLocks noGrp="1"/>
          </p:cNvSpPr>
          <p:nvPr>
            <p:ph type="title"/>
          </p:nvPr>
        </p:nvSpPr>
        <p:spPr/>
        <p:txBody>
          <a:bodyPr/>
          <a:lstStyle/>
          <a:p>
            <a:r>
              <a:rPr lang="en-US" dirty="0"/>
              <a:t>Maintenance </a:t>
            </a:r>
            <a:br>
              <a:rPr lang="en-US" dirty="0"/>
            </a:br>
            <a:r>
              <a:rPr lang="en-US" dirty="0"/>
              <a:t>Cost </a:t>
            </a:r>
            <a:br>
              <a:rPr lang="en-US" dirty="0"/>
            </a:br>
            <a:r>
              <a:rPr lang="en-US" dirty="0"/>
              <a:t>Estimations </a:t>
            </a:r>
          </a:p>
        </p:txBody>
      </p:sp>
      <p:sp>
        <p:nvSpPr>
          <p:cNvPr id="3" name="Text Placeholder 2">
            <a:extLst>
              <a:ext uri="{FF2B5EF4-FFF2-40B4-BE49-F238E27FC236}">
                <a16:creationId xmlns:a16="http://schemas.microsoft.com/office/drawing/2014/main" id="{1A0EF998-FCA2-4942-BA62-188D6E584F64}"/>
              </a:ext>
            </a:extLst>
          </p:cNvPr>
          <p:cNvSpPr>
            <a:spLocks noGrp="1"/>
          </p:cNvSpPr>
          <p:nvPr>
            <p:ph type="body" idx="1"/>
          </p:nvPr>
        </p:nvSpPr>
        <p:spPr/>
        <p:txBody>
          <a:bodyPr>
            <a:normAutofit/>
          </a:bodyPr>
          <a:lstStyle/>
          <a:p>
            <a:r>
              <a:rPr lang="en-US" sz="3200" dirty="0"/>
              <a:t>Natural </a:t>
            </a:r>
          </a:p>
        </p:txBody>
      </p:sp>
      <p:sp>
        <p:nvSpPr>
          <p:cNvPr id="4" name="Content Placeholder 3">
            <a:extLst>
              <a:ext uri="{FF2B5EF4-FFF2-40B4-BE49-F238E27FC236}">
                <a16:creationId xmlns:a16="http://schemas.microsoft.com/office/drawing/2014/main" id="{A6BE6C83-D044-E764-B976-65AEC03B091D}"/>
              </a:ext>
            </a:extLst>
          </p:cNvPr>
          <p:cNvSpPr>
            <a:spLocks noGrp="1"/>
          </p:cNvSpPr>
          <p:nvPr>
            <p:ph sz="half" idx="2"/>
          </p:nvPr>
        </p:nvSpPr>
        <p:spPr>
          <a:xfrm>
            <a:off x="3867912" y="1930936"/>
            <a:ext cx="3474720" cy="4397171"/>
          </a:xfrm>
        </p:spPr>
        <p:txBody>
          <a:bodyPr>
            <a:normAutofit fontScale="77500" lnSpcReduction="20000"/>
          </a:bodyPr>
          <a:lstStyle/>
          <a:p>
            <a:r>
              <a:rPr lang="en-US" sz="2800" dirty="0">
                <a:latin typeface="Arial"/>
                <a:cs typeface="Arial"/>
              </a:rPr>
              <a:t>•</a:t>
            </a:r>
            <a:r>
              <a:rPr lang="en-US" sz="2800" dirty="0">
                <a:solidFill>
                  <a:srgbClr val="000000"/>
                </a:solidFill>
                <a:latin typeface="Calibri"/>
                <a:ea typeface="Calibri"/>
                <a:cs typeface="Calibri"/>
              </a:rPr>
              <a:t>Field maintenance total cost 2022: $76,194 (all fields)</a:t>
            </a:r>
            <a:endParaRPr lang="en-US" dirty="0"/>
          </a:p>
          <a:p>
            <a:r>
              <a:rPr lang="en-US" sz="2800">
                <a:latin typeface="Arial"/>
                <a:cs typeface="Arial"/>
              </a:rPr>
              <a:t>•</a:t>
            </a:r>
            <a:r>
              <a:rPr lang="en-US" sz="2800">
                <a:solidFill>
                  <a:srgbClr val="000000"/>
                </a:solidFill>
                <a:latin typeface="Calibri"/>
                <a:ea typeface="Calibri"/>
                <a:cs typeface="Calibri"/>
              </a:rPr>
              <a:t>Field maintenance total cost YTD 2023: $67,575 (all fields)</a:t>
            </a:r>
            <a:endParaRPr lang="en-US"/>
          </a:p>
          <a:p>
            <a:r>
              <a:rPr lang="en-US" sz="2800">
                <a:latin typeface="Arial"/>
                <a:cs typeface="Arial"/>
              </a:rPr>
              <a:t>•</a:t>
            </a:r>
            <a:r>
              <a:rPr lang="en-US" sz="2800">
                <a:solidFill>
                  <a:srgbClr val="000000"/>
                </a:solidFill>
                <a:latin typeface="Calibri"/>
                <a:ea typeface="Calibri"/>
                <a:cs typeface="Calibri"/>
              </a:rPr>
              <a:t>Cost per hour: $49.72</a:t>
            </a:r>
            <a:endParaRPr lang="en-US"/>
          </a:p>
          <a:p>
            <a:r>
              <a:rPr lang="en-US" sz="2800" dirty="0">
                <a:latin typeface="Arial"/>
                <a:cs typeface="Arial"/>
              </a:rPr>
              <a:t>•</a:t>
            </a:r>
            <a:endParaRPr lang="en-US" dirty="0"/>
          </a:p>
          <a:p>
            <a:r>
              <a:rPr lang="en-US" sz="2800" dirty="0">
                <a:latin typeface="Arial"/>
                <a:cs typeface="Arial"/>
              </a:rPr>
              <a:t>•</a:t>
            </a:r>
            <a:r>
              <a:rPr lang="en-US" sz="2800" dirty="0">
                <a:solidFill>
                  <a:srgbClr val="000000"/>
                </a:solidFill>
                <a:latin typeface="Calibri"/>
                <a:ea typeface="Calibri"/>
                <a:cs typeface="Calibri"/>
              </a:rPr>
              <a:t>Scheduling possible: 70 Hours*26 Weeks*10 years=18,200 hours</a:t>
            </a:r>
            <a:endParaRPr lang="en-US" dirty="0"/>
          </a:p>
          <a:p>
            <a:endParaRPr lang="en-US" dirty="0"/>
          </a:p>
        </p:txBody>
      </p:sp>
      <p:sp>
        <p:nvSpPr>
          <p:cNvPr id="5" name="Text Placeholder 4">
            <a:extLst>
              <a:ext uri="{FF2B5EF4-FFF2-40B4-BE49-F238E27FC236}">
                <a16:creationId xmlns:a16="http://schemas.microsoft.com/office/drawing/2014/main" id="{26B980B2-3F1C-723D-51CD-751775277CA8}"/>
              </a:ext>
            </a:extLst>
          </p:cNvPr>
          <p:cNvSpPr>
            <a:spLocks noGrp="1"/>
          </p:cNvSpPr>
          <p:nvPr>
            <p:ph type="body" sz="quarter" idx="3"/>
          </p:nvPr>
        </p:nvSpPr>
        <p:spPr/>
        <p:txBody>
          <a:bodyPr vert="horz" lIns="91440" tIns="45720" rIns="91440" bIns="45720" rtlCol="0" anchor="b">
            <a:noAutofit/>
          </a:bodyPr>
          <a:lstStyle/>
          <a:p>
            <a:r>
              <a:rPr lang="en-US" sz="2800" dirty="0"/>
              <a:t>FieldTurf brand artificial turf</a:t>
            </a:r>
          </a:p>
        </p:txBody>
      </p:sp>
      <p:sp>
        <p:nvSpPr>
          <p:cNvPr id="6" name="Content Placeholder 5">
            <a:extLst>
              <a:ext uri="{FF2B5EF4-FFF2-40B4-BE49-F238E27FC236}">
                <a16:creationId xmlns:a16="http://schemas.microsoft.com/office/drawing/2014/main" id="{CADD6EBF-E158-3CF6-EB9B-7353A3B6E6F9}"/>
              </a:ext>
            </a:extLst>
          </p:cNvPr>
          <p:cNvSpPr>
            <a:spLocks noGrp="1"/>
          </p:cNvSpPr>
          <p:nvPr>
            <p:ph sz="quarter" idx="4"/>
          </p:nvPr>
        </p:nvSpPr>
        <p:spPr/>
        <p:txBody>
          <a:bodyPr>
            <a:normAutofit fontScale="77500" lnSpcReduction="20000"/>
          </a:bodyPr>
          <a:lstStyle/>
          <a:p>
            <a:r>
              <a:rPr lang="en-US" sz="3000" dirty="0">
                <a:latin typeface="Arial"/>
                <a:cs typeface="Arial"/>
              </a:rPr>
              <a:t>•</a:t>
            </a:r>
            <a:r>
              <a:rPr lang="en-US" sz="3000" dirty="0">
                <a:solidFill>
                  <a:srgbClr val="000000"/>
                </a:solidFill>
                <a:latin typeface="Calibri"/>
                <a:ea typeface="Calibri"/>
                <a:cs typeface="Calibri"/>
              </a:rPr>
              <a:t>Cost analysis of FieldTurf brand artificial turf: </a:t>
            </a:r>
            <a:endParaRPr lang="en-US"/>
          </a:p>
          <a:p>
            <a:r>
              <a:rPr lang="en-US" sz="3000">
                <a:latin typeface="Arial"/>
                <a:cs typeface="Arial"/>
              </a:rPr>
              <a:t>•</a:t>
            </a:r>
            <a:r>
              <a:rPr lang="en-US" sz="3000">
                <a:solidFill>
                  <a:srgbClr val="000000"/>
                </a:solidFill>
                <a:latin typeface="Calibri"/>
                <a:ea typeface="Calibri"/>
                <a:cs typeface="Calibri"/>
              </a:rPr>
              <a:t>2022 cost: $5000 (*per field)</a:t>
            </a:r>
            <a:endParaRPr lang="en-US"/>
          </a:p>
          <a:p>
            <a:r>
              <a:rPr lang="en-US" sz="3000">
                <a:latin typeface="Arial"/>
                <a:cs typeface="Arial"/>
              </a:rPr>
              <a:t>•</a:t>
            </a:r>
            <a:r>
              <a:rPr lang="en-US" sz="3000">
                <a:solidFill>
                  <a:srgbClr val="000000"/>
                </a:solidFill>
                <a:latin typeface="Calibri"/>
                <a:ea typeface="Calibri"/>
                <a:cs typeface="Calibri"/>
              </a:rPr>
              <a:t>2023 cost: $5000 (*per field)</a:t>
            </a:r>
            <a:endParaRPr lang="en-US"/>
          </a:p>
          <a:p>
            <a:r>
              <a:rPr lang="en-US" sz="3000" dirty="0">
                <a:latin typeface="Arial"/>
                <a:cs typeface="Arial"/>
              </a:rPr>
              <a:t>•</a:t>
            </a:r>
            <a:r>
              <a:rPr lang="en-US" sz="3000" dirty="0">
                <a:solidFill>
                  <a:srgbClr val="000000"/>
                </a:solidFill>
                <a:latin typeface="Calibri"/>
                <a:ea typeface="Calibri"/>
                <a:cs typeface="Calibri"/>
              </a:rPr>
              <a:t>Cost per hour: $12.95</a:t>
            </a:r>
            <a:endParaRPr lang="en-US" dirty="0"/>
          </a:p>
          <a:p>
            <a:r>
              <a:rPr lang="en-US" sz="3000" dirty="0">
                <a:latin typeface="Arial"/>
                <a:cs typeface="Arial"/>
              </a:rPr>
              <a:t>•</a:t>
            </a:r>
            <a:endParaRPr lang="en-US" dirty="0"/>
          </a:p>
          <a:p>
            <a:r>
              <a:rPr lang="en-US" sz="3000" dirty="0">
                <a:latin typeface="Arial"/>
                <a:cs typeface="Arial"/>
              </a:rPr>
              <a:t>•</a:t>
            </a:r>
            <a:r>
              <a:rPr lang="en-US" sz="3000" dirty="0">
                <a:solidFill>
                  <a:srgbClr val="000000"/>
                </a:solidFill>
                <a:latin typeface="Calibri"/>
                <a:ea typeface="Calibri"/>
                <a:cs typeface="Calibri"/>
              </a:rPr>
              <a:t>Scheduling possible: 100 Hours*44 Weeks*10 years=44,000 hours</a:t>
            </a:r>
            <a:endParaRPr lang="en-US" dirty="0"/>
          </a:p>
          <a:p>
            <a:endParaRPr lang="en-US" dirty="0"/>
          </a:p>
        </p:txBody>
      </p:sp>
    </p:spTree>
    <p:extLst>
      <p:ext uri="{BB962C8B-B14F-4D97-AF65-F5344CB8AC3E}">
        <p14:creationId xmlns:p14="http://schemas.microsoft.com/office/powerpoint/2010/main" val="1226695115"/>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Frame</vt:lpstr>
      <vt:lpstr>JC Parks and Rec Group Exploratory Analysis</vt:lpstr>
      <vt:lpstr>Revenue Earned  per Month in  2022 and 2023</vt:lpstr>
      <vt:lpstr>Amount Charged for Tournaments per Month in 2022 </vt:lpstr>
      <vt:lpstr>Amount Charged for Tournaments per Month in 2023</vt:lpstr>
      <vt:lpstr>Average Cost per Type of Tournament</vt:lpstr>
      <vt:lpstr>Total Number of Teams in Tournaments per Month in 2022</vt:lpstr>
      <vt:lpstr>Total Number of Teams in Tournaments per Month in 2023</vt:lpstr>
      <vt:lpstr>Impact  Estimation </vt:lpstr>
      <vt:lpstr>Impact Estimation II</vt:lpstr>
      <vt:lpstr>Impact  Estimation III</vt:lpstr>
      <vt:lpstr>Baseline  Estimates </vt:lpstr>
      <vt:lpstr>Estimates By  Year</vt:lpstr>
      <vt:lpstr>Maintenance  Cost  Estimations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873</cp:revision>
  <dcterms:created xsi:type="dcterms:W3CDTF">2023-09-20T18:26:18Z</dcterms:created>
  <dcterms:modified xsi:type="dcterms:W3CDTF">2023-09-25T00:15:38Z</dcterms:modified>
</cp:coreProperties>
</file>