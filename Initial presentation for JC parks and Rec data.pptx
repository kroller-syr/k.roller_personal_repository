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AB08-B8E1-D9C3-D8E7-9F45BA333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5F317-4849-18DB-9653-57FA10D02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F366A-814A-A303-A5FC-4F86E4FA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F3626-54D6-BBD7-7D4E-757AF127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2B048-8A37-9C69-89C8-EE12D8CF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9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7C97-1B95-B256-97DC-8E065EA2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680F2-8CCE-9A7B-3234-9B50F3DE8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D3F22-D394-CE2F-30C6-4219AB5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F63C7-2FFD-6C99-EDF8-048BFBB8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B6AD5-003C-A7E2-DCDF-CE2CDFAF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2B53-5337-A5A0-4380-7159D488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DD186-1784-B62F-EF72-85956C67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E5B7F-D181-D4F4-5255-A583612F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06D8-D92B-2D3C-860C-98066144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D90C-9EA1-2830-DA2E-A13B76E7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1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19B2-A101-26AE-C094-3C5FB6D6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A45F8-2CC8-58C1-DE9C-0A07D0897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F6D60-2550-1218-47A6-2BF742778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BDFDE-A279-7AFD-3D78-BE36074D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DC9E9-686C-DF87-7C17-CA24470F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E4E8D-0E5C-283E-D3AB-4E491537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7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7D7B-F50F-9E63-FA42-8A7482E53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029FC-4E7B-134B-1429-A873C01CD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F164D-45F1-6CDD-6888-F87941B67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2D115-BE8A-2E38-ADE3-33453E757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1842E-36C6-185C-7E89-A340AB3D2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55D3C-DB2F-9F33-FE66-76230317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DD13E-8EA3-1B42-0D48-2AB324D4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88AFC-87DE-D581-0B05-D1320C3B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8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296A-9465-9928-7D99-09D5987F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31C7A-1E38-731D-FFC4-088B178D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1B257-B252-5327-CBB3-3FD33C6A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B1DE5-CD4B-08C0-ACF5-ECA8692E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5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EE6EF-21CF-CD70-6D4A-B6B85438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064D8-487E-5EB9-B347-5566193C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C0ED-D716-74CF-D990-FB7DA360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7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5928-F359-4A33-AA17-023829D9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F7BA-3809-843E-C0AF-A83FBEBD6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ED15B-D315-9C56-4D2B-E110F05BA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74FB8-63D5-686D-C3F3-DA1D4E1B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1092C-7C07-A3D4-D0BC-25534C00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C1272-15A4-F84F-17C2-6F46A266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0444-8377-E879-8689-657905AF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3F66D-D4CF-6979-B7F1-26F8E227E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787AF-3EC1-7922-9A79-AF991E025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492F0-6717-0EFA-D9A7-626360A3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5DF3B-B4F0-3308-7368-00B4C40B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4B6A1-1FEA-61DC-3B32-7A48C37D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8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95EA-8FAE-0129-1854-CE2F2651E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EE61-AD2A-232C-C523-173D628BF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CB895-E9C5-1D03-BB01-885BB292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73387-C236-6771-09A8-375D62AA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3A8C1-9E6F-53EF-AA0C-93FBC63A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6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8C339-2A33-C779-359F-3314CF454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944BE-DCB3-3E94-59B2-538D2CB64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8647-325C-7EAE-9745-9841DD2FC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3656-755E-8FA2-33A6-EC332757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8424-FE1D-8135-E52A-06CC9773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7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64428-4030-1E6A-38B3-78054076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8806E-40C1-1AB2-E00C-85B3A3D03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A22A-B473-8FE3-BBCF-501B9A6C8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B37E-F0FB-4C60-8FDD-6687E772434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CBC0D-84E0-CA82-F989-78BF17D28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1C52A-5D22-B664-4C6F-10E9E34E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C8F6B-7EB2-467A-9D57-0D92E7DF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9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B67A-6DFB-A05A-D2F0-C843CE8811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5C93B-B7E9-3D1F-6502-75C43F5EA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8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87C-A8AC-8A7F-BD40-1C7B64C9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C5DABC-6D14-8AD2-DEA3-FF6F57C7F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D8473C-BB2A-D502-DDAF-062265B31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6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5B19-08E9-314E-CDE9-F31C13B8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Paths for Impact Estimation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CE9AE-D2A7-FBFB-35BE-872E296F1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possible path for creating estimates is by utilizing the methods outlined in “Inexpensively Estimating the Economic Impact of Sports Tourism Programs in Small American Cities” (Brewer/Freeman, Indiana Business Review Spring 2015). </a:t>
            </a:r>
          </a:p>
          <a:p>
            <a:r>
              <a:rPr lang="en-US" dirty="0"/>
              <a:t>Why this?</a:t>
            </a:r>
          </a:p>
          <a:p>
            <a:r>
              <a:rPr lang="en-US" dirty="0"/>
              <a:t>The largest reason: size </a:t>
            </a:r>
          </a:p>
          <a:p>
            <a:r>
              <a:rPr lang="en-US" dirty="0"/>
              <a:t>Bartholomew County, the focus of this study has an almost identical size and population when compared to Johnson City, making this an excellent model for our study.</a:t>
            </a:r>
          </a:p>
        </p:txBody>
      </p:sp>
    </p:spTree>
    <p:extLst>
      <p:ext uri="{BB962C8B-B14F-4D97-AF65-F5344CB8AC3E}">
        <p14:creationId xmlns:p14="http://schemas.microsoft.com/office/powerpoint/2010/main" val="106561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4E9B-13FC-34C6-E6DD-FF6CADC2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Possible Path for Estimation II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A3D2D-64CB-BA48-8E7D-2F9FF82C8BD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Chang’s model for prediction using region population and population density: </a:t>
            </a:r>
          </a:p>
          <a:p>
            <a:endParaRPr lang="en-US" dirty="0"/>
          </a:p>
          <a:p>
            <a:r>
              <a:rPr lang="en-US" sz="2800" dirty="0"/>
              <a:t>1.566+0.053*ln(POP)-0.009*(POPDEN)</a:t>
            </a:r>
          </a:p>
          <a:p>
            <a:endParaRPr lang="en-US" sz="2800" dirty="0"/>
          </a:p>
          <a:p>
            <a:r>
              <a:rPr lang="en-US" sz="2800" dirty="0"/>
              <a:t>Where POP is population in millions, </a:t>
            </a:r>
          </a:p>
          <a:p>
            <a:r>
              <a:rPr lang="en-US" sz="2800" dirty="0"/>
              <a:t>And, </a:t>
            </a:r>
          </a:p>
          <a:p>
            <a:r>
              <a:rPr lang="en-US" sz="2800" dirty="0"/>
              <a:t>Where POPDEN is population density in thousands of people/square mile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9858D-77C1-BB7E-6B56-4A41AF10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Additionally, this gives us a revenue multiplier that we can use to accurately estimate the direct impact of economic spending </a:t>
            </a:r>
          </a:p>
          <a:p>
            <a:r>
              <a:rPr lang="en-US" sz="1700" dirty="0"/>
              <a:t>Chang(2001)*</a:t>
            </a:r>
          </a:p>
        </p:txBody>
      </p:sp>
    </p:spTree>
    <p:extLst>
      <p:ext uri="{BB962C8B-B14F-4D97-AF65-F5344CB8AC3E}">
        <p14:creationId xmlns:p14="http://schemas.microsoft.com/office/powerpoint/2010/main" val="328791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5C6E-3821-0E4F-EF98-BFBAE633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Possible Pathway for Estimation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1792-36A9-AFC9-82C4-DD871B458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Economic Impact Range Estimation: </a:t>
            </a:r>
          </a:p>
          <a:p>
            <a:r>
              <a:rPr lang="en-US" sz="2800" dirty="0"/>
              <a:t>0.6*(1.566*ln(POP)-0.009*POPDEN)= Lower Bound Multiplier </a:t>
            </a:r>
          </a:p>
          <a:p>
            <a:r>
              <a:rPr lang="en-US" sz="2800" dirty="0"/>
              <a:t>0.7*(1.566*ln(POP)-0.009*POPDEN)= Upper Bound Multiplier </a:t>
            </a:r>
          </a:p>
          <a:p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0FB40-9CB1-59DF-3546-B864037CE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study also gives us a base capture rate to apply to our estimate (Stynes 1997*) since our capture rate of actual consumer spending will never be 100%. Stynes places this at 60-70%. </a:t>
            </a:r>
          </a:p>
          <a:p>
            <a:endParaRPr lang="en-US" sz="2000" dirty="0"/>
          </a:p>
          <a:p>
            <a:r>
              <a:rPr lang="en-US" sz="2000" dirty="0"/>
              <a:t>These are applied to the tourism sales multiplier found using Chang’s estimator to give us a multiplier to create a range for Direct Spending Economic Impact. </a:t>
            </a:r>
          </a:p>
        </p:txBody>
      </p:sp>
    </p:spTree>
    <p:extLst>
      <p:ext uri="{BB962C8B-B14F-4D97-AF65-F5344CB8AC3E}">
        <p14:creationId xmlns:p14="http://schemas.microsoft.com/office/powerpoint/2010/main" val="337141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E762-5126-4008-3B4E-D9A9D0B6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Non-Multiplier vs W/Multiplier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0DE1-A269-399B-DD37-F93796C5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Summing spending per event based on event duration and team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128E0-CB7E-6DAA-343F-C5D737E279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Assumes $206/day expenditure </a:t>
            </a:r>
          </a:p>
          <a:p>
            <a:endParaRPr lang="en-US" dirty="0"/>
          </a:p>
          <a:p>
            <a:r>
              <a:rPr lang="en-US" dirty="0"/>
              <a:t>2022-2023(</a:t>
            </a:r>
            <a:r>
              <a:rPr lang="en-US" dirty="0" err="1"/>
              <a:t>ytd</a:t>
            </a:r>
            <a:r>
              <a:rPr lang="en-US" dirty="0"/>
              <a:t>) combined:</a:t>
            </a:r>
          </a:p>
          <a:p>
            <a:r>
              <a:rPr lang="en-US" dirty="0"/>
              <a:t>$8,538,831 Direct Estimate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C1796-935C-0568-AAA4-9A6646FE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Spending per event with 89% nonlocal assumption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4E85D-5BED-00A6-36D5-8671057FC6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000" dirty="0"/>
              <a:t>JC pop=71,278</a:t>
            </a:r>
          </a:p>
          <a:p>
            <a:r>
              <a:rPr lang="en-US" sz="2000" dirty="0" err="1"/>
              <a:t>Popden</a:t>
            </a:r>
            <a:r>
              <a:rPr lang="en-US" sz="2000" dirty="0"/>
              <a:t>=0.4074</a:t>
            </a:r>
          </a:p>
          <a:p>
            <a:r>
              <a:rPr lang="en-US" sz="2000" dirty="0" err="1"/>
              <a:t>ChangMultiplier</a:t>
            </a:r>
            <a:r>
              <a:rPr lang="en-US" sz="2000" dirty="0"/>
              <a:t>=1.4583</a:t>
            </a:r>
          </a:p>
          <a:p>
            <a:r>
              <a:rPr lang="en-US" sz="2000" dirty="0"/>
              <a:t>0.6(1.4583)*7599599.59=Lower </a:t>
            </a:r>
          </a:p>
          <a:p>
            <a:r>
              <a:rPr lang="en-US" sz="2000" dirty="0"/>
              <a:t>0.7*(1.4583)*7599599.59=Upper </a:t>
            </a:r>
          </a:p>
          <a:p>
            <a:r>
              <a:rPr lang="en-US" sz="2000" dirty="0"/>
              <a:t>Real Economic Impact from Direct Spending: Lies between $6.65 and $7.76 Million with the current park setup and current assumptions for 2021-current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9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610-4C63-9FBA-FB28-4041B0E4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Estimations by Year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7525-5FF4-E7F5-A87D-21DD0650FE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  <a:p>
            <a:r>
              <a:rPr lang="en-US" dirty="0"/>
              <a:t>$4.98 million non-adjusted </a:t>
            </a:r>
          </a:p>
          <a:p>
            <a:r>
              <a:rPr lang="en-US" dirty="0"/>
              <a:t>Adjusted Estimate: </a:t>
            </a:r>
          </a:p>
          <a:p>
            <a:r>
              <a:rPr lang="en-US" dirty="0"/>
              <a:t>$3.95 million lower </a:t>
            </a:r>
          </a:p>
          <a:p>
            <a:r>
              <a:rPr lang="en-US" dirty="0"/>
              <a:t>$4.61million upper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BB234-CDC7-B32E-31B0-6E976062BC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2023 YTD</a:t>
            </a:r>
          </a:p>
          <a:p>
            <a:r>
              <a:rPr lang="en-US" dirty="0"/>
              <a:t>$3.17 million non-adjusted </a:t>
            </a:r>
          </a:p>
          <a:p>
            <a:r>
              <a:rPr lang="en-US" dirty="0"/>
              <a:t>Adjusted Estimate: </a:t>
            </a:r>
          </a:p>
          <a:p>
            <a:r>
              <a:rPr lang="en-US" dirty="0"/>
              <a:t>$2.78 million lower </a:t>
            </a:r>
          </a:p>
          <a:p>
            <a:r>
              <a:rPr lang="en-US" dirty="0"/>
              <a:t>$3.23 million upper </a:t>
            </a:r>
          </a:p>
        </p:txBody>
      </p:sp>
    </p:spTree>
    <p:extLst>
      <p:ext uri="{BB962C8B-B14F-4D97-AF65-F5344CB8AC3E}">
        <p14:creationId xmlns:p14="http://schemas.microsoft.com/office/powerpoint/2010/main" val="220136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748C-730F-0BE1-EB5E-3EAC4CF8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cost estimations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6D19-E927-E0BA-8CFC-C828836AF8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Field maintenance total cost 2022: $76,194 (all fields)</a:t>
            </a:r>
          </a:p>
          <a:p>
            <a:r>
              <a:rPr lang="en-US" dirty="0"/>
              <a:t>Field maintenance total cost YTD 2023: $67,575 (all fields)</a:t>
            </a:r>
          </a:p>
          <a:p>
            <a:r>
              <a:rPr lang="en-US" dirty="0"/>
              <a:t>Cost per hour: $49.72</a:t>
            </a:r>
          </a:p>
          <a:p>
            <a:endParaRPr lang="en-US" dirty="0"/>
          </a:p>
          <a:p>
            <a:r>
              <a:rPr lang="en-US" dirty="0"/>
              <a:t>Scheduling possible: 70 Hours*26 Weeks*10 years=18,200 hours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1DBAF-71BB-2C73-E9A1-BDE400725C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Cost analysis of </a:t>
            </a:r>
            <a:r>
              <a:rPr lang="en-US" dirty="0" err="1"/>
              <a:t>FieldTurf</a:t>
            </a:r>
            <a:r>
              <a:rPr lang="en-US" dirty="0"/>
              <a:t> brand artificial turf: </a:t>
            </a:r>
          </a:p>
          <a:p>
            <a:r>
              <a:rPr lang="en-US" dirty="0"/>
              <a:t>2022 cost: $5000 (*per field)</a:t>
            </a:r>
          </a:p>
          <a:p>
            <a:r>
              <a:rPr lang="en-US" dirty="0"/>
              <a:t>2023 cost: $5000 (*per field)</a:t>
            </a:r>
          </a:p>
          <a:p>
            <a:r>
              <a:rPr lang="en-US" dirty="0"/>
              <a:t>Cost per hour: $12.95</a:t>
            </a:r>
          </a:p>
          <a:p>
            <a:endParaRPr lang="en-US" dirty="0"/>
          </a:p>
          <a:p>
            <a:r>
              <a:rPr lang="en-US" dirty="0"/>
              <a:t>Scheduling possible: 100 Hours*44 Weeks*10 years=44,000 hours</a:t>
            </a:r>
          </a:p>
        </p:txBody>
      </p:sp>
    </p:spTree>
    <p:extLst>
      <p:ext uri="{BB962C8B-B14F-4D97-AF65-F5344CB8AC3E}">
        <p14:creationId xmlns:p14="http://schemas.microsoft.com/office/powerpoint/2010/main" val="137362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475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Possible Paths for Impact Estimation </vt:lpstr>
      <vt:lpstr>Possible Path for Estimation II</vt:lpstr>
      <vt:lpstr>Possible Pathway for Estimation III</vt:lpstr>
      <vt:lpstr>Non-Multiplier vs W/Multiplier </vt:lpstr>
      <vt:lpstr>Estimations by Year </vt:lpstr>
      <vt:lpstr>Maintenance cost estimations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Kent Roller</dc:creator>
  <cp:lastModifiedBy>Kent Roller</cp:lastModifiedBy>
  <cp:revision>1</cp:revision>
  <dcterms:created xsi:type="dcterms:W3CDTF">2023-09-24T22:09:47Z</dcterms:created>
  <dcterms:modified xsi:type="dcterms:W3CDTF">2023-09-25T00:10:13Z</dcterms:modified>
</cp:coreProperties>
</file>