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4" r:id="rId4"/>
  </p:sldMasterIdLst>
  <p:notesMasterIdLst>
    <p:notesMasterId r:id="rId27"/>
  </p:notesMasterIdLst>
  <p:handoutMasterIdLst>
    <p:handoutMasterId r:id="rId28"/>
  </p:handoutMasterIdLst>
  <p:sldIdLst>
    <p:sldId id="256" r:id="rId5"/>
    <p:sldId id="300" r:id="rId6"/>
    <p:sldId id="289" r:id="rId7"/>
    <p:sldId id="297" r:id="rId8"/>
    <p:sldId id="291" r:id="rId9"/>
    <p:sldId id="277" r:id="rId10"/>
    <p:sldId id="287" r:id="rId11"/>
    <p:sldId id="288" r:id="rId12"/>
    <p:sldId id="298" r:id="rId13"/>
    <p:sldId id="286" r:id="rId14"/>
    <p:sldId id="290" r:id="rId15"/>
    <p:sldId id="279" r:id="rId16"/>
    <p:sldId id="280" r:id="rId17"/>
    <p:sldId id="282" r:id="rId18"/>
    <p:sldId id="285" r:id="rId19"/>
    <p:sldId id="293" r:id="rId20"/>
    <p:sldId id="294" r:id="rId21"/>
    <p:sldId id="301" r:id="rId22"/>
    <p:sldId id="302" r:id="rId23"/>
    <p:sldId id="303" r:id="rId24"/>
    <p:sldId id="299" r:id="rId25"/>
    <p:sldId id="29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D8526D-7D28-A65A-4CFB-D774A9958735}" v="1702" dt="2023-10-10T19:24:59.443"/>
    <p1510:client id="{19B0BC84-E954-4406-96DD-AB33CC47E7E2}" v="590" dt="2023-10-06T01:40:29.814"/>
    <p1510:client id="{321767B9-798C-4D89-A20E-DA8701CE7D6F}" v="2" dt="2023-10-09T01:53:26.630"/>
    <p1510:client id="{4C90A95B-D1A6-2C13-274E-A67A65B181BA}" v="138" dt="2023-10-10T19:50:02.774"/>
    <p1510:client id="{5D6BA573-A044-7E49-8ACD-2ADB504ABD12}" v="27" dt="2023-09-12T20:24:24.764"/>
    <p1510:client id="{74242ED3-6A75-DF98-21F2-821DB2020BFD}" v="65" dt="2023-10-10T19:54:19.173"/>
    <p1510:client id="{8E573D35-E0A6-C9E8-A6A8-33E2794086B4}" v="1" dt="2023-10-09T18:44:03.160"/>
    <p1510:client id="{B93056D4-5A66-1BEA-31E0-4B271E0EBDE7}" v="3185" dt="2023-10-11T01:58:57.263"/>
    <p1510:client id="{E31A0FA4-E9A7-C3F4-3DC5-296AD4DF09D1}" v="5" dt="2023-10-10T17:55:29.509"/>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4.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ata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35.svg"/><Relationship Id="rId4" Type="http://schemas.openxmlformats.org/officeDocument/2006/relationships/image" Target="../media/image31.svg"/><Relationship Id="rId9" Type="http://schemas.openxmlformats.org/officeDocument/2006/relationships/image" Target="../media/image34.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35.svg"/><Relationship Id="rId4" Type="http://schemas.openxmlformats.org/officeDocument/2006/relationships/image" Target="../media/image31.svg"/><Relationship Id="rId9" Type="http://schemas.openxmlformats.org/officeDocument/2006/relationships/image" Target="../media/image34.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0F5A5B-171C-4B15-A0F9-D4DDB6AF22D4}"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A8E7DE45-0F84-4357-9463-77418F0C2237}">
      <dgm:prSet/>
      <dgm:spPr/>
      <dgm:t>
        <a:bodyPr/>
        <a:lstStyle/>
        <a:p>
          <a:r>
            <a:rPr lang="en-US"/>
            <a:t>The Johnson City Parks and Recreation department has received funding to move forward with a park expansion. </a:t>
          </a:r>
        </a:p>
      </dgm:t>
    </dgm:pt>
    <dgm:pt modelId="{05C41484-8412-468A-9B86-698350D53059}" type="parTrans" cxnId="{8852B516-D738-495D-8A03-848CD317FB04}">
      <dgm:prSet/>
      <dgm:spPr/>
      <dgm:t>
        <a:bodyPr/>
        <a:lstStyle/>
        <a:p>
          <a:endParaRPr lang="en-US"/>
        </a:p>
      </dgm:t>
    </dgm:pt>
    <dgm:pt modelId="{CB5B3D08-CD52-47E2-AC82-282F894911A3}" type="sibTrans" cxnId="{8852B516-D738-495D-8A03-848CD317FB04}">
      <dgm:prSet/>
      <dgm:spPr/>
      <dgm:t>
        <a:bodyPr/>
        <a:lstStyle/>
        <a:p>
          <a:endParaRPr lang="en-US"/>
        </a:p>
      </dgm:t>
    </dgm:pt>
    <dgm:pt modelId="{81F61DB7-E60C-4867-84B0-57E72480D75C}">
      <dgm:prSet/>
      <dgm:spPr/>
      <dgm:t>
        <a:bodyPr/>
        <a:lstStyle/>
        <a:p>
          <a:r>
            <a:rPr lang="en-US"/>
            <a:t>This park expansion will increase the current field count, up from 5 baseball/softball fields and 3 soccer fields to 9 baseball/softball fields and 6 soccer fields </a:t>
          </a:r>
        </a:p>
      </dgm:t>
    </dgm:pt>
    <dgm:pt modelId="{2D8D14AF-555D-408B-B99C-DA29EAD8C042}" type="parTrans" cxnId="{CE2EC5AE-BB69-4D12-8FA7-D9ED073A6F5C}">
      <dgm:prSet/>
      <dgm:spPr/>
      <dgm:t>
        <a:bodyPr/>
        <a:lstStyle/>
        <a:p>
          <a:endParaRPr lang="en-US"/>
        </a:p>
      </dgm:t>
    </dgm:pt>
    <dgm:pt modelId="{A1DF2073-A577-4A89-B262-6102A8BC62C6}" type="sibTrans" cxnId="{CE2EC5AE-BB69-4D12-8FA7-D9ED073A6F5C}">
      <dgm:prSet/>
      <dgm:spPr/>
      <dgm:t>
        <a:bodyPr/>
        <a:lstStyle/>
        <a:p>
          <a:endParaRPr lang="en-US"/>
        </a:p>
      </dgm:t>
    </dgm:pt>
    <dgm:pt modelId="{D30E9F63-5A4A-492D-A675-00D119E55D68}">
      <dgm:prSet/>
      <dgm:spPr/>
      <dgm:t>
        <a:bodyPr/>
        <a:lstStyle/>
        <a:p>
          <a:r>
            <a:rPr lang="en-US"/>
            <a:t>The existing fields will remain natural turf, but the new fields will be made using artificial turf. </a:t>
          </a:r>
        </a:p>
      </dgm:t>
    </dgm:pt>
    <dgm:pt modelId="{1418971C-2DEF-42B8-A6E0-C9FAA6055CF6}" type="parTrans" cxnId="{969DFAF4-41E8-4C05-BB6A-A2E92E3358D3}">
      <dgm:prSet/>
      <dgm:spPr/>
      <dgm:t>
        <a:bodyPr/>
        <a:lstStyle/>
        <a:p>
          <a:endParaRPr lang="en-US"/>
        </a:p>
      </dgm:t>
    </dgm:pt>
    <dgm:pt modelId="{4D847B2C-614A-4C4F-AECD-4E6847E4DB94}" type="sibTrans" cxnId="{969DFAF4-41E8-4C05-BB6A-A2E92E3358D3}">
      <dgm:prSet/>
      <dgm:spPr/>
      <dgm:t>
        <a:bodyPr/>
        <a:lstStyle/>
        <a:p>
          <a:endParaRPr lang="en-US"/>
        </a:p>
      </dgm:t>
    </dgm:pt>
    <dgm:pt modelId="{AB77143D-DBA7-4A11-B150-C7F5D48A7720}">
      <dgm:prSet/>
      <dgm:spPr/>
      <dgm:t>
        <a:bodyPr/>
        <a:lstStyle/>
        <a:p>
          <a:r>
            <a:rPr lang="en-US"/>
            <a:t>We are tasked with performing an economic impact analysis on this park expansion to determine the degree of benefit obtained by the regional economy as a whole.</a:t>
          </a:r>
        </a:p>
      </dgm:t>
    </dgm:pt>
    <dgm:pt modelId="{CEF68DB4-096D-4A2A-8887-52D325FED9B5}" type="parTrans" cxnId="{62364C8F-6FD8-4C8F-AC0E-86B58172941F}">
      <dgm:prSet/>
      <dgm:spPr/>
      <dgm:t>
        <a:bodyPr/>
        <a:lstStyle/>
        <a:p>
          <a:endParaRPr lang="en-US"/>
        </a:p>
      </dgm:t>
    </dgm:pt>
    <dgm:pt modelId="{745CC7BB-B2E1-4153-9B64-FD8A0183F8F0}" type="sibTrans" cxnId="{62364C8F-6FD8-4C8F-AC0E-86B58172941F}">
      <dgm:prSet/>
      <dgm:spPr/>
      <dgm:t>
        <a:bodyPr/>
        <a:lstStyle/>
        <a:p>
          <a:endParaRPr lang="en-US"/>
        </a:p>
      </dgm:t>
    </dgm:pt>
    <dgm:pt modelId="{5A0398C8-3AF6-4D87-8862-2D284C67805E}" type="pres">
      <dgm:prSet presAssocID="{600F5A5B-171C-4B15-A0F9-D4DDB6AF22D4}" presName="outerComposite" presStyleCnt="0">
        <dgm:presLayoutVars>
          <dgm:chMax val="5"/>
          <dgm:dir/>
          <dgm:resizeHandles val="exact"/>
        </dgm:presLayoutVars>
      </dgm:prSet>
      <dgm:spPr/>
    </dgm:pt>
    <dgm:pt modelId="{89B09215-F8CD-4413-B18D-1DA7870929AB}" type="pres">
      <dgm:prSet presAssocID="{600F5A5B-171C-4B15-A0F9-D4DDB6AF22D4}" presName="dummyMaxCanvas" presStyleCnt="0">
        <dgm:presLayoutVars/>
      </dgm:prSet>
      <dgm:spPr/>
    </dgm:pt>
    <dgm:pt modelId="{058A0D06-BE08-4442-9443-C7E7EE7131F8}" type="pres">
      <dgm:prSet presAssocID="{600F5A5B-171C-4B15-A0F9-D4DDB6AF22D4}" presName="FourNodes_1" presStyleLbl="node1" presStyleIdx="0" presStyleCnt="4">
        <dgm:presLayoutVars>
          <dgm:bulletEnabled val="1"/>
        </dgm:presLayoutVars>
      </dgm:prSet>
      <dgm:spPr/>
    </dgm:pt>
    <dgm:pt modelId="{D8C47405-32C4-40A4-B3EF-46EEF55C4585}" type="pres">
      <dgm:prSet presAssocID="{600F5A5B-171C-4B15-A0F9-D4DDB6AF22D4}" presName="FourNodes_2" presStyleLbl="node1" presStyleIdx="1" presStyleCnt="4">
        <dgm:presLayoutVars>
          <dgm:bulletEnabled val="1"/>
        </dgm:presLayoutVars>
      </dgm:prSet>
      <dgm:spPr/>
    </dgm:pt>
    <dgm:pt modelId="{D79BC2C3-FCF7-4700-855F-AB9BA81D03BD}" type="pres">
      <dgm:prSet presAssocID="{600F5A5B-171C-4B15-A0F9-D4DDB6AF22D4}" presName="FourNodes_3" presStyleLbl="node1" presStyleIdx="2" presStyleCnt="4">
        <dgm:presLayoutVars>
          <dgm:bulletEnabled val="1"/>
        </dgm:presLayoutVars>
      </dgm:prSet>
      <dgm:spPr/>
    </dgm:pt>
    <dgm:pt modelId="{2D4FF8C9-12CF-4521-B0B4-BE9D1072F2E6}" type="pres">
      <dgm:prSet presAssocID="{600F5A5B-171C-4B15-A0F9-D4DDB6AF22D4}" presName="FourNodes_4" presStyleLbl="node1" presStyleIdx="3" presStyleCnt="4">
        <dgm:presLayoutVars>
          <dgm:bulletEnabled val="1"/>
        </dgm:presLayoutVars>
      </dgm:prSet>
      <dgm:spPr/>
    </dgm:pt>
    <dgm:pt modelId="{109140CD-ED44-4D12-8CFD-5B2ED2DD026D}" type="pres">
      <dgm:prSet presAssocID="{600F5A5B-171C-4B15-A0F9-D4DDB6AF22D4}" presName="FourConn_1-2" presStyleLbl="fgAccFollowNode1" presStyleIdx="0" presStyleCnt="3">
        <dgm:presLayoutVars>
          <dgm:bulletEnabled val="1"/>
        </dgm:presLayoutVars>
      </dgm:prSet>
      <dgm:spPr/>
    </dgm:pt>
    <dgm:pt modelId="{8C8B47AE-3F0F-45D8-B13C-76A3595B7170}" type="pres">
      <dgm:prSet presAssocID="{600F5A5B-171C-4B15-A0F9-D4DDB6AF22D4}" presName="FourConn_2-3" presStyleLbl="fgAccFollowNode1" presStyleIdx="1" presStyleCnt="3">
        <dgm:presLayoutVars>
          <dgm:bulletEnabled val="1"/>
        </dgm:presLayoutVars>
      </dgm:prSet>
      <dgm:spPr/>
    </dgm:pt>
    <dgm:pt modelId="{434AE3EA-8B51-47DA-8927-4C9C692F78D6}" type="pres">
      <dgm:prSet presAssocID="{600F5A5B-171C-4B15-A0F9-D4DDB6AF22D4}" presName="FourConn_3-4" presStyleLbl="fgAccFollowNode1" presStyleIdx="2" presStyleCnt="3">
        <dgm:presLayoutVars>
          <dgm:bulletEnabled val="1"/>
        </dgm:presLayoutVars>
      </dgm:prSet>
      <dgm:spPr/>
    </dgm:pt>
    <dgm:pt modelId="{BF40F46B-A1C3-4899-A9BC-E8B0CE41C7D1}" type="pres">
      <dgm:prSet presAssocID="{600F5A5B-171C-4B15-A0F9-D4DDB6AF22D4}" presName="FourNodes_1_text" presStyleLbl="node1" presStyleIdx="3" presStyleCnt="4">
        <dgm:presLayoutVars>
          <dgm:bulletEnabled val="1"/>
        </dgm:presLayoutVars>
      </dgm:prSet>
      <dgm:spPr/>
    </dgm:pt>
    <dgm:pt modelId="{737B4543-5B96-478D-9B9B-2CD6ACCF8ACA}" type="pres">
      <dgm:prSet presAssocID="{600F5A5B-171C-4B15-A0F9-D4DDB6AF22D4}" presName="FourNodes_2_text" presStyleLbl="node1" presStyleIdx="3" presStyleCnt="4">
        <dgm:presLayoutVars>
          <dgm:bulletEnabled val="1"/>
        </dgm:presLayoutVars>
      </dgm:prSet>
      <dgm:spPr/>
    </dgm:pt>
    <dgm:pt modelId="{C3132F36-AE76-417C-B79E-C5A7E86E6E7E}" type="pres">
      <dgm:prSet presAssocID="{600F5A5B-171C-4B15-A0F9-D4DDB6AF22D4}" presName="FourNodes_3_text" presStyleLbl="node1" presStyleIdx="3" presStyleCnt="4">
        <dgm:presLayoutVars>
          <dgm:bulletEnabled val="1"/>
        </dgm:presLayoutVars>
      </dgm:prSet>
      <dgm:spPr/>
    </dgm:pt>
    <dgm:pt modelId="{7BFB9FCA-849A-4A6D-85E4-31A4F1C6C99B}" type="pres">
      <dgm:prSet presAssocID="{600F5A5B-171C-4B15-A0F9-D4DDB6AF22D4}" presName="FourNodes_4_text" presStyleLbl="node1" presStyleIdx="3" presStyleCnt="4">
        <dgm:presLayoutVars>
          <dgm:bulletEnabled val="1"/>
        </dgm:presLayoutVars>
      </dgm:prSet>
      <dgm:spPr/>
    </dgm:pt>
  </dgm:ptLst>
  <dgm:cxnLst>
    <dgm:cxn modelId="{F2E1FD0B-94A3-4C4A-BC7E-AB2B667FE756}" type="presOf" srcId="{A1DF2073-A577-4A89-B262-6102A8BC62C6}" destId="{8C8B47AE-3F0F-45D8-B13C-76A3595B7170}" srcOrd="0" destOrd="0" presId="urn:microsoft.com/office/officeart/2005/8/layout/vProcess5"/>
    <dgm:cxn modelId="{8852B516-D738-495D-8A03-848CD317FB04}" srcId="{600F5A5B-171C-4B15-A0F9-D4DDB6AF22D4}" destId="{A8E7DE45-0F84-4357-9463-77418F0C2237}" srcOrd="0" destOrd="0" parTransId="{05C41484-8412-468A-9B86-698350D53059}" sibTransId="{CB5B3D08-CD52-47E2-AC82-282F894911A3}"/>
    <dgm:cxn modelId="{751A931E-91FC-44C8-8269-6FC77F685740}" type="presOf" srcId="{AB77143D-DBA7-4A11-B150-C7F5D48A7720}" destId="{2D4FF8C9-12CF-4521-B0B4-BE9D1072F2E6}" srcOrd="0" destOrd="0" presId="urn:microsoft.com/office/officeart/2005/8/layout/vProcess5"/>
    <dgm:cxn modelId="{AFFF6541-6D3D-4F79-96C1-B126AAF39713}" type="presOf" srcId="{81F61DB7-E60C-4867-84B0-57E72480D75C}" destId="{D8C47405-32C4-40A4-B3EF-46EEF55C4585}" srcOrd="0" destOrd="0" presId="urn:microsoft.com/office/officeart/2005/8/layout/vProcess5"/>
    <dgm:cxn modelId="{8E329D49-4A13-4262-BFA7-45184B2B3B95}" type="presOf" srcId="{D30E9F63-5A4A-492D-A675-00D119E55D68}" destId="{C3132F36-AE76-417C-B79E-C5A7E86E6E7E}" srcOrd="1" destOrd="0" presId="urn:microsoft.com/office/officeart/2005/8/layout/vProcess5"/>
    <dgm:cxn modelId="{C533438B-0891-4FA7-913B-80F814A8A8A7}" type="presOf" srcId="{A8E7DE45-0F84-4357-9463-77418F0C2237}" destId="{058A0D06-BE08-4442-9443-C7E7EE7131F8}" srcOrd="0" destOrd="0" presId="urn:microsoft.com/office/officeart/2005/8/layout/vProcess5"/>
    <dgm:cxn modelId="{62364C8F-6FD8-4C8F-AC0E-86B58172941F}" srcId="{600F5A5B-171C-4B15-A0F9-D4DDB6AF22D4}" destId="{AB77143D-DBA7-4A11-B150-C7F5D48A7720}" srcOrd="3" destOrd="0" parTransId="{CEF68DB4-096D-4A2A-8887-52D325FED9B5}" sibTransId="{745CC7BB-B2E1-4153-9B64-FD8A0183F8F0}"/>
    <dgm:cxn modelId="{093F979F-92FB-4F6D-9321-7169D801C95F}" type="presOf" srcId="{D30E9F63-5A4A-492D-A675-00D119E55D68}" destId="{D79BC2C3-FCF7-4700-855F-AB9BA81D03BD}" srcOrd="0" destOrd="0" presId="urn:microsoft.com/office/officeart/2005/8/layout/vProcess5"/>
    <dgm:cxn modelId="{1BE273AA-B18D-4AE0-832F-46D8328E4F5A}" type="presOf" srcId="{4D847B2C-614A-4C4F-AECD-4E6847E4DB94}" destId="{434AE3EA-8B51-47DA-8927-4C9C692F78D6}" srcOrd="0" destOrd="0" presId="urn:microsoft.com/office/officeart/2005/8/layout/vProcess5"/>
    <dgm:cxn modelId="{CE2EC5AE-BB69-4D12-8FA7-D9ED073A6F5C}" srcId="{600F5A5B-171C-4B15-A0F9-D4DDB6AF22D4}" destId="{81F61DB7-E60C-4867-84B0-57E72480D75C}" srcOrd="1" destOrd="0" parTransId="{2D8D14AF-555D-408B-B99C-DA29EAD8C042}" sibTransId="{A1DF2073-A577-4A89-B262-6102A8BC62C6}"/>
    <dgm:cxn modelId="{191BEAC6-9F06-434C-8F44-4236E0DB0250}" type="presOf" srcId="{AB77143D-DBA7-4A11-B150-C7F5D48A7720}" destId="{7BFB9FCA-849A-4A6D-85E4-31A4F1C6C99B}" srcOrd="1" destOrd="0" presId="urn:microsoft.com/office/officeart/2005/8/layout/vProcess5"/>
    <dgm:cxn modelId="{D01480E6-9E1B-40B6-99BE-FC3999B04592}" type="presOf" srcId="{CB5B3D08-CD52-47E2-AC82-282F894911A3}" destId="{109140CD-ED44-4D12-8CFD-5B2ED2DD026D}" srcOrd="0" destOrd="0" presId="urn:microsoft.com/office/officeart/2005/8/layout/vProcess5"/>
    <dgm:cxn modelId="{30D73DF2-D7D3-4DC1-8F13-B58CF30F6C66}" type="presOf" srcId="{600F5A5B-171C-4B15-A0F9-D4DDB6AF22D4}" destId="{5A0398C8-3AF6-4D87-8862-2D284C67805E}" srcOrd="0" destOrd="0" presId="urn:microsoft.com/office/officeart/2005/8/layout/vProcess5"/>
    <dgm:cxn modelId="{969DFAF4-41E8-4C05-BB6A-A2E92E3358D3}" srcId="{600F5A5B-171C-4B15-A0F9-D4DDB6AF22D4}" destId="{D30E9F63-5A4A-492D-A675-00D119E55D68}" srcOrd="2" destOrd="0" parTransId="{1418971C-2DEF-42B8-A6E0-C9FAA6055CF6}" sibTransId="{4D847B2C-614A-4C4F-AECD-4E6847E4DB94}"/>
    <dgm:cxn modelId="{785F41F8-A84C-48D9-8DA1-9109B172EDB3}" type="presOf" srcId="{A8E7DE45-0F84-4357-9463-77418F0C2237}" destId="{BF40F46B-A1C3-4899-A9BC-E8B0CE41C7D1}" srcOrd="1" destOrd="0" presId="urn:microsoft.com/office/officeart/2005/8/layout/vProcess5"/>
    <dgm:cxn modelId="{AB086FFF-4815-443B-8B7F-EEFA78FBEE95}" type="presOf" srcId="{81F61DB7-E60C-4867-84B0-57E72480D75C}" destId="{737B4543-5B96-478D-9B9B-2CD6ACCF8ACA}" srcOrd="1" destOrd="0" presId="urn:microsoft.com/office/officeart/2005/8/layout/vProcess5"/>
    <dgm:cxn modelId="{B0EE32D2-AE06-41BC-AA63-C176D83842E1}" type="presParOf" srcId="{5A0398C8-3AF6-4D87-8862-2D284C67805E}" destId="{89B09215-F8CD-4413-B18D-1DA7870929AB}" srcOrd="0" destOrd="0" presId="urn:microsoft.com/office/officeart/2005/8/layout/vProcess5"/>
    <dgm:cxn modelId="{72CCAE87-C647-43D8-8404-CD7B4D9F0CE9}" type="presParOf" srcId="{5A0398C8-3AF6-4D87-8862-2D284C67805E}" destId="{058A0D06-BE08-4442-9443-C7E7EE7131F8}" srcOrd="1" destOrd="0" presId="urn:microsoft.com/office/officeart/2005/8/layout/vProcess5"/>
    <dgm:cxn modelId="{E781455B-DDAB-48F9-AD35-C9E57CFDB257}" type="presParOf" srcId="{5A0398C8-3AF6-4D87-8862-2D284C67805E}" destId="{D8C47405-32C4-40A4-B3EF-46EEF55C4585}" srcOrd="2" destOrd="0" presId="urn:microsoft.com/office/officeart/2005/8/layout/vProcess5"/>
    <dgm:cxn modelId="{634F06F6-9D5C-4B10-923C-D1EB7BAB1DF9}" type="presParOf" srcId="{5A0398C8-3AF6-4D87-8862-2D284C67805E}" destId="{D79BC2C3-FCF7-4700-855F-AB9BA81D03BD}" srcOrd="3" destOrd="0" presId="urn:microsoft.com/office/officeart/2005/8/layout/vProcess5"/>
    <dgm:cxn modelId="{6FF41824-DB8F-4E56-9939-697265B7CCC0}" type="presParOf" srcId="{5A0398C8-3AF6-4D87-8862-2D284C67805E}" destId="{2D4FF8C9-12CF-4521-B0B4-BE9D1072F2E6}" srcOrd="4" destOrd="0" presId="urn:microsoft.com/office/officeart/2005/8/layout/vProcess5"/>
    <dgm:cxn modelId="{08D02E43-AE9D-4C8E-A325-0818B3CB99FE}" type="presParOf" srcId="{5A0398C8-3AF6-4D87-8862-2D284C67805E}" destId="{109140CD-ED44-4D12-8CFD-5B2ED2DD026D}" srcOrd="5" destOrd="0" presId="urn:microsoft.com/office/officeart/2005/8/layout/vProcess5"/>
    <dgm:cxn modelId="{CF3B1D07-DC11-4208-9F72-C82C5488F491}" type="presParOf" srcId="{5A0398C8-3AF6-4D87-8862-2D284C67805E}" destId="{8C8B47AE-3F0F-45D8-B13C-76A3595B7170}" srcOrd="6" destOrd="0" presId="urn:microsoft.com/office/officeart/2005/8/layout/vProcess5"/>
    <dgm:cxn modelId="{FA3A668D-3C70-4C46-AB51-2E372818B1F6}" type="presParOf" srcId="{5A0398C8-3AF6-4D87-8862-2D284C67805E}" destId="{434AE3EA-8B51-47DA-8927-4C9C692F78D6}" srcOrd="7" destOrd="0" presId="urn:microsoft.com/office/officeart/2005/8/layout/vProcess5"/>
    <dgm:cxn modelId="{53B27040-B208-4950-9954-0B7A80DD10A5}" type="presParOf" srcId="{5A0398C8-3AF6-4D87-8862-2D284C67805E}" destId="{BF40F46B-A1C3-4899-A9BC-E8B0CE41C7D1}" srcOrd="8" destOrd="0" presId="urn:microsoft.com/office/officeart/2005/8/layout/vProcess5"/>
    <dgm:cxn modelId="{E9BE59E1-2DC0-4C4F-80B2-D8E9CD2A442A}" type="presParOf" srcId="{5A0398C8-3AF6-4D87-8862-2D284C67805E}" destId="{737B4543-5B96-478D-9B9B-2CD6ACCF8ACA}" srcOrd="9" destOrd="0" presId="urn:microsoft.com/office/officeart/2005/8/layout/vProcess5"/>
    <dgm:cxn modelId="{DC5400B2-3052-485F-806D-534EC763B943}" type="presParOf" srcId="{5A0398C8-3AF6-4D87-8862-2D284C67805E}" destId="{C3132F36-AE76-417C-B79E-C5A7E86E6E7E}" srcOrd="10" destOrd="0" presId="urn:microsoft.com/office/officeart/2005/8/layout/vProcess5"/>
    <dgm:cxn modelId="{D634DB49-C8D9-4B16-9F4A-E449702E0FFB}" type="presParOf" srcId="{5A0398C8-3AF6-4D87-8862-2D284C67805E}" destId="{7BFB9FCA-849A-4A6D-85E4-31A4F1C6C99B}"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94B2A7-222B-47AE-9991-D03643E96A2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581FE8F-5E33-4016-B3CB-DA8CBD2CF292}">
      <dgm:prSet/>
      <dgm:spPr/>
      <dgm:t>
        <a:bodyPr/>
        <a:lstStyle/>
        <a:p>
          <a:pPr>
            <a:lnSpc>
              <a:spcPct val="100000"/>
            </a:lnSpc>
          </a:pPr>
          <a:r>
            <a:rPr lang="en-US" dirty="0"/>
            <a:t>Collect all possible data from the source, either JC parks and recreation directly, or other regional government offices that can provide required information. </a:t>
          </a:r>
        </a:p>
      </dgm:t>
    </dgm:pt>
    <dgm:pt modelId="{FFD0DDC2-1636-4244-8679-C46FF277EB89}" type="parTrans" cxnId="{6845FDC1-5428-4E0D-9F5A-1A97D5EFFCC4}">
      <dgm:prSet/>
      <dgm:spPr/>
      <dgm:t>
        <a:bodyPr/>
        <a:lstStyle/>
        <a:p>
          <a:endParaRPr lang="en-US"/>
        </a:p>
      </dgm:t>
    </dgm:pt>
    <dgm:pt modelId="{FD053785-9FED-44DA-BEA1-4D46EF305C7E}" type="sibTrans" cxnId="{6845FDC1-5428-4E0D-9F5A-1A97D5EFFCC4}">
      <dgm:prSet/>
      <dgm:spPr/>
      <dgm:t>
        <a:bodyPr/>
        <a:lstStyle/>
        <a:p>
          <a:endParaRPr lang="en-US"/>
        </a:p>
      </dgm:t>
    </dgm:pt>
    <dgm:pt modelId="{4B476F28-7144-468D-BD8C-9D4FEB64C800}">
      <dgm:prSet/>
      <dgm:spPr/>
      <dgm:t>
        <a:bodyPr/>
        <a:lstStyle/>
        <a:p>
          <a:pPr>
            <a:lnSpc>
              <a:spcPct val="100000"/>
            </a:lnSpc>
          </a:pPr>
          <a:r>
            <a:rPr lang="en-US" dirty="0"/>
            <a:t>Create and distribute a survey in an attempt to capture relevant information from regions outside the target region (Washington County in this case). </a:t>
          </a:r>
        </a:p>
      </dgm:t>
    </dgm:pt>
    <dgm:pt modelId="{D2ABD19C-E13B-4F41-BC87-E47F84936B83}" type="parTrans" cxnId="{9C9A3BDF-049E-4DA7-B74E-A70905D8B145}">
      <dgm:prSet/>
      <dgm:spPr/>
      <dgm:t>
        <a:bodyPr/>
        <a:lstStyle/>
        <a:p>
          <a:endParaRPr lang="en-US"/>
        </a:p>
      </dgm:t>
    </dgm:pt>
    <dgm:pt modelId="{2810FDFA-2965-4DD1-B307-BFD23FF1CAD1}" type="sibTrans" cxnId="{9C9A3BDF-049E-4DA7-B74E-A70905D8B145}">
      <dgm:prSet/>
      <dgm:spPr/>
      <dgm:t>
        <a:bodyPr/>
        <a:lstStyle/>
        <a:p>
          <a:endParaRPr lang="en-US"/>
        </a:p>
      </dgm:t>
    </dgm:pt>
    <dgm:pt modelId="{226A761A-0D6B-42B9-ABD6-997CF109D6E5}">
      <dgm:prSet/>
      <dgm:spPr/>
      <dgm:t>
        <a:bodyPr/>
        <a:lstStyle/>
        <a:p>
          <a:pPr>
            <a:lnSpc>
              <a:spcPct val="100000"/>
            </a:lnSpc>
          </a:pPr>
          <a:r>
            <a:rPr lang="en-US" dirty="0"/>
            <a:t>For additional data not obtained through first two means, we refer to secondary studies to obtain data such as a  proportion of non-local visitors.</a:t>
          </a:r>
        </a:p>
      </dgm:t>
    </dgm:pt>
    <dgm:pt modelId="{6931E1B2-D3C4-4CEE-A757-C0475AB015B5}" type="parTrans" cxnId="{1596A38A-2F64-4EDB-8A88-F9278E039875}">
      <dgm:prSet/>
      <dgm:spPr/>
      <dgm:t>
        <a:bodyPr/>
        <a:lstStyle/>
        <a:p>
          <a:endParaRPr lang="en-US"/>
        </a:p>
      </dgm:t>
    </dgm:pt>
    <dgm:pt modelId="{2D9A2E04-28DA-4AA9-A36E-4CBEDF9A1B96}" type="sibTrans" cxnId="{1596A38A-2F64-4EDB-8A88-F9278E039875}">
      <dgm:prSet/>
      <dgm:spPr/>
      <dgm:t>
        <a:bodyPr/>
        <a:lstStyle/>
        <a:p>
          <a:endParaRPr lang="en-US"/>
        </a:p>
      </dgm:t>
    </dgm:pt>
    <dgm:pt modelId="{C5220825-7E54-4341-99E3-4BEA3BCF2776}">
      <dgm:prSet/>
      <dgm:spPr/>
      <dgm:t>
        <a:bodyPr/>
        <a:lstStyle/>
        <a:p>
          <a:pPr>
            <a:lnSpc>
              <a:spcPct val="100000"/>
            </a:lnSpc>
          </a:pPr>
          <a:r>
            <a:rPr lang="en-US" dirty="0"/>
            <a:t>Create estimates for each sport based </a:t>
          </a:r>
          <a:r>
            <a:rPr lang="en-US" dirty="0">
              <a:latin typeface="Trebuchet MS" panose="020B0603020202020204"/>
            </a:rPr>
            <a:t>on</a:t>
          </a:r>
          <a:r>
            <a:rPr lang="en-US" dirty="0"/>
            <a:t> preceding data </a:t>
          </a:r>
        </a:p>
      </dgm:t>
    </dgm:pt>
    <dgm:pt modelId="{5ACAF1CF-8671-4812-AABE-F0F8A0DD7C03}" type="parTrans" cxnId="{C67B57C1-CB27-4837-8246-A97C2F8E7064}">
      <dgm:prSet/>
      <dgm:spPr/>
      <dgm:t>
        <a:bodyPr/>
        <a:lstStyle/>
        <a:p>
          <a:endParaRPr lang="en-US"/>
        </a:p>
      </dgm:t>
    </dgm:pt>
    <dgm:pt modelId="{5D7B391B-1567-43D3-9DE6-B54837C78C3B}" type="sibTrans" cxnId="{C67B57C1-CB27-4837-8246-A97C2F8E7064}">
      <dgm:prSet/>
      <dgm:spPr/>
      <dgm:t>
        <a:bodyPr/>
        <a:lstStyle/>
        <a:p>
          <a:endParaRPr lang="en-US"/>
        </a:p>
      </dgm:t>
    </dgm:pt>
    <dgm:pt modelId="{0D6AF1A7-DB52-4734-B4B6-8DC5B5381528}">
      <dgm:prSet/>
      <dgm:spPr/>
      <dgm:t>
        <a:bodyPr/>
        <a:lstStyle/>
        <a:p>
          <a:pPr>
            <a:lnSpc>
              <a:spcPct val="100000"/>
            </a:lnSpc>
          </a:pPr>
          <a:r>
            <a:rPr lang="en-US" dirty="0"/>
            <a:t>Apply multipliers using RIMS II I/O model table for the region </a:t>
          </a:r>
        </a:p>
      </dgm:t>
    </dgm:pt>
    <dgm:pt modelId="{0EFE6295-620D-4996-9E28-528FB5DD8142}" type="parTrans" cxnId="{8F368D03-1E03-46FA-82B1-A560DC00F3F6}">
      <dgm:prSet/>
      <dgm:spPr/>
      <dgm:t>
        <a:bodyPr/>
        <a:lstStyle/>
        <a:p>
          <a:endParaRPr lang="en-US"/>
        </a:p>
      </dgm:t>
    </dgm:pt>
    <dgm:pt modelId="{7CABCA28-E979-4223-AB9F-2728CA6AD3B3}" type="sibTrans" cxnId="{8F368D03-1E03-46FA-82B1-A560DC00F3F6}">
      <dgm:prSet/>
      <dgm:spPr/>
      <dgm:t>
        <a:bodyPr/>
        <a:lstStyle/>
        <a:p>
          <a:endParaRPr lang="en-US"/>
        </a:p>
      </dgm:t>
    </dgm:pt>
    <dgm:pt modelId="{8B7FC771-5BB5-4803-9505-9A23DFE80EAE}" type="pres">
      <dgm:prSet presAssocID="{2294B2A7-222B-47AE-9991-D03643E96A21}" presName="root" presStyleCnt="0">
        <dgm:presLayoutVars>
          <dgm:dir/>
          <dgm:resizeHandles val="exact"/>
        </dgm:presLayoutVars>
      </dgm:prSet>
      <dgm:spPr/>
    </dgm:pt>
    <dgm:pt modelId="{EF8E5039-1082-4BC2-9C2C-7A64E676B93A}" type="pres">
      <dgm:prSet presAssocID="{0581FE8F-5E33-4016-B3CB-DA8CBD2CF292}" presName="compNode" presStyleCnt="0"/>
      <dgm:spPr/>
    </dgm:pt>
    <dgm:pt modelId="{D25FE112-7872-460D-B557-9E1D8E35BD5C}" type="pres">
      <dgm:prSet presAssocID="{0581FE8F-5E33-4016-B3CB-DA8CBD2CF29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ark scene"/>
        </a:ext>
      </dgm:extLst>
    </dgm:pt>
    <dgm:pt modelId="{B4F03F94-B1A4-439C-83E3-C14CC7074DE3}" type="pres">
      <dgm:prSet presAssocID="{0581FE8F-5E33-4016-B3CB-DA8CBD2CF292}" presName="spaceRect" presStyleCnt="0"/>
      <dgm:spPr/>
    </dgm:pt>
    <dgm:pt modelId="{4A47E5A2-69F3-4CE6-B8C4-F064B2D53DD7}" type="pres">
      <dgm:prSet presAssocID="{0581FE8F-5E33-4016-B3CB-DA8CBD2CF292}" presName="textRect" presStyleLbl="revTx" presStyleIdx="0" presStyleCnt="5">
        <dgm:presLayoutVars>
          <dgm:chMax val="1"/>
          <dgm:chPref val="1"/>
        </dgm:presLayoutVars>
      </dgm:prSet>
      <dgm:spPr/>
    </dgm:pt>
    <dgm:pt modelId="{2652295F-0E49-4989-BF21-73ACA9555EBB}" type="pres">
      <dgm:prSet presAssocID="{FD053785-9FED-44DA-BEA1-4D46EF305C7E}" presName="sibTrans" presStyleCnt="0"/>
      <dgm:spPr/>
    </dgm:pt>
    <dgm:pt modelId="{8077C3E3-B8D8-476B-8899-14611D1D25CC}" type="pres">
      <dgm:prSet presAssocID="{4B476F28-7144-468D-BD8C-9D4FEB64C800}" presName="compNode" presStyleCnt="0"/>
      <dgm:spPr/>
    </dgm:pt>
    <dgm:pt modelId="{42EBC8B3-17BC-4427-821C-DB56BE169782}" type="pres">
      <dgm:prSet presAssocID="{4B476F28-7144-468D-BD8C-9D4FEB64C80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itcoin"/>
        </a:ext>
      </dgm:extLst>
    </dgm:pt>
    <dgm:pt modelId="{01663D8B-E9AF-470A-BCAB-EBB9095E71AC}" type="pres">
      <dgm:prSet presAssocID="{4B476F28-7144-468D-BD8C-9D4FEB64C800}" presName="spaceRect" presStyleCnt="0"/>
      <dgm:spPr/>
    </dgm:pt>
    <dgm:pt modelId="{9FB9DF69-D1B8-487D-AA7E-3C1ECB5F9981}" type="pres">
      <dgm:prSet presAssocID="{4B476F28-7144-468D-BD8C-9D4FEB64C800}" presName="textRect" presStyleLbl="revTx" presStyleIdx="1" presStyleCnt="5">
        <dgm:presLayoutVars>
          <dgm:chMax val="1"/>
          <dgm:chPref val="1"/>
        </dgm:presLayoutVars>
      </dgm:prSet>
      <dgm:spPr/>
    </dgm:pt>
    <dgm:pt modelId="{1FEF31BA-D7D0-4D2F-8586-D64092EAD74A}" type="pres">
      <dgm:prSet presAssocID="{2810FDFA-2965-4DD1-B307-BFD23FF1CAD1}" presName="sibTrans" presStyleCnt="0"/>
      <dgm:spPr/>
    </dgm:pt>
    <dgm:pt modelId="{2FE4A177-9D7A-44C6-80F9-65C51B02ABCB}" type="pres">
      <dgm:prSet presAssocID="{226A761A-0D6B-42B9-ABD6-997CF109D6E5}" presName="compNode" presStyleCnt="0"/>
      <dgm:spPr/>
    </dgm:pt>
    <dgm:pt modelId="{46239B09-0A4D-4914-973E-F228365DA393}" type="pres">
      <dgm:prSet presAssocID="{226A761A-0D6B-42B9-ABD6-997CF109D6E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D547615A-EBA1-4158-8A87-0CC819086851}" type="pres">
      <dgm:prSet presAssocID="{226A761A-0D6B-42B9-ABD6-997CF109D6E5}" presName="spaceRect" presStyleCnt="0"/>
      <dgm:spPr/>
    </dgm:pt>
    <dgm:pt modelId="{A3C9A0BD-D848-4A65-ADC1-801388BBB191}" type="pres">
      <dgm:prSet presAssocID="{226A761A-0D6B-42B9-ABD6-997CF109D6E5}" presName="textRect" presStyleLbl="revTx" presStyleIdx="2" presStyleCnt="5">
        <dgm:presLayoutVars>
          <dgm:chMax val="1"/>
          <dgm:chPref val="1"/>
        </dgm:presLayoutVars>
      </dgm:prSet>
      <dgm:spPr/>
    </dgm:pt>
    <dgm:pt modelId="{E79AE2A7-3ED5-4E4F-8B47-CF14635A794B}" type="pres">
      <dgm:prSet presAssocID="{2D9A2E04-28DA-4AA9-A36E-4CBEDF9A1B96}" presName="sibTrans" presStyleCnt="0"/>
      <dgm:spPr/>
    </dgm:pt>
    <dgm:pt modelId="{181E74CE-6761-469F-BB6A-24338EB24B91}" type="pres">
      <dgm:prSet presAssocID="{C5220825-7E54-4341-99E3-4BEA3BCF2776}" presName="compNode" presStyleCnt="0"/>
      <dgm:spPr/>
    </dgm:pt>
    <dgm:pt modelId="{735901BB-AF86-40B8-B68F-428B6C66A21A}" type="pres">
      <dgm:prSet presAssocID="{C5220825-7E54-4341-99E3-4BEA3BCF277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7E8F53F3-3006-4E1F-BFB4-CDACA39E2E7B}" type="pres">
      <dgm:prSet presAssocID="{C5220825-7E54-4341-99E3-4BEA3BCF2776}" presName="spaceRect" presStyleCnt="0"/>
      <dgm:spPr/>
    </dgm:pt>
    <dgm:pt modelId="{D0CA28BC-AF2B-478C-978B-0FDCB80FDA68}" type="pres">
      <dgm:prSet presAssocID="{C5220825-7E54-4341-99E3-4BEA3BCF2776}" presName="textRect" presStyleLbl="revTx" presStyleIdx="3" presStyleCnt="5">
        <dgm:presLayoutVars>
          <dgm:chMax val="1"/>
          <dgm:chPref val="1"/>
        </dgm:presLayoutVars>
      </dgm:prSet>
      <dgm:spPr/>
    </dgm:pt>
    <dgm:pt modelId="{F570C84C-D724-45E4-A451-23BA057A83BA}" type="pres">
      <dgm:prSet presAssocID="{5D7B391B-1567-43D3-9DE6-B54837C78C3B}" presName="sibTrans" presStyleCnt="0"/>
      <dgm:spPr/>
    </dgm:pt>
    <dgm:pt modelId="{98E8E950-3710-44FF-8AE0-6623438FA6AD}" type="pres">
      <dgm:prSet presAssocID="{0D6AF1A7-DB52-4734-B4B6-8DC5B5381528}" presName="compNode" presStyleCnt="0"/>
      <dgm:spPr/>
    </dgm:pt>
    <dgm:pt modelId="{975977AF-B26B-4A65-9808-A3F3609D7FA7}" type="pres">
      <dgm:prSet presAssocID="{0D6AF1A7-DB52-4734-B4B6-8DC5B538152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rawing Compass"/>
        </a:ext>
      </dgm:extLst>
    </dgm:pt>
    <dgm:pt modelId="{32B78F6E-D05F-44D3-8D0E-955A3E70C539}" type="pres">
      <dgm:prSet presAssocID="{0D6AF1A7-DB52-4734-B4B6-8DC5B5381528}" presName="spaceRect" presStyleCnt="0"/>
      <dgm:spPr/>
    </dgm:pt>
    <dgm:pt modelId="{3BF8CEB9-83C6-428C-8216-EFD418BA2A2F}" type="pres">
      <dgm:prSet presAssocID="{0D6AF1A7-DB52-4734-B4B6-8DC5B5381528}" presName="textRect" presStyleLbl="revTx" presStyleIdx="4" presStyleCnt="5">
        <dgm:presLayoutVars>
          <dgm:chMax val="1"/>
          <dgm:chPref val="1"/>
        </dgm:presLayoutVars>
      </dgm:prSet>
      <dgm:spPr/>
    </dgm:pt>
  </dgm:ptLst>
  <dgm:cxnLst>
    <dgm:cxn modelId="{8F368D03-1E03-46FA-82B1-A560DC00F3F6}" srcId="{2294B2A7-222B-47AE-9991-D03643E96A21}" destId="{0D6AF1A7-DB52-4734-B4B6-8DC5B5381528}" srcOrd="4" destOrd="0" parTransId="{0EFE6295-620D-4996-9E28-528FB5DD8142}" sibTransId="{7CABCA28-E979-4223-AB9F-2728CA6AD3B3}"/>
    <dgm:cxn modelId="{E246B417-7BF6-4F5C-9A24-4FD49A8D03F1}" type="presOf" srcId="{C5220825-7E54-4341-99E3-4BEA3BCF2776}" destId="{D0CA28BC-AF2B-478C-978B-0FDCB80FDA68}" srcOrd="0" destOrd="0" presId="urn:microsoft.com/office/officeart/2018/2/layout/IconLabelList"/>
    <dgm:cxn modelId="{EC353C33-6C5D-4325-A250-F1A2ABDD227B}" type="presOf" srcId="{0581FE8F-5E33-4016-B3CB-DA8CBD2CF292}" destId="{4A47E5A2-69F3-4CE6-B8C4-F064B2D53DD7}" srcOrd="0" destOrd="0" presId="urn:microsoft.com/office/officeart/2018/2/layout/IconLabelList"/>
    <dgm:cxn modelId="{98B59E4F-3B8E-414A-A18E-BF980187AF63}" type="presOf" srcId="{4B476F28-7144-468D-BD8C-9D4FEB64C800}" destId="{9FB9DF69-D1B8-487D-AA7E-3C1ECB5F9981}" srcOrd="0" destOrd="0" presId="urn:microsoft.com/office/officeart/2018/2/layout/IconLabelList"/>
    <dgm:cxn modelId="{ABA4B859-5926-4535-9C33-F6CF00718494}" type="presOf" srcId="{226A761A-0D6B-42B9-ABD6-997CF109D6E5}" destId="{A3C9A0BD-D848-4A65-ADC1-801388BBB191}" srcOrd="0" destOrd="0" presId="urn:microsoft.com/office/officeart/2018/2/layout/IconLabelList"/>
    <dgm:cxn modelId="{42AACA7A-D89A-41DB-97CD-2B971B3BF5E1}" type="presOf" srcId="{0D6AF1A7-DB52-4734-B4B6-8DC5B5381528}" destId="{3BF8CEB9-83C6-428C-8216-EFD418BA2A2F}" srcOrd="0" destOrd="0" presId="urn:microsoft.com/office/officeart/2018/2/layout/IconLabelList"/>
    <dgm:cxn modelId="{1596A38A-2F64-4EDB-8A88-F9278E039875}" srcId="{2294B2A7-222B-47AE-9991-D03643E96A21}" destId="{226A761A-0D6B-42B9-ABD6-997CF109D6E5}" srcOrd="2" destOrd="0" parTransId="{6931E1B2-D3C4-4CEE-A757-C0475AB015B5}" sibTransId="{2D9A2E04-28DA-4AA9-A36E-4CBEDF9A1B96}"/>
    <dgm:cxn modelId="{FA4BF5BC-240C-450F-925A-1AB56D064399}" type="presOf" srcId="{2294B2A7-222B-47AE-9991-D03643E96A21}" destId="{8B7FC771-5BB5-4803-9505-9A23DFE80EAE}" srcOrd="0" destOrd="0" presId="urn:microsoft.com/office/officeart/2018/2/layout/IconLabelList"/>
    <dgm:cxn modelId="{C67B57C1-CB27-4837-8246-A97C2F8E7064}" srcId="{2294B2A7-222B-47AE-9991-D03643E96A21}" destId="{C5220825-7E54-4341-99E3-4BEA3BCF2776}" srcOrd="3" destOrd="0" parTransId="{5ACAF1CF-8671-4812-AABE-F0F8A0DD7C03}" sibTransId="{5D7B391B-1567-43D3-9DE6-B54837C78C3B}"/>
    <dgm:cxn modelId="{6845FDC1-5428-4E0D-9F5A-1A97D5EFFCC4}" srcId="{2294B2A7-222B-47AE-9991-D03643E96A21}" destId="{0581FE8F-5E33-4016-B3CB-DA8CBD2CF292}" srcOrd="0" destOrd="0" parTransId="{FFD0DDC2-1636-4244-8679-C46FF277EB89}" sibTransId="{FD053785-9FED-44DA-BEA1-4D46EF305C7E}"/>
    <dgm:cxn modelId="{9C9A3BDF-049E-4DA7-B74E-A70905D8B145}" srcId="{2294B2A7-222B-47AE-9991-D03643E96A21}" destId="{4B476F28-7144-468D-BD8C-9D4FEB64C800}" srcOrd="1" destOrd="0" parTransId="{D2ABD19C-E13B-4F41-BC87-E47F84936B83}" sibTransId="{2810FDFA-2965-4DD1-B307-BFD23FF1CAD1}"/>
    <dgm:cxn modelId="{ABD0DD18-CA91-404E-ADBD-6DCDFB7886CD}" type="presParOf" srcId="{8B7FC771-5BB5-4803-9505-9A23DFE80EAE}" destId="{EF8E5039-1082-4BC2-9C2C-7A64E676B93A}" srcOrd="0" destOrd="0" presId="urn:microsoft.com/office/officeart/2018/2/layout/IconLabelList"/>
    <dgm:cxn modelId="{3E0AE3D6-4CFB-400F-AC63-F64BD93091AC}" type="presParOf" srcId="{EF8E5039-1082-4BC2-9C2C-7A64E676B93A}" destId="{D25FE112-7872-460D-B557-9E1D8E35BD5C}" srcOrd="0" destOrd="0" presId="urn:microsoft.com/office/officeart/2018/2/layout/IconLabelList"/>
    <dgm:cxn modelId="{C4ACA7D0-7366-4956-A526-010C68A8CFC1}" type="presParOf" srcId="{EF8E5039-1082-4BC2-9C2C-7A64E676B93A}" destId="{B4F03F94-B1A4-439C-83E3-C14CC7074DE3}" srcOrd="1" destOrd="0" presId="urn:microsoft.com/office/officeart/2018/2/layout/IconLabelList"/>
    <dgm:cxn modelId="{EEAC87F1-2652-4B0D-BD8B-DD836C3DAEB5}" type="presParOf" srcId="{EF8E5039-1082-4BC2-9C2C-7A64E676B93A}" destId="{4A47E5A2-69F3-4CE6-B8C4-F064B2D53DD7}" srcOrd="2" destOrd="0" presId="urn:microsoft.com/office/officeart/2018/2/layout/IconLabelList"/>
    <dgm:cxn modelId="{9379AA64-5C6B-4A16-8AF7-CEC9DE0485F7}" type="presParOf" srcId="{8B7FC771-5BB5-4803-9505-9A23DFE80EAE}" destId="{2652295F-0E49-4989-BF21-73ACA9555EBB}" srcOrd="1" destOrd="0" presId="urn:microsoft.com/office/officeart/2018/2/layout/IconLabelList"/>
    <dgm:cxn modelId="{EB33D5EE-0CA3-4AFB-B14A-5C151CEB75CE}" type="presParOf" srcId="{8B7FC771-5BB5-4803-9505-9A23DFE80EAE}" destId="{8077C3E3-B8D8-476B-8899-14611D1D25CC}" srcOrd="2" destOrd="0" presId="urn:microsoft.com/office/officeart/2018/2/layout/IconLabelList"/>
    <dgm:cxn modelId="{5D608BAE-E5A0-4ADA-A611-F29C62D47825}" type="presParOf" srcId="{8077C3E3-B8D8-476B-8899-14611D1D25CC}" destId="{42EBC8B3-17BC-4427-821C-DB56BE169782}" srcOrd="0" destOrd="0" presId="urn:microsoft.com/office/officeart/2018/2/layout/IconLabelList"/>
    <dgm:cxn modelId="{340EEBD7-2491-4DFF-8679-7FB95802202C}" type="presParOf" srcId="{8077C3E3-B8D8-476B-8899-14611D1D25CC}" destId="{01663D8B-E9AF-470A-BCAB-EBB9095E71AC}" srcOrd="1" destOrd="0" presId="urn:microsoft.com/office/officeart/2018/2/layout/IconLabelList"/>
    <dgm:cxn modelId="{26BE9DB7-4639-4AFD-8DCE-A8386B880C2B}" type="presParOf" srcId="{8077C3E3-B8D8-476B-8899-14611D1D25CC}" destId="{9FB9DF69-D1B8-487D-AA7E-3C1ECB5F9981}" srcOrd="2" destOrd="0" presId="urn:microsoft.com/office/officeart/2018/2/layout/IconLabelList"/>
    <dgm:cxn modelId="{F57FAA7B-B886-4119-A32D-5D1EC5DD902D}" type="presParOf" srcId="{8B7FC771-5BB5-4803-9505-9A23DFE80EAE}" destId="{1FEF31BA-D7D0-4D2F-8586-D64092EAD74A}" srcOrd="3" destOrd="0" presId="urn:microsoft.com/office/officeart/2018/2/layout/IconLabelList"/>
    <dgm:cxn modelId="{51BD4586-5F5A-4937-9FFE-89FAA1FD11F7}" type="presParOf" srcId="{8B7FC771-5BB5-4803-9505-9A23DFE80EAE}" destId="{2FE4A177-9D7A-44C6-80F9-65C51B02ABCB}" srcOrd="4" destOrd="0" presId="urn:microsoft.com/office/officeart/2018/2/layout/IconLabelList"/>
    <dgm:cxn modelId="{A0626485-6644-4B9B-A3CC-872975F50BBC}" type="presParOf" srcId="{2FE4A177-9D7A-44C6-80F9-65C51B02ABCB}" destId="{46239B09-0A4D-4914-973E-F228365DA393}" srcOrd="0" destOrd="0" presId="urn:microsoft.com/office/officeart/2018/2/layout/IconLabelList"/>
    <dgm:cxn modelId="{89697EAA-9B23-4D27-95FF-46A824B1DBE9}" type="presParOf" srcId="{2FE4A177-9D7A-44C6-80F9-65C51B02ABCB}" destId="{D547615A-EBA1-4158-8A87-0CC819086851}" srcOrd="1" destOrd="0" presId="urn:microsoft.com/office/officeart/2018/2/layout/IconLabelList"/>
    <dgm:cxn modelId="{60CDC537-BC0A-4653-8EFF-201352DB4991}" type="presParOf" srcId="{2FE4A177-9D7A-44C6-80F9-65C51B02ABCB}" destId="{A3C9A0BD-D848-4A65-ADC1-801388BBB191}" srcOrd="2" destOrd="0" presId="urn:microsoft.com/office/officeart/2018/2/layout/IconLabelList"/>
    <dgm:cxn modelId="{92D25CBC-5D7C-4EE7-B516-76BE7D60D596}" type="presParOf" srcId="{8B7FC771-5BB5-4803-9505-9A23DFE80EAE}" destId="{E79AE2A7-3ED5-4E4F-8B47-CF14635A794B}" srcOrd="5" destOrd="0" presId="urn:microsoft.com/office/officeart/2018/2/layout/IconLabelList"/>
    <dgm:cxn modelId="{1CA258A9-B7CC-4A8D-B5DA-EB3CE41BA199}" type="presParOf" srcId="{8B7FC771-5BB5-4803-9505-9A23DFE80EAE}" destId="{181E74CE-6761-469F-BB6A-24338EB24B91}" srcOrd="6" destOrd="0" presId="urn:microsoft.com/office/officeart/2018/2/layout/IconLabelList"/>
    <dgm:cxn modelId="{A3C35959-87FD-4539-A21B-828FD7217D77}" type="presParOf" srcId="{181E74CE-6761-469F-BB6A-24338EB24B91}" destId="{735901BB-AF86-40B8-B68F-428B6C66A21A}" srcOrd="0" destOrd="0" presId="urn:microsoft.com/office/officeart/2018/2/layout/IconLabelList"/>
    <dgm:cxn modelId="{24533F90-7F6E-436E-9652-B5315B081D3F}" type="presParOf" srcId="{181E74CE-6761-469F-BB6A-24338EB24B91}" destId="{7E8F53F3-3006-4E1F-BFB4-CDACA39E2E7B}" srcOrd="1" destOrd="0" presId="urn:microsoft.com/office/officeart/2018/2/layout/IconLabelList"/>
    <dgm:cxn modelId="{0F1E7BBF-239A-43DE-BF63-3B8CF0EE0E2D}" type="presParOf" srcId="{181E74CE-6761-469F-BB6A-24338EB24B91}" destId="{D0CA28BC-AF2B-478C-978B-0FDCB80FDA68}" srcOrd="2" destOrd="0" presId="urn:microsoft.com/office/officeart/2018/2/layout/IconLabelList"/>
    <dgm:cxn modelId="{83608B14-A32D-4EA3-AC88-8186ACF0EB44}" type="presParOf" srcId="{8B7FC771-5BB5-4803-9505-9A23DFE80EAE}" destId="{F570C84C-D724-45E4-A451-23BA057A83BA}" srcOrd="7" destOrd="0" presId="urn:microsoft.com/office/officeart/2018/2/layout/IconLabelList"/>
    <dgm:cxn modelId="{ACA02BD2-E4D0-4B49-8BC7-D36ED14BD882}" type="presParOf" srcId="{8B7FC771-5BB5-4803-9505-9A23DFE80EAE}" destId="{98E8E950-3710-44FF-8AE0-6623438FA6AD}" srcOrd="8" destOrd="0" presId="urn:microsoft.com/office/officeart/2018/2/layout/IconLabelList"/>
    <dgm:cxn modelId="{BA7739BA-0076-4F14-9A30-4A484A793DC8}" type="presParOf" srcId="{98E8E950-3710-44FF-8AE0-6623438FA6AD}" destId="{975977AF-B26B-4A65-9808-A3F3609D7FA7}" srcOrd="0" destOrd="0" presId="urn:microsoft.com/office/officeart/2018/2/layout/IconLabelList"/>
    <dgm:cxn modelId="{71402396-3773-4438-A776-14EE2B5916B3}" type="presParOf" srcId="{98E8E950-3710-44FF-8AE0-6623438FA6AD}" destId="{32B78F6E-D05F-44D3-8D0E-955A3E70C539}" srcOrd="1" destOrd="0" presId="urn:microsoft.com/office/officeart/2018/2/layout/IconLabelList"/>
    <dgm:cxn modelId="{C6AADB3C-97D1-406F-AD14-A9A62F07821C}" type="presParOf" srcId="{98E8E950-3710-44FF-8AE0-6623438FA6AD}" destId="{3BF8CEB9-83C6-428C-8216-EFD418BA2A2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1F08EA-B58E-4913-A349-58C5853B9CA9}"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23C03AA6-9A27-41A0-BEE5-6A8DE0E7881A}">
      <dgm:prSet/>
      <dgm:spPr/>
      <dgm:t>
        <a:bodyPr/>
        <a:lstStyle/>
        <a:p>
          <a:r>
            <a:rPr lang="en-US"/>
            <a:t>RIMS II is a backward-linkage model </a:t>
          </a:r>
        </a:p>
      </dgm:t>
    </dgm:pt>
    <dgm:pt modelId="{4EB20CB0-7E36-4EB5-8E4D-A8A3E18A4FF8}" type="parTrans" cxnId="{24FA445E-3D63-4B17-B65E-2B2522903F97}">
      <dgm:prSet/>
      <dgm:spPr/>
      <dgm:t>
        <a:bodyPr/>
        <a:lstStyle/>
        <a:p>
          <a:endParaRPr lang="en-US"/>
        </a:p>
      </dgm:t>
    </dgm:pt>
    <dgm:pt modelId="{BA5441B8-3749-48E9-942C-03E9E9E46086}" type="sibTrans" cxnId="{24FA445E-3D63-4B17-B65E-2B2522903F97}">
      <dgm:prSet/>
      <dgm:spPr/>
      <dgm:t>
        <a:bodyPr/>
        <a:lstStyle/>
        <a:p>
          <a:endParaRPr lang="en-US"/>
        </a:p>
      </dgm:t>
    </dgm:pt>
    <dgm:pt modelId="{59BBE309-1668-4473-8999-3B6B572D446F}">
      <dgm:prSet/>
      <dgm:spPr/>
      <dgm:t>
        <a:bodyPr/>
        <a:lstStyle/>
        <a:p>
          <a:r>
            <a:rPr lang="en-US"/>
            <a:t>RIMS II uses Fixed Purchase Patterns </a:t>
          </a:r>
        </a:p>
      </dgm:t>
    </dgm:pt>
    <dgm:pt modelId="{1B331409-8E0E-4AEE-BFBA-0F63F34CA087}" type="parTrans" cxnId="{E11589DF-046E-471B-872A-5287DF8532CF}">
      <dgm:prSet/>
      <dgm:spPr/>
      <dgm:t>
        <a:bodyPr/>
        <a:lstStyle/>
        <a:p>
          <a:endParaRPr lang="en-US"/>
        </a:p>
      </dgm:t>
    </dgm:pt>
    <dgm:pt modelId="{01637948-39E4-443E-B7D4-C92D4CAD4F45}" type="sibTrans" cxnId="{E11589DF-046E-471B-872A-5287DF8532CF}">
      <dgm:prSet/>
      <dgm:spPr/>
      <dgm:t>
        <a:bodyPr/>
        <a:lstStyle/>
        <a:p>
          <a:endParaRPr lang="en-US"/>
        </a:p>
      </dgm:t>
    </dgm:pt>
    <dgm:pt modelId="{4C74C690-1762-42A2-916B-4A21FA4FB712}">
      <dgm:prSet/>
      <dgm:spPr/>
      <dgm:t>
        <a:bodyPr/>
        <a:lstStyle/>
        <a:p>
          <a:r>
            <a:rPr lang="en-US"/>
            <a:t>Industry Homogeneity </a:t>
          </a:r>
        </a:p>
      </dgm:t>
    </dgm:pt>
    <dgm:pt modelId="{A87A8331-B613-4883-92D9-ABC46C7E9BB2}" type="parTrans" cxnId="{58EBF64D-7060-40D3-AB08-597994400FC9}">
      <dgm:prSet/>
      <dgm:spPr/>
      <dgm:t>
        <a:bodyPr/>
        <a:lstStyle/>
        <a:p>
          <a:endParaRPr lang="en-US"/>
        </a:p>
      </dgm:t>
    </dgm:pt>
    <dgm:pt modelId="{882F3AED-06C3-4E1A-8EC4-6CA71480BAF4}" type="sibTrans" cxnId="{58EBF64D-7060-40D3-AB08-597994400FC9}">
      <dgm:prSet/>
      <dgm:spPr/>
      <dgm:t>
        <a:bodyPr/>
        <a:lstStyle/>
        <a:p>
          <a:endParaRPr lang="en-US"/>
        </a:p>
      </dgm:t>
    </dgm:pt>
    <dgm:pt modelId="{409AD5C5-25B3-4CC2-A0DA-4F2A09ED3AB2}">
      <dgm:prSet/>
      <dgm:spPr/>
      <dgm:t>
        <a:bodyPr/>
        <a:lstStyle/>
        <a:p>
          <a:r>
            <a:rPr lang="en-US"/>
            <a:t>No Supply Constraints </a:t>
          </a:r>
        </a:p>
      </dgm:t>
    </dgm:pt>
    <dgm:pt modelId="{9F2A4A05-0D13-43F8-803F-930D8619D102}" type="parTrans" cxnId="{E6C66861-231A-453D-A4E6-B7FDDFA1E048}">
      <dgm:prSet/>
      <dgm:spPr/>
      <dgm:t>
        <a:bodyPr/>
        <a:lstStyle/>
        <a:p>
          <a:endParaRPr lang="en-US"/>
        </a:p>
      </dgm:t>
    </dgm:pt>
    <dgm:pt modelId="{594392C5-71CD-4FAD-8094-24781A6C876F}" type="sibTrans" cxnId="{E6C66861-231A-453D-A4E6-B7FDDFA1E048}">
      <dgm:prSet/>
      <dgm:spPr/>
      <dgm:t>
        <a:bodyPr/>
        <a:lstStyle/>
        <a:p>
          <a:endParaRPr lang="en-US"/>
        </a:p>
      </dgm:t>
    </dgm:pt>
    <dgm:pt modelId="{9F878606-35A5-4AB6-9763-96F3FB947264}">
      <dgm:prSet/>
      <dgm:spPr/>
      <dgm:t>
        <a:bodyPr/>
        <a:lstStyle/>
        <a:p>
          <a:r>
            <a:rPr lang="en-US"/>
            <a:t>No Regional Feedback </a:t>
          </a:r>
        </a:p>
      </dgm:t>
    </dgm:pt>
    <dgm:pt modelId="{E02F06D7-F3C2-4DF8-863C-12E8EEAA8649}" type="parTrans" cxnId="{D5FBF9A4-7A5E-4CD7-B151-FFE8379F0D70}">
      <dgm:prSet/>
      <dgm:spPr/>
      <dgm:t>
        <a:bodyPr/>
        <a:lstStyle/>
        <a:p>
          <a:endParaRPr lang="en-US"/>
        </a:p>
      </dgm:t>
    </dgm:pt>
    <dgm:pt modelId="{DC55F540-2135-4C93-8677-18556B797CEE}" type="sibTrans" cxnId="{D5FBF9A4-7A5E-4CD7-B151-FFE8379F0D70}">
      <dgm:prSet/>
      <dgm:spPr/>
      <dgm:t>
        <a:bodyPr/>
        <a:lstStyle/>
        <a:p>
          <a:endParaRPr lang="en-US"/>
        </a:p>
      </dgm:t>
    </dgm:pt>
    <dgm:pt modelId="{8866B9B2-D8B1-4168-9001-7F683E697B6E}">
      <dgm:prSet/>
      <dgm:spPr/>
      <dgm:t>
        <a:bodyPr/>
        <a:lstStyle/>
        <a:p>
          <a:r>
            <a:rPr lang="en-US"/>
            <a:t>No Time Dimension</a:t>
          </a:r>
        </a:p>
      </dgm:t>
    </dgm:pt>
    <dgm:pt modelId="{102CF63F-F337-44DD-80DE-21C05D8C218A}" type="parTrans" cxnId="{4FAEDC33-CCB7-4046-9122-10C74438ED39}">
      <dgm:prSet/>
      <dgm:spPr/>
      <dgm:t>
        <a:bodyPr/>
        <a:lstStyle/>
        <a:p>
          <a:endParaRPr lang="en-US"/>
        </a:p>
      </dgm:t>
    </dgm:pt>
    <dgm:pt modelId="{6E9B08F8-D6AE-429D-BABC-F216FED725D4}" type="sibTrans" cxnId="{4FAEDC33-CCB7-4046-9122-10C74438ED39}">
      <dgm:prSet/>
      <dgm:spPr/>
      <dgm:t>
        <a:bodyPr/>
        <a:lstStyle/>
        <a:p>
          <a:endParaRPr lang="en-US"/>
        </a:p>
      </dgm:t>
    </dgm:pt>
    <dgm:pt modelId="{90B87C2A-B802-4465-8AFB-AF65B660A0DD}" type="pres">
      <dgm:prSet presAssocID="{561F08EA-B58E-4913-A349-58C5853B9CA9}" presName="diagram" presStyleCnt="0">
        <dgm:presLayoutVars>
          <dgm:dir/>
          <dgm:resizeHandles val="exact"/>
        </dgm:presLayoutVars>
      </dgm:prSet>
      <dgm:spPr/>
    </dgm:pt>
    <dgm:pt modelId="{3916D363-4447-4A86-9669-1C867D6D4AF9}" type="pres">
      <dgm:prSet presAssocID="{23C03AA6-9A27-41A0-BEE5-6A8DE0E7881A}" presName="node" presStyleLbl="node1" presStyleIdx="0" presStyleCnt="6">
        <dgm:presLayoutVars>
          <dgm:bulletEnabled val="1"/>
        </dgm:presLayoutVars>
      </dgm:prSet>
      <dgm:spPr/>
    </dgm:pt>
    <dgm:pt modelId="{F58C9478-7CA2-42C3-B0A4-FC3C5BA0C8E6}" type="pres">
      <dgm:prSet presAssocID="{BA5441B8-3749-48E9-942C-03E9E9E46086}" presName="sibTrans" presStyleCnt="0"/>
      <dgm:spPr/>
    </dgm:pt>
    <dgm:pt modelId="{6675F9BC-D863-43A9-8CC9-2C91F1D075EE}" type="pres">
      <dgm:prSet presAssocID="{59BBE309-1668-4473-8999-3B6B572D446F}" presName="node" presStyleLbl="node1" presStyleIdx="1" presStyleCnt="6">
        <dgm:presLayoutVars>
          <dgm:bulletEnabled val="1"/>
        </dgm:presLayoutVars>
      </dgm:prSet>
      <dgm:spPr/>
    </dgm:pt>
    <dgm:pt modelId="{E4BAAAF6-ACBC-4C02-BA99-52E5D63C83A2}" type="pres">
      <dgm:prSet presAssocID="{01637948-39E4-443E-B7D4-C92D4CAD4F45}" presName="sibTrans" presStyleCnt="0"/>
      <dgm:spPr/>
    </dgm:pt>
    <dgm:pt modelId="{F794A59A-6EDF-46C2-9C26-22565C8EE2A0}" type="pres">
      <dgm:prSet presAssocID="{4C74C690-1762-42A2-916B-4A21FA4FB712}" presName="node" presStyleLbl="node1" presStyleIdx="2" presStyleCnt="6">
        <dgm:presLayoutVars>
          <dgm:bulletEnabled val="1"/>
        </dgm:presLayoutVars>
      </dgm:prSet>
      <dgm:spPr/>
    </dgm:pt>
    <dgm:pt modelId="{B2167A89-6FC7-4C2A-AB39-84E54F5F3694}" type="pres">
      <dgm:prSet presAssocID="{882F3AED-06C3-4E1A-8EC4-6CA71480BAF4}" presName="sibTrans" presStyleCnt="0"/>
      <dgm:spPr/>
    </dgm:pt>
    <dgm:pt modelId="{123C3175-4E50-4A8B-8086-78C7A35F7C9F}" type="pres">
      <dgm:prSet presAssocID="{409AD5C5-25B3-4CC2-A0DA-4F2A09ED3AB2}" presName="node" presStyleLbl="node1" presStyleIdx="3" presStyleCnt="6">
        <dgm:presLayoutVars>
          <dgm:bulletEnabled val="1"/>
        </dgm:presLayoutVars>
      </dgm:prSet>
      <dgm:spPr/>
    </dgm:pt>
    <dgm:pt modelId="{AD4D7689-003C-47FE-A0C5-B49C38EC3E14}" type="pres">
      <dgm:prSet presAssocID="{594392C5-71CD-4FAD-8094-24781A6C876F}" presName="sibTrans" presStyleCnt="0"/>
      <dgm:spPr/>
    </dgm:pt>
    <dgm:pt modelId="{F3744EBD-A39C-4046-A147-CC482568A6D3}" type="pres">
      <dgm:prSet presAssocID="{9F878606-35A5-4AB6-9763-96F3FB947264}" presName="node" presStyleLbl="node1" presStyleIdx="4" presStyleCnt="6">
        <dgm:presLayoutVars>
          <dgm:bulletEnabled val="1"/>
        </dgm:presLayoutVars>
      </dgm:prSet>
      <dgm:spPr/>
    </dgm:pt>
    <dgm:pt modelId="{7369B2D5-2C0C-4530-A186-6374E21D4710}" type="pres">
      <dgm:prSet presAssocID="{DC55F540-2135-4C93-8677-18556B797CEE}" presName="sibTrans" presStyleCnt="0"/>
      <dgm:spPr/>
    </dgm:pt>
    <dgm:pt modelId="{BB476697-311B-457D-B6F2-A8556FBC4626}" type="pres">
      <dgm:prSet presAssocID="{8866B9B2-D8B1-4168-9001-7F683E697B6E}" presName="node" presStyleLbl="node1" presStyleIdx="5" presStyleCnt="6">
        <dgm:presLayoutVars>
          <dgm:bulletEnabled val="1"/>
        </dgm:presLayoutVars>
      </dgm:prSet>
      <dgm:spPr/>
    </dgm:pt>
  </dgm:ptLst>
  <dgm:cxnLst>
    <dgm:cxn modelId="{D4C44F18-FCB3-4327-ADE4-A7B77A80F82E}" type="presOf" srcId="{409AD5C5-25B3-4CC2-A0DA-4F2A09ED3AB2}" destId="{123C3175-4E50-4A8B-8086-78C7A35F7C9F}" srcOrd="0" destOrd="0" presId="urn:microsoft.com/office/officeart/2005/8/layout/default"/>
    <dgm:cxn modelId="{4FAEDC33-CCB7-4046-9122-10C74438ED39}" srcId="{561F08EA-B58E-4913-A349-58C5853B9CA9}" destId="{8866B9B2-D8B1-4168-9001-7F683E697B6E}" srcOrd="5" destOrd="0" parTransId="{102CF63F-F337-44DD-80DE-21C05D8C218A}" sibTransId="{6E9B08F8-D6AE-429D-BABC-F216FED725D4}"/>
    <dgm:cxn modelId="{24FA445E-3D63-4B17-B65E-2B2522903F97}" srcId="{561F08EA-B58E-4913-A349-58C5853B9CA9}" destId="{23C03AA6-9A27-41A0-BEE5-6A8DE0E7881A}" srcOrd="0" destOrd="0" parTransId="{4EB20CB0-7E36-4EB5-8E4D-A8A3E18A4FF8}" sibTransId="{BA5441B8-3749-48E9-942C-03E9E9E46086}"/>
    <dgm:cxn modelId="{E6C66861-231A-453D-A4E6-B7FDDFA1E048}" srcId="{561F08EA-B58E-4913-A349-58C5853B9CA9}" destId="{409AD5C5-25B3-4CC2-A0DA-4F2A09ED3AB2}" srcOrd="3" destOrd="0" parTransId="{9F2A4A05-0D13-43F8-803F-930D8619D102}" sibTransId="{594392C5-71CD-4FAD-8094-24781A6C876F}"/>
    <dgm:cxn modelId="{09BB4143-9951-4565-880B-BE8326A292A7}" type="presOf" srcId="{59BBE309-1668-4473-8999-3B6B572D446F}" destId="{6675F9BC-D863-43A9-8CC9-2C91F1D075EE}" srcOrd="0" destOrd="0" presId="urn:microsoft.com/office/officeart/2005/8/layout/default"/>
    <dgm:cxn modelId="{58EBF64D-7060-40D3-AB08-597994400FC9}" srcId="{561F08EA-B58E-4913-A349-58C5853B9CA9}" destId="{4C74C690-1762-42A2-916B-4A21FA4FB712}" srcOrd="2" destOrd="0" parTransId="{A87A8331-B613-4883-92D9-ABC46C7E9BB2}" sibTransId="{882F3AED-06C3-4E1A-8EC4-6CA71480BAF4}"/>
    <dgm:cxn modelId="{849F438A-7261-4EA9-A33C-43462AE961F2}" type="presOf" srcId="{8866B9B2-D8B1-4168-9001-7F683E697B6E}" destId="{BB476697-311B-457D-B6F2-A8556FBC4626}" srcOrd="0" destOrd="0" presId="urn:microsoft.com/office/officeart/2005/8/layout/default"/>
    <dgm:cxn modelId="{D5FBF9A4-7A5E-4CD7-B151-FFE8379F0D70}" srcId="{561F08EA-B58E-4913-A349-58C5853B9CA9}" destId="{9F878606-35A5-4AB6-9763-96F3FB947264}" srcOrd="4" destOrd="0" parTransId="{E02F06D7-F3C2-4DF8-863C-12E8EEAA8649}" sibTransId="{DC55F540-2135-4C93-8677-18556B797CEE}"/>
    <dgm:cxn modelId="{E97161A8-9D40-43F9-94BD-81B444166A12}" type="presOf" srcId="{561F08EA-B58E-4913-A349-58C5853B9CA9}" destId="{90B87C2A-B802-4465-8AFB-AF65B660A0DD}" srcOrd="0" destOrd="0" presId="urn:microsoft.com/office/officeart/2005/8/layout/default"/>
    <dgm:cxn modelId="{9DF60ABB-409A-4A7D-A4A8-E94B7C29490F}" type="presOf" srcId="{23C03AA6-9A27-41A0-BEE5-6A8DE0E7881A}" destId="{3916D363-4447-4A86-9669-1C867D6D4AF9}" srcOrd="0" destOrd="0" presId="urn:microsoft.com/office/officeart/2005/8/layout/default"/>
    <dgm:cxn modelId="{27455EC2-BCDA-4533-AE41-22EAA6CDB5E3}" type="presOf" srcId="{9F878606-35A5-4AB6-9763-96F3FB947264}" destId="{F3744EBD-A39C-4046-A147-CC482568A6D3}" srcOrd="0" destOrd="0" presId="urn:microsoft.com/office/officeart/2005/8/layout/default"/>
    <dgm:cxn modelId="{E11589DF-046E-471B-872A-5287DF8532CF}" srcId="{561F08EA-B58E-4913-A349-58C5853B9CA9}" destId="{59BBE309-1668-4473-8999-3B6B572D446F}" srcOrd="1" destOrd="0" parTransId="{1B331409-8E0E-4AEE-BFBA-0F63F34CA087}" sibTransId="{01637948-39E4-443E-B7D4-C92D4CAD4F45}"/>
    <dgm:cxn modelId="{BEE945E9-54DD-43DC-95E4-BBCCDD9193B9}" type="presOf" srcId="{4C74C690-1762-42A2-916B-4A21FA4FB712}" destId="{F794A59A-6EDF-46C2-9C26-22565C8EE2A0}" srcOrd="0" destOrd="0" presId="urn:microsoft.com/office/officeart/2005/8/layout/default"/>
    <dgm:cxn modelId="{74378C0F-945D-4FC4-9A64-F5C6312B5F26}" type="presParOf" srcId="{90B87C2A-B802-4465-8AFB-AF65B660A0DD}" destId="{3916D363-4447-4A86-9669-1C867D6D4AF9}" srcOrd="0" destOrd="0" presId="urn:microsoft.com/office/officeart/2005/8/layout/default"/>
    <dgm:cxn modelId="{1B323394-06D0-4B6B-AA90-D06E78EE6441}" type="presParOf" srcId="{90B87C2A-B802-4465-8AFB-AF65B660A0DD}" destId="{F58C9478-7CA2-42C3-B0A4-FC3C5BA0C8E6}" srcOrd="1" destOrd="0" presId="urn:microsoft.com/office/officeart/2005/8/layout/default"/>
    <dgm:cxn modelId="{D9A10F15-8EC8-41C0-A659-55485770153B}" type="presParOf" srcId="{90B87C2A-B802-4465-8AFB-AF65B660A0DD}" destId="{6675F9BC-D863-43A9-8CC9-2C91F1D075EE}" srcOrd="2" destOrd="0" presId="urn:microsoft.com/office/officeart/2005/8/layout/default"/>
    <dgm:cxn modelId="{A12BC26E-0AC9-4BFC-A4C8-48077455ABA3}" type="presParOf" srcId="{90B87C2A-B802-4465-8AFB-AF65B660A0DD}" destId="{E4BAAAF6-ACBC-4C02-BA99-52E5D63C83A2}" srcOrd="3" destOrd="0" presId="urn:microsoft.com/office/officeart/2005/8/layout/default"/>
    <dgm:cxn modelId="{EB4EA79F-B13E-481A-8F77-8F9DC5FF46C8}" type="presParOf" srcId="{90B87C2A-B802-4465-8AFB-AF65B660A0DD}" destId="{F794A59A-6EDF-46C2-9C26-22565C8EE2A0}" srcOrd="4" destOrd="0" presId="urn:microsoft.com/office/officeart/2005/8/layout/default"/>
    <dgm:cxn modelId="{A02D4745-480F-458C-801E-1B1D2C5387B2}" type="presParOf" srcId="{90B87C2A-B802-4465-8AFB-AF65B660A0DD}" destId="{B2167A89-6FC7-4C2A-AB39-84E54F5F3694}" srcOrd="5" destOrd="0" presId="urn:microsoft.com/office/officeart/2005/8/layout/default"/>
    <dgm:cxn modelId="{A14676A4-7928-4E29-836C-4517C8DC93A9}" type="presParOf" srcId="{90B87C2A-B802-4465-8AFB-AF65B660A0DD}" destId="{123C3175-4E50-4A8B-8086-78C7A35F7C9F}" srcOrd="6" destOrd="0" presId="urn:microsoft.com/office/officeart/2005/8/layout/default"/>
    <dgm:cxn modelId="{A3E7B676-D74D-4BA8-80AC-D97F84F84FC4}" type="presParOf" srcId="{90B87C2A-B802-4465-8AFB-AF65B660A0DD}" destId="{AD4D7689-003C-47FE-A0C5-B49C38EC3E14}" srcOrd="7" destOrd="0" presId="urn:microsoft.com/office/officeart/2005/8/layout/default"/>
    <dgm:cxn modelId="{B63C60C4-87D6-49DC-BF8E-97F65DB70DBB}" type="presParOf" srcId="{90B87C2A-B802-4465-8AFB-AF65B660A0DD}" destId="{F3744EBD-A39C-4046-A147-CC482568A6D3}" srcOrd="8" destOrd="0" presId="urn:microsoft.com/office/officeart/2005/8/layout/default"/>
    <dgm:cxn modelId="{1FBA510E-3313-4E25-BF61-887F2BC9F07D}" type="presParOf" srcId="{90B87C2A-B802-4465-8AFB-AF65B660A0DD}" destId="{7369B2D5-2C0C-4530-A186-6374E21D4710}" srcOrd="9" destOrd="0" presId="urn:microsoft.com/office/officeart/2005/8/layout/default"/>
    <dgm:cxn modelId="{C70A0484-07BF-437A-8F03-F985CE1BDF81}" type="presParOf" srcId="{90B87C2A-B802-4465-8AFB-AF65B660A0DD}" destId="{BB476697-311B-457D-B6F2-A8556FBC4626}"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F6C4CB4-DE87-4648-8B92-8A83B1F204A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89F7292-0756-4F56-AE61-69A43A086A91}">
      <dgm:prSet/>
      <dgm:spPr/>
      <dgm:t>
        <a:bodyPr/>
        <a:lstStyle/>
        <a:p>
          <a:r>
            <a:rPr lang="en-US"/>
            <a:t>RIMS II multipliers are only meaningful for analyzing the impact of final demand change in a region. Final demand consist of a number of different types of transactions:</a:t>
          </a:r>
        </a:p>
      </dgm:t>
    </dgm:pt>
    <dgm:pt modelId="{4CB249DF-897F-4669-8CD5-DF4D5F570F4D}" type="parTrans" cxnId="{9CCAF727-7516-4B4F-91AB-A6200C8CAABC}">
      <dgm:prSet/>
      <dgm:spPr/>
      <dgm:t>
        <a:bodyPr/>
        <a:lstStyle/>
        <a:p>
          <a:endParaRPr lang="en-US"/>
        </a:p>
      </dgm:t>
    </dgm:pt>
    <dgm:pt modelId="{DA179AA2-69C0-45B4-B273-ABBB0F212A2A}" type="sibTrans" cxnId="{9CCAF727-7516-4B4F-91AB-A6200C8CAABC}">
      <dgm:prSet/>
      <dgm:spPr/>
      <dgm:t>
        <a:bodyPr/>
        <a:lstStyle/>
        <a:p>
          <a:endParaRPr lang="en-US"/>
        </a:p>
      </dgm:t>
    </dgm:pt>
    <dgm:pt modelId="{C3F4A38F-01B9-48B2-8936-6B852FB8FE13}">
      <dgm:prSet/>
      <dgm:spPr/>
      <dgm:t>
        <a:bodyPr/>
        <a:lstStyle/>
        <a:p>
          <a:r>
            <a:rPr lang="en-US"/>
            <a:t>Purchases by consumers outside the region </a:t>
          </a:r>
        </a:p>
      </dgm:t>
    </dgm:pt>
    <dgm:pt modelId="{26B39E47-03DA-4D14-93CD-F6821FCB0956}" type="parTrans" cxnId="{DD7ACCD5-E12F-460C-83F3-2EAA27F002B1}">
      <dgm:prSet/>
      <dgm:spPr/>
      <dgm:t>
        <a:bodyPr/>
        <a:lstStyle/>
        <a:p>
          <a:endParaRPr lang="en-US"/>
        </a:p>
      </dgm:t>
    </dgm:pt>
    <dgm:pt modelId="{DE269E78-10E5-41E1-BE2D-CA620CC066DF}" type="sibTrans" cxnId="{DD7ACCD5-E12F-460C-83F3-2EAA27F002B1}">
      <dgm:prSet/>
      <dgm:spPr/>
      <dgm:t>
        <a:bodyPr/>
        <a:lstStyle/>
        <a:p>
          <a:endParaRPr lang="en-US"/>
        </a:p>
      </dgm:t>
    </dgm:pt>
    <dgm:pt modelId="{4921CD2F-66CA-4EF0-A4C6-B08D2D4D2BB4}">
      <dgm:prSet/>
      <dgm:spPr/>
      <dgm:t>
        <a:bodyPr/>
        <a:lstStyle/>
        <a:p>
          <a:r>
            <a:rPr lang="en-US"/>
            <a:t>Investment in new buildings, equipment, and software</a:t>
          </a:r>
        </a:p>
      </dgm:t>
    </dgm:pt>
    <dgm:pt modelId="{6004E3EF-FE46-45B0-9E7B-DA8A1CC1D9F2}" type="parTrans" cxnId="{A5E3E528-E046-4E21-9FCB-84974EA07B65}">
      <dgm:prSet/>
      <dgm:spPr/>
      <dgm:t>
        <a:bodyPr/>
        <a:lstStyle/>
        <a:p>
          <a:endParaRPr lang="en-US"/>
        </a:p>
      </dgm:t>
    </dgm:pt>
    <dgm:pt modelId="{A0D62DA7-70AE-4541-8533-C0600C7A42C1}" type="sibTrans" cxnId="{A5E3E528-E046-4E21-9FCB-84974EA07B65}">
      <dgm:prSet/>
      <dgm:spPr/>
      <dgm:t>
        <a:bodyPr/>
        <a:lstStyle/>
        <a:p>
          <a:endParaRPr lang="en-US"/>
        </a:p>
      </dgm:t>
    </dgm:pt>
    <dgm:pt modelId="{4D88877F-559D-4A40-8B4E-962EF076D8E0}">
      <dgm:prSet/>
      <dgm:spPr/>
      <dgm:t>
        <a:bodyPr/>
        <a:lstStyle/>
        <a:p>
          <a:r>
            <a:rPr lang="en-US"/>
            <a:t>Purchases by government </a:t>
          </a:r>
        </a:p>
      </dgm:t>
    </dgm:pt>
    <dgm:pt modelId="{29A498EE-C0C6-400A-B786-996B1E67A104}" type="parTrans" cxnId="{525E3C88-9FA0-458A-A078-D2D62CB17368}">
      <dgm:prSet/>
      <dgm:spPr/>
      <dgm:t>
        <a:bodyPr/>
        <a:lstStyle/>
        <a:p>
          <a:endParaRPr lang="en-US"/>
        </a:p>
      </dgm:t>
    </dgm:pt>
    <dgm:pt modelId="{499C6698-E2DF-48E0-9438-E1C1B88D2DEF}" type="sibTrans" cxnId="{525E3C88-9FA0-458A-A078-D2D62CB17368}">
      <dgm:prSet/>
      <dgm:spPr/>
      <dgm:t>
        <a:bodyPr/>
        <a:lstStyle/>
        <a:p>
          <a:endParaRPr lang="en-US"/>
        </a:p>
      </dgm:t>
    </dgm:pt>
    <dgm:pt modelId="{6AEF311F-FB6A-4377-B875-137135451CA5}">
      <dgm:prSet/>
      <dgm:spPr/>
      <dgm:t>
        <a:bodyPr/>
        <a:lstStyle/>
        <a:p>
          <a:r>
            <a:rPr lang="en-US"/>
            <a:t>Purchases by households</a:t>
          </a:r>
        </a:p>
      </dgm:t>
    </dgm:pt>
    <dgm:pt modelId="{B13D184B-C3F6-4499-8CDD-7CD5D38E0771}" type="parTrans" cxnId="{61E0B7D8-E939-445D-B2D6-1BEA83671B4C}">
      <dgm:prSet/>
      <dgm:spPr/>
      <dgm:t>
        <a:bodyPr/>
        <a:lstStyle/>
        <a:p>
          <a:endParaRPr lang="en-US"/>
        </a:p>
      </dgm:t>
    </dgm:pt>
    <dgm:pt modelId="{94879B5F-101A-4ABA-83E6-F079B3255B91}" type="sibTrans" cxnId="{61E0B7D8-E939-445D-B2D6-1BEA83671B4C}">
      <dgm:prSet/>
      <dgm:spPr/>
      <dgm:t>
        <a:bodyPr/>
        <a:lstStyle/>
        <a:p>
          <a:endParaRPr lang="en-US"/>
        </a:p>
      </dgm:t>
    </dgm:pt>
    <dgm:pt modelId="{27BFAD0E-A54A-4541-8C27-FD9535AF5A57}" type="pres">
      <dgm:prSet presAssocID="{9F6C4CB4-DE87-4648-8B92-8A83B1F204A2}" presName="root" presStyleCnt="0">
        <dgm:presLayoutVars>
          <dgm:dir/>
          <dgm:resizeHandles val="exact"/>
        </dgm:presLayoutVars>
      </dgm:prSet>
      <dgm:spPr/>
    </dgm:pt>
    <dgm:pt modelId="{F19AA0B8-9814-4151-8A92-AFC7D1C1A14F}" type="pres">
      <dgm:prSet presAssocID="{F89F7292-0756-4F56-AE61-69A43A086A91}" presName="compNode" presStyleCnt="0"/>
      <dgm:spPr/>
    </dgm:pt>
    <dgm:pt modelId="{7B0E7AF9-987F-41C1-AA86-DB037AE0400A}" type="pres">
      <dgm:prSet presAssocID="{F89F7292-0756-4F56-AE61-69A43A086A91}" presName="bgRect" presStyleLbl="bgShp" presStyleIdx="0" presStyleCnt="5"/>
      <dgm:spPr/>
    </dgm:pt>
    <dgm:pt modelId="{A5EEF784-4D59-4C35-8817-FE10A15ADFEA}" type="pres">
      <dgm:prSet presAssocID="{F89F7292-0756-4F56-AE61-69A43A086A9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Graph with Upward Trend"/>
        </a:ext>
      </dgm:extLst>
    </dgm:pt>
    <dgm:pt modelId="{372D6FCA-97AC-4A23-A49B-99D98EC83658}" type="pres">
      <dgm:prSet presAssocID="{F89F7292-0756-4F56-AE61-69A43A086A91}" presName="spaceRect" presStyleCnt="0"/>
      <dgm:spPr/>
    </dgm:pt>
    <dgm:pt modelId="{4F6BC50C-31F5-4B5E-AD41-4E855AF248E6}" type="pres">
      <dgm:prSet presAssocID="{F89F7292-0756-4F56-AE61-69A43A086A91}" presName="parTx" presStyleLbl="revTx" presStyleIdx="0" presStyleCnt="5">
        <dgm:presLayoutVars>
          <dgm:chMax val="0"/>
          <dgm:chPref val="0"/>
        </dgm:presLayoutVars>
      </dgm:prSet>
      <dgm:spPr/>
    </dgm:pt>
    <dgm:pt modelId="{F2411EC7-E83D-41F4-828B-74D9DA61904F}" type="pres">
      <dgm:prSet presAssocID="{DA179AA2-69C0-45B4-B273-ABBB0F212A2A}" presName="sibTrans" presStyleCnt="0"/>
      <dgm:spPr/>
    </dgm:pt>
    <dgm:pt modelId="{2E03BBF4-20EC-4460-BD02-C1088B273FF8}" type="pres">
      <dgm:prSet presAssocID="{C3F4A38F-01B9-48B2-8936-6B852FB8FE13}" presName="compNode" presStyleCnt="0"/>
      <dgm:spPr/>
    </dgm:pt>
    <dgm:pt modelId="{992B3487-509D-464A-A831-E549A238D33C}" type="pres">
      <dgm:prSet presAssocID="{C3F4A38F-01B9-48B2-8936-6B852FB8FE13}" presName="bgRect" presStyleLbl="bgShp" presStyleIdx="1" presStyleCnt="5"/>
      <dgm:spPr/>
    </dgm:pt>
    <dgm:pt modelId="{3CD5B77D-A030-4223-8727-8B937217D297}" type="pres">
      <dgm:prSet presAssocID="{C3F4A38F-01B9-48B2-8936-6B852FB8FE1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opping cart"/>
        </a:ext>
      </dgm:extLst>
    </dgm:pt>
    <dgm:pt modelId="{9FE3F95F-5103-4A37-A9FD-53BAE15F1F35}" type="pres">
      <dgm:prSet presAssocID="{C3F4A38F-01B9-48B2-8936-6B852FB8FE13}" presName="spaceRect" presStyleCnt="0"/>
      <dgm:spPr/>
    </dgm:pt>
    <dgm:pt modelId="{5E6A1480-2E20-4B53-8E10-A59A8974F76F}" type="pres">
      <dgm:prSet presAssocID="{C3F4A38F-01B9-48B2-8936-6B852FB8FE13}" presName="parTx" presStyleLbl="revTx" presStyleIdx="1" presStyleCnt="5">
        <dgm:presLayoutVars>
          <dgm:chMax val="0"/>
          <dgm:chPref val="0"/>
        </dgm:presLayoutVars>
      </dgm:prSet>
      <dgm:spPr/>
    </dgm:pt>
    <dgm:pt modelId="{61D56735-EBDF-4557-922F-6D6B8AB355AB}" type="pres">
      <dgm:prSet presAssocID="{DE269E78-10E5-41E1-BE2D-CA620CC066DF}" presName="sibTrans" presStyleCnt="0"/>
      <dgm:spPr/>
    </dgm:pt>
    <dgm:pt modelId="{1C7C6428-98E0-4A0F-A2B3-7FB2DE427BBE}" type="pres">
      <dgm:prSet presAssocID="{4921CD2F-66CA-4EF0-A4C6-B08D2D4D2BB4}" presName="compNode" presStyleCnt="0"/>
      <dgm:spPr/>
    </dgm:pt>
    <dgm:pt modelId="{206F2895-CFA6-4281-8E8C-39C28A0562FD}" type="pres">
      <dgm:prSet presAssocID="{4921CD2F-66CA-4EF0-A4C6-B08D2D4D2BB4}" presName="bgRect" presStyleLbl="bgShp" presStyleIdx="2" presStyleCnt="5"/>
      <dgm:spPr/>
    </dgm:pt>
    <dgm:pt modelId="{5A2F8FC9-39B9-421A-9D88-DB32A88EF4A4}" type="pres">
      <dgm:prSet presAssocID="{4921CD2F-66CA-4EF0-A4C6-B08D2D4D2BB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ity"/>
        </a:ext>
      </dgm:extLst>
    </dgm:pt>
    <dgm:pt modelId="{171711C2-7082-4300-90B4-1C80FFA06732}" type="pres">
      <dgm:prSet presAssocID="{4921CD2F-66CA-4EF0-A4C6-B08D2D4D2BB4}" presName="spaceRect" presStyleCnt="0"/>
      <dgm:spPr/>
    </dgm:pt>
    <dgm:pt modelId="{34C011A2-76B8-4B75-8AAC-3AF66BC47560}" type="pres">
      <dgm:prSet presAssocID="{4921CD2F-66CA-4EF0-A4C6-B08D2D4D2BB4}" presName="parTx" presStyleLbl="revTx" presStyleIdx="2" presStyleCnt="5">
        <dgm:presLayoutVars>
          <dgm:chMax val="0"/>
          <dgm:chPref val="0"/>
        </dgm:presLayoutVars>
      </dgm:prSet>
      <dgm:spPr/>
    </dgm:pt>
    <dgm:pt modelId="{5A3D28DB-5397-4495-A2E9-E7E1E2771A8D}" type="pres">
      <dgm:prSet presAssocID="{A0D62DA7-70AE-4541-8533-C0600C7A42C1}" presName="sibTrans" presStyleCnt="0"/>
      <dgm:spPr/>
    </dgm:pt>
    <dgm:pt modelId="{6E645F2E-B67D-457A-B5A9-32F438C34BF4}" type="pres">
      <dgm:prSet presAssocID="{4D88877F-559D-4A40-8B4E-962EF076D8E0}" presName="compNode" presStyleCnt="0"/>
      <dgm:spPr/>
    </dgm:pt>
    <dgm:pt modelId="{0E31BB4E-62E8-4D55-85E3-A19D483CD37A}" type="pres">
      <dgm:prSet presAssocID="{4D88877F-559D-4A40-8B4E-962EF076D8E0}" presName="bgRect" presStyleLbl="bgShp" presStyleIdx="3" presStyleCnt="5"/>
      <dgm:spPr/>
    </dgm:pt>
    <dgm:pt modelId="{A519D8F9-63D8-4507-9BEE-65580A093A7D}" type="pres">
      <dgm:prSet presAssocID="{4D88877F-559D-4A40-8B4E-962EF076D8E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nk"/>
        </a:ext>
      </dgm:extLst>
    </dgm:pt>
    <dgm:pt modelId="{DF48DBE2-58FD-4293-B81D-39F8F00EC334}" type="pres">
      <dgm:prSet presAssocID="{4D88877F-559D-4A40-8B4E-962EF076D8E0}" presName="spaceRect" presStyleCnt="0"/>
      <dgm:spPr/>
    </dgm:pt>
    <dgm:pt modelId="{4A5C0531-8D11-41A0-993C-6DC57B1695E8}" type="pres">
      <dgm:prSet presAssocID="{4D88877F-559D-4A40-8B4E-962EF076D8E0}" presName="parTx" presStyleLbl="revTx" presStyleIdx="3" presStyleCnt="5">
        <dgm:presLayoutVars>
          <dgm:chMax val="0"/>
          <dgm:chPref val="0"/>
        </dgm:presLayoutVars>
      </dgm:prSet>
      <dgm:spPr/>
    </dgm:pt>
    <dgm:pt modelId="{CC34190B-95F3-46BE-A137-D1DAD9F9BBB3}" type="pres">
      <dgm:prSet presAssocID="{499C6698-E2DF-48E0-9438-E1C1B88D2DEF}" presName="sibTrans" presStyleCnt="0"/>
      <dgm:spPr/>
    </dgm:pt>
    <dgm:pt modelId="{61D17F96-B106-42B9-A678-2A4632F3AB36}" type="pres">
      <dgm:prSet presAssocID="{6AEF311F-FB6A-4377-B875-137135451CA5}" presName="compNode" presStyleCnt="0"/>
      <dgm:spPr/>
    </dgm:pt>
    <dgm:pt modelId="{32F101FF-E79C-4F3F-B698-07AAF80CAE7C}" type="pres">
      <dgm:prSet presAssocID="{6AEF311F-FB6A-4377-B875-137135451CA5}" presName="bgRect" presStyleLbl="bgShp" presStyleIdx="4" presStyleCnt="5"/>
      <dgm:spPr/>
    </dgm:pt>
    <dgm:pt modelId="{01DCA5B8-536F-4432-8BF0-40BA48616481}" type="pres">
      <dgm:prSet presAssocID="{6AEF311F-FB6A-4377-B875-137135451CA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ouse"/>
        </a:ext>
      </dgm:extLst>
    </dgm:pt>
    <dgm:pt modelId="{8ECA75DF-10BB-48D7-9731-94CD2076E564}" type="pres">
      <dgm:prSet presAssocID="{6AEF311F-FB6A-4377-B875-137135451CA5}" presName="spaceRect" presStyleCnt="0"/>
      <dgm:spPr/>
    </dgm:pt>
    <dgm:pt modelId="{6C7891BF-6706-46A3-B459-FD706A38CB62}" type="pres">
      <dgm:prSet presAssocID="{6AEF311F-FB6A-4377-B875-137135451CA5}" presName="parTx" presStyleLbl="revTx" presStyleIdx="4" presStyleCnt="5">
        <dgm:presLayoutVars>
          <dgm:chMax val="0"/>
          <dgm:chPref val="0"/>
        </dgm:presLayoutVars>
      </dgm:prSet>
      <dgm:spPr/>
    </dgm:pt>
  </dgm:ptLst>
  <dgm:cxnLst>
    <dgm:cxn modelId="{6BE8241B-FBF3-4FE7-B728-5BAE8A666EAD}" type="presOf" srcId="{4921CD2F-66CA-4EF0-A4C6-B08D2D4D2BB4}" destId="{34C011A2-76B8-4B75-8AAC-3AF66BC47560}" srcOrd="0" destOrd="0" presId="urn:microsoft.com/office/officeart/2018/2/layout/IconVerticalSolidList"/>
    <dgm:cxn modelId="{9CCAF727-7516-4B4F-91AB-A6200C8CAABC}" srcId="{9F6C4CB4-DE87-4648-8B92-8A83B1F204A2}" destId="{F89F7292-0756-4F56-AE61-69A43A086A91}" srcOrd="0" destOrd="0" parTransId="{4CB249DF-897F-4669-8CD5-DF4D5F570F4D}" sibTransId="{DA179AA2-69C0-45B4-B273-ABBB0F212A2A}"/>
    <dgm:cxn modelId="{A5E3E528-E046-4E21-9FCB-84974EA07B65}" srcId="{9F6C4CB4-DE87-4648-8B92-8A83B1F204A2}" destId="{4921CD2F-66CA-4EF0-A4C6-B08D2D4D2BB4}" srcOrd="2" destOrd="0" parTransId="{6004E3EF-FE46-45B0-9E7B-DA8A1CC1D9F2}" sibTransId="{A0D62DA7-70AE-4541-8533-C0600C7A42C1}"/>
    <dgm:cxn modelId="{2570BC2E-AB79-4CC7-A042-5824FA756BA1}" type="presOf" srcId="{6AEF311F-FB6A-4377-B875-137135451CA5}" destId="{6C7891BF-6706-46A3-B459-FD706A38CB62}" srcOrd="0" destOrd="0" presId="urn:microsoft.com/office/officeart/2018/2/layout/IconVerticalSolidList"/>
    <dgm:cxn modelId="{B7F2A05B-8F48-4FBC-AE7C-8618FA69C955}" type="presOf" srcId="{C3F4A38F-01B9-48B2-8936-6B852FB8FE13}" destId="{5E6A1480-2E20-4B53-8E10-A59A8974F76F}" srcOrd="0" destOrd="0" presId="urn:microsoft.com/office/officeart/2018/2/layout/IconVerticalSolidList"/>
    <dgm:cxn modelId="{71B5856C-CB09-40ED-B9E9-890E581CB9AC}" type="presOf" srcId="{9F6C4CB4-DE87-4648-8B92-8A83B1F204A2}" destId="{27BFAD0E-A54A-4541-8C27-FD9535AF5A57}" srcOrd="0" destOrd="0" presId="urn:microsoft.com/office/officeart/2018/2/layout/IconVerticalSolidList"/>
    <dgm:cxn modelId="{525E3C88-9FA0-458A-A078-D2D62CB17368}" srcId="{9F6C4CB4-DE87-4648-8B92-8A83B1F204A2}" destId="{4D88877F-559D-4A40-8B4E-962EF076D8E0}" srcOrd="3" destOrd="0" parTransId="{29A498EE-C0C6-400A-B786-996B1E67A104}" sibTransId="{499C6698-E2DF-48E0-9438-E1C1B88D2DEF}"/>
    <dgm:cxn modelId="{F59ED2C8-D1DF-4B5F-ACE2-C5F62A228A85}" type="presOf" srcId="{4D88877F-559D-4A40-8B4E-962EF076D8E0}" destId="{4A5C0531-8D11-41A0-993C-6DC57B1695E8}" srcOrd="0" destOrd="0" presId="urn:microsoft.com/office/officeart/2018/2/layout/IconVerticalSolidList"/>
    <dgm:cxn modelId="{DD7ACCD5-E12F-460C-83F3-2EAA27F002B1}" srcId="{9F6C4CB4-DE87-4648-8B92-8A83B1F204A2}" destId="{C3F4A38F-01B9-48B2-8936-6B852FB8FE13}" srcOrd="1" destOrd="0" parTransId="{26B39E47-03DA-4D14-93CD-F6821FCB0956}" sibTransId="{DE269E78-10E5-41E1-BE2D-CA620CC066DF}"/>
    <dgm:cxn modelId="{61E0B7D8-E939-445D-B2D6-1BEA83671B4C}" srcId="{9F6C4CB4-DE87-4648-8B92-8A83B1F204A2}" destId="{6AEF311F-FB6A-4377-B875-137135451CA5}" srcOrd="4" destOrd="0" parTransId="{B13D184B-C3F6-4499-8CDD-7CD5D38E0771}" sibTransId="{94879B5F-101A-4ABA-83E6-F079B3255B91}"/>
    <dgm:cxn modelId="{057F24EB-3934-4D31-BCC4-750A1E697612}" type="presOf" srcId="{F89F7292-0756-4F56-AE61-69A43A086A91}" destId="{4F6BC50C-31F5-4B5E-AD41-4E855AF248E6}" srcOrd="0" destOrd="0" presId="urn:microsoft.com/office/officeart/2018/2/layout/IconVerticalSolidList"/>
    <dgm:cxn modelId="{A8860035-9E28-49EA-9619-B423B2ED511D}" type="presParOf" srcId="{27BFAD0E-A54A-4541-8C27-FD9535AF5A57}" destId="{F19AA0B8-9814-4151-8A92-AFC7D1C1A14F}" srcOrd="0" destOrd="0" presId="urn:microsoft.com/office/officeart/2018/2/layout/IconVerticalSolidList"/>
    <dgm:cxn modelId="{B3DEFA76-7D12-4622-A20C-EF0035C3B439}" type="presParOf" srcId="{F19AA0B8-9814-4151-8A92-AFC7D1C1A14F}" destId="{7B0E7AF9-987F-41C1-AA86-DB037AE0400A}" srcOrd="0" destOrd="0" presId="urn:microsoft.com/office/officeart/2018/2/layout/IconVerticalSolidList"/>
    <dgm:cxn modelId="{2EB14ED6-9F5E-4882-8AB8-6524D8905741}" type="presParOf" srcId="{F19AA0B8-9814-4151-8A92-AFC7D1C1A14F}" destId="{A5EEF784-4D59-4C35-8817-FE10A15ADFEA}" srcOrd="1" destOrd="0" presId="urn:microsoft.com/office/officeart/2018/2/layout/IconVerticalSolidList"/>
    <dgm:cxn modelId="{5C4572EA-60AD-47E0-8701-D13596317932}" type="presParOf" srcId="{F19AA0B8-9814-4151-8A92-AFC7D1C1A14F}" destId="{372D6FCA-97AC-4A23-A49B-99D98EC83658}" srcOrd="2" destOrd="0" presId="urn:microsoft.com/office/officeart/2018/2/layout/IconVerticalSolidList"/>
    <dgm:cxn modelId="{A19E082D-C785-471F-A4E0-D94570EDFD0C}" type="presParOf" srcId="{F19AA0B8-9814-4151-8A92-AFC7D1C1A14F}" destId="{4F6BC50C-31F5-4B5E-AD41-4E855AF248E6}" srcOrd="3" destOrd="0" presId="urn:microsoft.com/office/officeart/2018/2/layout/IconVerticalSolidList"/>
    <dgm:cxn modelId="{3CC1FEEF-908B-46EF-B5B0-C00FFFDE1613}" type="presParOf" srcId="{27BFAD0E-A54A-4541-8C27-FD9535AF5A57}" destId="{F2411EC7-E83D-41F4-828B-74D9DA61904F}" srcOrd="1" destOrd="0" presId="urn:microsoft.com/office/officeart/2018/2/layout/IconVerticalSolidList"/>
    <dgm:cxn modelId="{8298EDEE-343E-4689-BE7B-048B706EBFD6}" type="presParOf" srcId="{27BFAD0E-A54A-4541-8C27-FD9535AF5A57}" destId="{2E03BBF4-20EC-4460-BD02-C1088B273FF8}" srcOrd="2" destOrd="0" presId="urn:microsoft.com/office/officeart/2018/2/layout/IconVerticalSolidList"/>
    <dgm:cxn modelId="{E0F904DD-8A11-4585-BB96-B89F54D08F54}" type="presParOf" srcId="{2E03BBF4-20EC-4460-BD02-C1088B273FF8}" destId="{992B3487-509D-464A-A831-E549A238D33C}" srcOrd="0" destOrd="0" presId="urn:microsoft.com/office/officeart/2018/2/layout/IconVerticalSolidList"/>
    <dgm:cxn modelId="{B0BF1464-A4E0-45D1-9D58-535C2A6B9710}" type="presParOf" srcId="{2E03BBF4-20EC-4460-BD02-C1088B273FF8}" destId="{3CD5B77D-A030-4223-8727-8B937217D297}" srcOrd="1" destOrd="0" presId="urn:microsoft.com/office/officeart/2018/2/layout/IconVerticalSolidList"/>
    <dgm:cxn modelId="{94C7D11D-2251-404D-8AC4-846F4243E046}" type="presParOf" srcId="{2E03BBF4-20EC-4460-BD02-C1088B273FF8}" destId="{9FE3F95F-5103-4A37-A9FD-53BAE15F1F35}" srcOrd="2" destOrd="0" presId="urn:microsoft.com/office/officeart/2018/2/layout/IconVerticalSolidList"/>
    <dgm:cxn modelId="{B4B61B5E-E602-4590-849D-2DD105F9350B}" type="presParOf" srcId="{2E03BBF4-20EC-4460-BD02-C1088B273FF8}" destId="{5E6A1480-2E20-4B53-8E10-A59A8974F76F}" srcOrd="3" destOrd="0" presId="urn:microsoft.com/office/officeart/2018/2/layout/IconVerticalSolidList"/>
    <dgm:cxn modelId="{6290B895-63C3-4002-A9C7-1B8CFA0D0226}" type="presParOf" srcId="{27BFAD0E-A54A-4541-8C27-FD9535AF5A57}" destId="{61D56735-EBDF-4557-922F-6D6B8AB355AB}" srcOrd="3" destOrd="0" presId="urn:microsoft.com/office/officeart/2018/2/layout/IconVerticalSolidList"/>
    <dgm:cxn modelId="{F4BD04BF-530E-4952-943D-29D667673400}" type="presParOf" srcId="{27BFAD0E-A54A-4541-8C27-FD9535AF5A57}" destId="{1C7C6428-98E0-4A0F-A2B3-7FB2DE427BBE}" srcOrd="4" destOrd="0" presId="urn:microsoft.com/office/officeart/2018/2/layout/IconVerticalSolidList"/>
    <dgm:cxn modelId="{719972C1-09B5-4AE5-9694-118B067B843C}" type="presParOf" srcId="{1C7C6428-98E0-4A0F-A2B3-7FB2DE427BBE}" destId="{206F2895-CFA6-4281-8E8C-39C28A0562FD}" srcOrd="0" destOrd="0" presId="urn:microsoft.com/office/officeart/2018/2/layout/IconVerticalSolidList"/>
    <dgm:cxn modelId="{D680F466-ADCC-44E5-BC73-077D605820A2}" type="presParOf" srcId="{1C7C6428-98E0-4A0F-A2B3-7FB2DE427BBE}" destId="{5A2F8FC9-39B9-421A-9D88-DB32A88EF4A4}" srcOrd="1" destOrd="0" presId="urn:microsoft.com/office/officeart/2018/2/layout/IconVerticalSolidList"/>
    <dgm:cxn modelId="{8BBC0454-D8DF-4470-AB59-1D64BBE19293}" type="presParOf" srcId="{1C7C6428-98E0-4A0F-A2B3-7FB2DE427BBE}" destId="{171711C2-7082-4300-90B4-1C80FFA06732}" srcOrd="2" destOrd="0" presId="urn:microsoft.com/office/officeart/2018/2/layout/IconVerticalSolidList"/>
    <dgm:cxn modelId="{4DD71DF3-A266-4607-9421-5FF14F3576C0}" type="presParOf" srcId="{1C7C6428-98E0-4A0F-A2B3-7FB2DE427BBE}" destId="{34C011A2-76B8-4B75-8AAC-3AF66BC47560}" srcOrd="3" destOrd="0" presId="urn:microsoft.com/office/officeart/2018/2/layout/IconVerticalSolidList"/>
    <dgm:cxn modelId="{6D13EE7D-7E22-47FD-96A0-8DF337649645}" type="presParOf" srcId="{27BFAD0E-A54A-4541-8C27-FD9535AF5A57}" destId="{5A3D28DB-5397-4495-A2E9-E7E1E2771A8D}" srcOrd="5" destOrd="0" presId="urn:microsoft.com/office/officeart/2018/2/layout/IconVerticalSolidList"/>
    <dgm:cxn modelId="{CB20B6E3-58F4-4A91-8046-053E33DA8E2F}" type="presParOf" srcId="{27BFAD0E-A54A-4541-8C27-FD9535AF5A57}" destId="{6E645F2E-B67D-457A-B5A9-32F438C34BF4}" srcOrd="6" destOrd="0" presId="urn:microsoft.com/office/officeart/2018/2/layout/IconVerticalSolidList"/>
    <dgm:cxn modelId="{570F04DC-DFAA-4FA6-94B5-E1A764E73EE5}" type="presParOf" srcId="{6E645F2E-B67D-457A-B5A9-32F438C34BF4}" destId="{0E31BB4E-62E8-4D55-85E3-A19D483CD37A}" srcOrd="0" destOrd="0" presId="urn:microsoft.com/office/officeart/2018/2/layout/IconVerticalSolidList"/>
    <dgm:cxn modelId="{BCB1A625-D089-4833-9E02-F8B9F0F678E8}" type="presParOf" srcId="{6E645F2E-B67D-457A-B5A9-32F438C34BF4}" destId="{A519D8F9-63D8-4507-9BEE-65580A093A7D}" srcOrd="1" destOrd="0" presId="urn:microsoft.com/office/officeart/2018/2/layout/IconVerticalSolidList"/>
    <dgm:cxn modelId="{3F8B28EC-B83F-4B44-B656-B7550D324612}" type="presParOf" srcId="{6E645F2E-B67D-457A-B5A9-32F438C34BF4}" destId="{DF48DBE2-58FD-4293-B81D-39F8F00EC334}" srcOrd="2" destOrd="0" presId="urn:microsoft.com/office/officeart/2018/2/layout/IconVerticalSolidList"/>
    <dgm:cxn modelId="{A0C42224-3263-4886-A3A5-1670D04775F9}" type="presParOf" srcId="{6E645F2E-B67D-457A-B5A9-32F438C34BF4}" destId="{4A5C0531-8D11-41A0-993C-6DC57B1695E8}" srcOrd="3" destOrd="0" presId="urn:microsoft.com/office/officeart/2018/2/layout/IconVerticalSolidList"/>
    <dgm:cxn modelId="{73F6374C-DD01-424C-A413-2853C1ED69C8}" type="presParOf" srcId="{27BFAD0E-A54A-4541-8C27-FD9535AF5A57}" destId="{CC34190B-95F3-46BE-A137-D1DAD9F9BBB3}" srcOrd="7" destOrd="0" presId="urn:microsoft.com/office/officeart/2018/2/layout/IconVerticalSolidList"/>
    <dgm:cxn modelId="{A1422B51-B1C9-4CFC-816D-EF7A74FDC48C}" type="presParOf" srcId="{27BFAD0E-A54A-4541-8C27-FD9535AF5A57}" destId="{61D17F96-B106-42B9-A678-2A4632F3AB36}" srcOrd="8" destOrd="0" presId="urn:microsoft.com/office/officeart/2018/2/layout/IconVerticalSolidList"/>
    <dgm:cxn modelId="{6AE8C571-A012-49D0-9722-A4F920A7B98A}" type="presParOf" srcId="{61D17F96-B106-42B9-A678-2A4632F3AB36}" destId="{32F101FF-E79C-4F3F-B698-07AAF80CAE7C}" srcOrd="0" destOrd="0" presId="urn:microsoft.com/office/officeart/2018/2/layout/IconVerticalSolidList"/>
    <dgm:cxn modelId="{FECD50A3-4E43-43C3-95B7-6A58143F8DC1}" type="presParOf" srcId="{61D17F96-B106-42B9-A678-2A4632F3AB36}" destId="{01DCA5B8-536F-4432-8BF0-40BA48616481}" srcOrd="1" destOrd="0" presId="urn:microsoft.com/office/officeart/2018/2/layout/IconVerticalSolidList"/>
    <dgm:cxn modelId="{7B9C9182-7A94-41F1-866B-6570489AD724}" type="presParOf" srcId="{61D17F96-B106-42B9-A678-2A4632F3AB36}" destId="{8ECA75DF-10BB-48D7-9731-94CD2076E564}" srcOrd="2" destOrd="0" presId="urn:microsoft.com/office/officeart/2018/2/layout/IconVerticalSolidList"/>
    <dgm:cxn modelId="{80CEB9DA-BDDA-4C40-AD4D-2EE1D59A1CCB}" type="presParOf" srcId="{61D17F96-B106-42B9-A678-2A4632F3AB36}" destId="{6C7891BF-6706-46A3-B459-FD706A38CB6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D3EA9B-BF74-471D-8ACD-9ABCE4CC791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40185B5-3962-4908-A641-AF57A7B753B0}">
      <dgm:prSet/>
      <dgm:spPr/>
      <dgm:t>
        <a:bodyPr/>
        <a:lstStyle/>
        <a:p>
          <a:pPr>
            <a:lnSpc>
              <a:spcPct val="100000"/>
            </a:lnSpc>
          </a:pPr>
          <a:r>
            <a:rPr lang="en-US"/>
            <a:t>Collect survey data and incorporate it into the data set we already have built</a:t>
          </a:r>
        </a:p>
      </dgm:t>
    </dgm:pt>
    <dgm:pt modelId="{D0D08388-D3E9-4DB0-8843-77364A246DF5}" type="parTrans" cxnId="{A8E10F84-C5BA-4003-A49F-3ED7BDC4F15D}">
      <dgm:prSet/>
      <dgm:spPr/>
      <dgm:t>
        <a:bodyPr/>
        <a:lstStyle/>
        <a:p>
          <a:endParaRPr lang="en-US"/>
        </a:p>
      </dgm:t>
    </dgm:pt>
    <dgm:pt modelId="{C5CF080B-6C69-43E1-8F45-1B470C337424}" type="sibTrans" cxnId="{A8E10F84-C5BA-4003-A49F-3ED7BDC4F15D}">
      <dgm:prSet/>
      <dgm:spPr/>
      <dgm:t>
        <a:bodyPr/>
        <a:lstStyle/>
        <a:p>
          <a:endParaRPr lang="en-US"/>
        </a:p>
      </dgm:t>
    </dgm:pt>
    <dgm:pt modelId="{70E167E5-A9E0-41D1-A739-4883F0FF206D}">
      <dgm:prSet/>
      <dgm:spPr/>
      <dgm:t>
        <a:bodyPr/>
        <a:lstStyle/>
        <a:p>
          <a:pPr>
            <a:lnSpc>
              <a:spcPct val="100000"/>
            </a:lnSpc>
          </a:pPr>
          <a:r>
            <a:rPr lang="en-US"/>
            <a:t>Use both collected data and secondary studies to build a cohesive data set</a:t>
          </a:r>
        </a:p>
      </dgm:t>
    </dgm:pt>
    <dgm:pt modelId="{DD43E7A2-E332-449C-87A6-53BB5233C64F}" type="parTrans" cxnId="{AF8BBB8A-4A00-4266-B769-87AA3BF4BF48}">
      <dgm:prSet/>
      <dgm:spPr/>
      <dgm:t>
        <a:bodyPr/>
        <a:lstStyle/>
        <a:p>
          <a:endParaRPr lang="en-US"/>
        </a:p>
      </dgm:t>
    </dgm:pt>
    <dgm:pt modelId="{F74BD444-071E-4CD3-97F4-40693AA5F2C7}" type="sibTrans" cxnId="{AF8BBB8A-4A00-4266-B769-87AA3BF4BF48}">
      <dgm:prSet/>
      <dgm:spPr/>
      <dgm:t>
        <a:bodyPr/>
        <a:lstStyle/>
        <a:p>
          <a:endParaRPr lang="en-US"/>
        </a:p>
      </dgm:t>
    </dgm:pt>
    <dgm:pt modelId="{9FBFDC03-FF45-4D42-8A9C-E1908DEFE2FC}">
      <dgm:prSet/>
      <dgm:spPr/>
      <dgm:t>
        <a:bodyPr/>
        <a:lstStyle/>
        <a:p>
          <a:pPr>
            <a:lnSpc>
              <a:spcPct val="100000"/>
            </a:lnSpc>
          </a:pPr>
          <a:r>
            <a:rPr lang="en-US"/>
            <a:t>Once data set is complete begin analysis using RIMS II multipliers as laid out in the manual published by the Bureau of Economic Analysis (BEA).</a:t>
          </a:r>
        </a:p>
      </dgm:t>
    </dgm:pt>
    <dgm:pt modelId="{83655DF9-659A-4269-A12C-3201D7352BD9}" type="parTrans" cxnId="{A4F795AA-4A46-4E75-B9B5-3396FBF817A0}">
      <dgm:prSet/>
      <dgm:spPr/>
      <dgm:t>
        <a:bodyPr/>
        <a:lstStyle/>
        <a:p>
          <a:endParaRPr lang="en-US"/>
        </a:p>
      </dgm:t>
    </dgm:pt>
    <dgm:pt modelId="{C2C5CB99-670D-4440-A6F0-A2C615265A22}" type="sibTrans" cxnId="{A4F795AA-4A46-4E75-B9B5-3396FBF817A0}">
      <dgm:prSet/>
      <dgm:spPr/>
      <dgm:t>
        <a:bodyPr/>
        <a:lstStyle/>
        <a:p>
          <a:endParaRPr lang="en-US"/>
        </a:p>
      </dgm:t>
    </dgm:pt>
    <dgm:pt modelId="{D51E20DA-186D-41EE-8741-2A4D8B7CA263}">
      <dgm:prSet/>
      <dgm:spPr/>
      <dgm:t>
        <a:bodyPr/>
        <a:lstStyle/>
        <a:p>
          <a:pPr>
            <a:lnSpc>
              <a:spcPct val="100000"/>
            </a:lnSpc>
          </a:pPr>
          <a:r>
            <a:rPr lang="en-US"/>
            <a:t>Produce numbers that correspond with the various economic effects produced by the project</a:t>
          </a:r>
        </a:p>
      </dgm:t>
    </dgm:pt>
    <dgm:pt modelId="{B1168DC0-B9B9-47B4-BA4F-C3CA5CEAF50C}" type="parTrans" cxnId="{692723AC-2065-4FE2-9266-B8E417A97D28}">
      <dgm:prSet/>
      <dgm:spPr/>
      <dgm:t>
        <a:bodyPr/>
        <a:lstStyle/>
        <a:p>
          <a:endParaRPr lang="en-US"/>
        </a:p>
      </dgm:t>
    </dgm:pt>
    <dgm:pt modelId="{3B507E66-876A-4B44-901D-145327571A0A}" type="sibTrans" cxnId="{692723AC-2065-4FE2-9266-B8E417A97D28}">
      <dgm:prSet/>
      <dgm:spPr/>
      <dgm:t>
        <a:bodyPr/>
        <a:lstStyle/>
        <a:p>
          <a:endParaRPr lang="en-US"/>
        </a:p>
      </dgm:t>
    </dgm:pt>
    <dgm:pt modelId="{4509085F-781A-4532-AADD-0081B385816E}">
      <dgm:prSet/>
      <dgm:spPr/>
      <dgm:t>
        <a:bodyPr/>
        <a:lstStyle/>
        <a:p>
          <a:pPr>
            <a:lnSpc>
              <a:spcPct val="100000"/>
            </a:lnSpc>
          </a:pPr>
          <a:r>
            <a:rPr lang="en-US"/>
            <a:t>Compile an economic analysis for the park expansion based off of these findings</a:t>
          </a:r>
        </a:p>
      </dgm:t>
    </dgm:pt>
    <dgm:pt modelId="{943FC2DB-6DBF-4C70-9789-0C9DEA2199D8}" type="parTrans" cxnId="{4BEF9C96-0270-4227-8850-985BA3775AA8}">
      <dgm:prSet/>
      <dgm:spPr/>
      <dgm:t>
        <a:bodyPr/>
        <a:lstStyle/>
        <a:p>
          <a:endParaRPr lang="en-US"/>
        </a:p>
      </dgm:t>
    </dgm:pt>
    <dgm:pt modelId="{F06159FC-9FD2-4877-906D-9BFB57D13EC3}" type="sibTrans" cxnId="{4BEF9C96-0270-4227-8850-985BA3775AA8}">
      <dgm:prSet/>
      <dgm:spPr/>
      <dgm:t>
        <a:bodyPr/>
        <a:lstStyle/>
        <a:p>
          <a:endParaRPr lang="en-US"/>
        </a:p>
      </dgm:t>
    </dgm:pt>
    <dgm:pt modelId="{46CC8EBC-FE7C-43F6-8F10-191A60FA5D13}" type="pres">
      <dgm:prSet presAssocID="{C3D3EA9B-BF74-471D-8ACD-9ABCE4CC791D}" presName="root" presStyleCnt="0">
        <dgm:presLayoutVars>
          <dgm:dir/>
          <dgm:resizeHandles val="exact"/>
        </dgm:presLayoutVars>
      </dgm:prSet>
      <dgm:spPr/>
    </dgm:pt>
    <dgm:pt modelId="{D831F408-6F2B-405D-8CCD-5F793796EC63}" type="pres">
      <dgm:prSet presAssocID="{940185B5-3962-4908-A641-AF57A7B753B0}" presName="compNode" presStyleCnt="0"/>
      <dgm:spPr/>
    </dgm:pt>
    <dgm:pt modelId="{380F4DFB-3CD0-4010-A484-A2601CBC6282}" type="pres">
      <dgm:prSet presAssocID="{940185B5-3962-4908-A641-AF57A7B753B0}" presName="bgRect" presStyleLbl="bgShp" presStyleIdx="0" presStyleCnt="5"/>
      <dgm:spPr/>
    </dgm:pt>
    <dgm:pt modelId="{262C271F-6E71-47C4-99D7-424B3FC89BAE}" type="pres">
      <dgm:prSet presAssocID="{940185B5-3962-4908-A641-AF57A7B753B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C8FCF975-C8FF-4C7B-B3C3-8329E1433743}" type="pres">
      <dgm:prSet presAssocID="{940185B5-3962-4908-A641-AF57A7B753B0}" presName="spaceRect" presStyleCnt="0"/>
      <dgm:spPr/>
    </dgm:pt>
    <dgm:pt modelId="{AE162438-D639-49EE-8D90-7D51DF6E3765}" type="pres">
      <dgm:prSet presAssocID="{940185B5-3962-4908-A641-AF57A7B753B0}" presName="parTx" presStyleLbl="revTx" presStyleIdx="0" presStyleCnt="5">
        <dgm:presLayoutVars>
          <dgm:chMax val="0"/>
          <dgm:chPref val="0"/>
        </dgm:presLayoutVars>
      </dgm:prSet>
      <dgm:spPr/>
    </dgm:pt>
    <dgm:pt modelId="{E0550552-1869-45D4-B33A-548610491E54}" type="pres">
      <dgm:prSet presAssocID="{C5CF080B-6C69-43E1-8F45-1B470C337424}" presName="sibTrans" presStyleCnt="0"/>
      <dgm:spPr/>
    </dgm:pt>
    <dgm:pt modelId="{9DD61DF7-9561-4C78-A11A-D50F23A76160}" type="pres">
      <dgm:prSet presAssocID="{70E167E5-A9E0-41D1-A739-4883F0FF206D}" presName="compNode" presStyleCnt="0"/>
      <dgm:spPr/>
    </dgm:pt>
    <dgm:pt modelId="{165A2369-6480-4D39-AF9C-E35610DFA519}" type="pres">
      <dgm:prSet presAssocID="{70E167E5-A9E0-41D1-A739-4883F0FF206D}" presName="bgRect" presStyleLbl="bgShp" presStyleIdx="1" presStyleCnt="5"/>
      <dgm:spPr/>
    </dgm:pt>
    <dgm:pt modelId="{88C36E9E-10CB-4A54-A9B6-3838B5462CEC}" type="pres">
      <dgm:prSet presAssocID="{70E167E5-A9E0-41D1-A739-4883F0FF206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CC06D16F-9091-4F26-A74A-1A377BFD180B}" type="pres">
      <dgm:prSet presAssocID="{70E167E5-A9E0-41D1-A739-4883F0FF206D}" presName="spaceRect" presStyleCnt="0"/>
      <dgm:spPr/>
    </dgm:pt>
    <dgm:pt modelId="{D500B57C-8B97-43F5-913B-106DD871BCFD}" type="pres">
      <dgm:prSet presAssocID="{70E167E5-A9E0-41D1-A739-4883F0FF206D}" presName="parTx" presStyleLbl="revTx" presStyleIdx="1" presStyleCnt="5">
        <dgm:presLayoutVars>
          <dgm:chMax val="0"/>
          <dgm:chPref val="0"/>
        </dgm:presLayoutVars>
      </dgm:prSet>
      <dgm:spPr/>
    </dgm:pt>
    <dgm:pt modelId="{9C208BCB-AFF1-42A2-92E9-BC41AFF95822}" type="pres">
      <dgm:prSet presAssocID="{F74BD444-071E-4CD3-97F4-40693AA5F2C7}" presName="sibTrans" presStyleCnt="0"/>
      <dgm:spPr/>
    </dgm:pt>
    <dgm:pt modelId="{D4326122-B2D9-4E20-9462-201604E54894}" type="pres">
      <dgm:prSet presAssocID="{9FBFDC03-FF45-4D42-8A9C-E1908DEFE2FC}" presName="compNode" presStyleCnt="0"/>
      <dgm:spPr/>
    </dgm:pt>
    <dgm:pt modelId="{A3D655CD-B541-4EED-A47B-94E76AA84ED7}" type="pres">
      <dgm:prSet presAssocID="{9FBFDC03-FF45-4D42-8A9C-E1908DEFE2FC}" presName="bgRect" presStyleLbl="bgShp" presStyleIdx="2" presStyleCnt="5"/>
      <dgm:spPr/>
    </dgm:pt>
    <dgm:pt modelId="{999FBA96-3872-4CA0-91D3-F69F4E5CA520}" type="pres">
      <dgm:prSet presAssocID="{9FBFDC03-FF45-4D42-8A9C-E1908DEFE2F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A82E3284-5027-4306-9EED-C605422B0B6E}" type="pres">
      <dgm:prSet presAssocID="{9FBFDC03-FF45-4D42-8A9C-E1908DEFE2FC}" presName="spaceRect" presStyleCnt="0"/>
      <dgm:spPr/>
    </dgm:pt>
    <dgm:pt modelId="{837458D7-7C60-4EBA-9069-24AE18A0F226}" type="pres">
      <dgm:prSet presAssocID="{9FBFDC03-FF45-4D42-8A9C-E1908DEFE2FC}" presName="parTx" presStyleLbl="revTx" presStyleIdx="2" presStyleCnt="5">
        <dgm:presLayoutVars>
          <dgm:chMax val="0"/>
          <dgm:chPref val="0"/>
        </dgm:presLayoutVars>
      </dgm:prSet>
      <dgm:spPr/>
    </dgm:pt>
    <dgm:pt modelId="{707BE448-04FE-43A1-B7E2-6A5E3DDEB4AF}" type="pres">
      <dgm:prSet presAssocID="{C2C5CB99-670D-4440-A6F0-A2C615265A22}" presName="sibTrans" presStyleCnt="0"/>
      <dgm:spPr/>
    </dgm:pt>
    <dgm:pt modelId="{2FEAF524-F090-43DF-847C-36F89E120EA6}" type="pres">
      <dgm:prSet presAssocID="{D51E20DA-186D-41EE-8741-2A4D8B7CA263}" presName="compNode" presStyleCnt="0"/>
      <dgm:spPr/>
    </dgm:pt>
    <dgm:pt modelId="{76154C01-56AC-44E6-A503-DCD014212A9E}" type="pres">
      <dgm:prSet presAssocID="{D51E20DA-186D-41EE-8741-2A4D8B7CA263}" presName="bgRect" presStyleLbl="bgShp" presStyleIdx="3" presStyleCnt="5"/>
      <dgm:spPr/>
    </dgm:pt>
    <dgm:pt modelId="{038ED3D0-A1E1-409E-9F2C-D82851676060}" type="pres">
      <dgm:prSet presAssocID="{D51E20DA-186D-41EE-8741-2A4D8B7CA26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pward trend"/>
        </a:ext>
      </dgm:extLst>
    </dgm:pt>
    <dgm:pt modelId="{6D53011E-64A8-4B76-A6BF-AEB6857449B8}" type="pres">
      <dgm:prSet presAssocID="{D51E20DA-186D-41EE-8741-2A4D8B7CA263}" presName="spaceRect" presStyleCnt="0"/>
      <dgm:spPr/>
    </dgm:pt>
    <dgm:pt modelId="{2A809E27-2821-48AC-BCE9-3B92E49C9706}" type="pres">
      <dgm:prSet presAssocID="{D51E20DA-186D-41EE-8741-2A4D8B7CA263}" presName="parTx" presStyleLbl="revTx" presStyleIdx="3" presStyleCnt="5">
        <dgm:presLayoutVars>
          <dgm:chMax val="0"/>
          <dgm:chPref val="0"/>
        </dgm:presLayoutVars>
      </dgm:prSet>
      <dgm:spPr/>
    </dgm:pt>
    <dgm:pt modelId="{8469C62A-C089-4A64-89D4-2F3BBA8AC03C}" type="pres">
      <dgm:prSet presAssocID="{3B507E66-876A-4B44-901D-145327571A0A}" presName="sibTrans" presStyleCnt="0"/>
      <dgm:spPr/>
    </dgm:pt>
    <dgm:pt modelId="{95B79D6E-05BA-4449-A76F-2EC9A9E41B2A}" type="pres">
      <dgm:prSet presAssocID="{4509085F-781A-4532-AADD-0081B385816E}" presName="compNode" presStyleCnt="0"/>
      <dgm:spPr/>
    </dgm:pt>
    <dgm:pt modelId="{CFF5307A-A278-47C1-83C9-DA0112F089BF}" type="pres">
      <dgm:prSet presAssocID="{4509085F-781A-4532-AADD-0081B385816E}" presName="bgRect" presStyleLbl="bgShp" presStyleIdx="4" presStyleCnt="5"/>
      <dgm:spPr/>
    </dgm:pt>
    <dgm:pt modelId="{D28611A6-EF2F-4D21-A1CA-DBF368E17AD5}" type="pres">
      <dgm:prSet presAssocID="{4509085F-781A-4532-AADD-0081B385816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ins"/>
        </a:ext>
      </dgm:extLst>
    </dgm:pt>
    <dgm:pt modelId="{5D923F7C-D7A9-4FA6-A9B9-28D766BA867D}" type="pres">
      <dgm:prSet presAssocID="{4509085F-781A-4532-AADD-0081B385816E}" presName="spaceRect" presStyleCnt="0"/>
      <dgm:spPr/>
    </dgm:pt>
    <dgm:pt modelId="{5D10B507-ED20-4731-9D79-2ED9F0E1005C}" type="pres">
      <dgm:prSet presAssocID="{4509085F-781A-4532-AADD-0081B385816E}" presName="parTx" presStyleLbl="revTx" presStyleIdx="4" presStyleCnt="5">
        <dgm:presLayoutVars>
          <dgm:chMax val="0"/>
          <dgm:chPref val="0"/>
        </dgm:presLayoutVars>
      </dgm:prSet>
      <dgm:spPr/>
    </dgm:pt>
  </dgm:ptLst>
  <dgm:cxnLst>
    <dgm:cxn modelId="{B3CD2E05-8019-4DE1-A52D-4EAB506844FB}" type="presOf" srcId="{C3D3EA9B-BF74-471D-8ACD-9ABCE4CC791D}" destId="{46CC8EBC-FE7C-43F6-8F10-191A60FA5D13}" srcOrd="0" destOrd="0" presId="urn:microsoft.com/office/officeart/2018/2/layout/IconVerticalSolidList"/>
    <dgm:cxn modelId="{3B90B862-E139-4AC1-8F6B-B5C13BB8D2AE}" type="presOf" srcId="{9FBFDC03-FF45-4D42-8A9C-E1908DEFE2FC}" destId="{837458D7-7C60-4EBA-9069-24AE18A0F226}" srcOrd="0" destOrd="0" presId="urn:microsoft.com/office/officeart/2018/2/layout/IconVerticalSolidList"/>
    <dgm:cxn modelId="{FCFC0A45-1128-45D2-B7D7-8EFF9A4ED856}" type="presOf" srcId="{D51E20DA-186D-41EE-8741-2A4D8B7CA263}" destId="{2A809E27-2821-48AC-BCE9-3B92E49C9706}" srcOrd="0" destOrd="0" presId="urn:microsoft.com/office/officeart/2018/2/layout/IconVerticalSolidList"/>
    <dgm:cxn modelId="{97F38578-5A45-4A48-B3B9-40921F490A13}" type="presOf" srcId="{940185B5-3962-4908-A641-AF57A7B753B0}" destId="{AE162438-D639-49EE-8D90-7D51DF6E3765}" srcOrd="0" destOrd="0" presId="urn:microsoft.com/office/officeart/2018/2/layout/IconVerticalSolidList"/>
    <dgm:cxn modelId="{0FF4B278-B579-45BF-AE72-A6DA8DB2A267}" type="presOf" srcId="{70E167E5-A9E0-41D1-A739-4883F0FF206D}" destId="{D500B57C-8B97-43F5-913B-106DD871BCFD}" srcOrd="0" destOrd="0" presId="urn:microsoft.com/office/officeart/2018/2/layout/IconVerticalSolidList"/>
    <dgm:cxn modelId="{A8E10F84-C5BA-4003-A49F-3ED7BDC4F15D}" srcId="{C3D3EA9B-BF74-471D-8ACD-9ABCE4CC791D}" destId="{940185B5-3962-4908-A641-AF57A7B753B0}" srcOrd="0" destOrd="0" parTransId="{D0D08388-D3E9-4DB0-8843-77364A246DF5}" sibTransId="{C5CF080B-6C69-43E1-8F45-1B470C337424}"/>
    <dgm:cxn modelId="{AF8BBB8A-4A00-4266-B769-87AA3BF4BF48}" srcId="{C3D3EA9B-BF74-471D-8ACD-9ABCE4CC791D}" destId="{70E167E5-A9E0-41D1-A739-4883F0FF206D}" srcOrd="1" destOrd="0" parTransId="{DD43E7A2-E332-449C-87A6-53BB5233C64F}" sibTransId="{F74BD444-071E-4CD3-97F4-40693AA5F2C7}"/>
    <dgm:cxn modelId="{4BEF9C96-0270-4227-8850-985BA3775AA8}" srcId="{C3D3EA9B-BF74-471D-8ACD-9ABCE4CC791D}" destId="{4509085F-781A-4532-AADD-0081B385816E}" srcOrd="4" destOrd="0" parTransId="{943FC2DB-6DBF-4C70-9789-0C9DEA2199D8}" sibTransId="{F06159FC-9FD2-4877-906D-9BFB57D13EC3}"/>
    <dgm:cxn modelId="{C80BFC96-A5F6-470E-AE75-F0E7D194CCC1}" type="presOf" srcId="{4509085F-781A-4532-AADD-0081B385816E}" destId="{5D10B507-ED20-4731-9D79-2ED9F0E1005C}" srcOrd="0" destOrd="0" presId="urn:microsoft.com/office/officeart/2018/2/layout/IconVerticalSolidList"/>
    <dgm:cxn modelId="{A4F795AA-4A46-4E75-B9B5-3396FBF817A0}" srcId="{C3D3EA9B-BF74-471D-8ACD-9ABCE4CC791D}" destId="{9FBFDC03-FF45-4D42-8A9C-E1908DEFE2FC}" srcOrd="2" destOrd="0" parTransId="{83655DF9-659A-4269-A12C-3201D7352BD9}" sibTransId="{C2C5CB99-670D-4440-A6F0-A2C615265A22}"/>
    <dgm:cxn modelId="{692723AC-2065-4FE2-9266-B8E417A97D28}" srcId="{C3D3EA9B-BF74-471D-8ACD-9ABCE4CC791D}" destId="{D51E20DA-186D-41EE-8741-2A4D8B7CA263}" srcOrd="3" destOrd="0" parTransId="{B1168DC0-B9B9-47B4-BA4F-C3CA5CEAF50C}" sibTransId="{3B507E66-876A-4B44-901D-145327571A0A}"/>
    <dgm:cxn modelId="{7E5AEB1A-8583-45DD-A4F4-A42D10C93D16}" type="presParOf" srcId="{46CC8EBC-FE7C-43F6-8F10-191A60FA5D13}" destId="{D831F408-6F2B-405D-8CCD-5F793796EC63}" srcOrd="0" destOrd="0" presId="urn:microsoft.com/office/officeart/2018/2/layout/IconVerticalSolidList"/>
    <dgm:cxn modelId="{AB336BE5-020E-499E-BBEF-2BD93C9A3630}" type="presParOf" srcId="{D831F408-6F2B-405D-8CCD-5F793796EC63}" destId="{380F4DFB-3CD0-4010-A484-A2601CBC6282}" srcOrd="0" destOrd="0" presId="urn:microsoft.com/office/officeart/2018/2/layout/IconVerticalSolidList"/>
    <dgm:cxn modelId="{FF0F144D-672C-4F43-BC13-2EB378457AF1}" type="presParOf" srcId="{D831F408-6F2B-405D-8CCD-5F793796EC63}" destId="{262C271F-6E71-47C4-99D7-424B3FC89BAE}" srcOrd="1" destOrd="0" presId="urn:microsoft.com/office/officeart/2018/2/layout/IconVerticalSolidList"/>
    <dgm:cxn modelId="{7792EBD7-358C-45D3-96FC-2D912F02D759}" type="presParOf" srcId="{D831F408-6F2B-405D-8CCD-5F793796EC63}" destId="{C8FCF975-C8FF-4C7B-B3C3-8329E1433743}" srcOrd="2" destOrd="0" presId="urn:microsoft.com/office/officeart/2018/2/layout/IconVerticalSolidList"/>
    <dgm:cxn modelId="{482D3B0D-731F-4EA4-BF90-790C629A71FA}" type="presParOf" srcId="{D831F408-6F2B-405D-8CCD-5F793796EC63}" destId="{AE162438-D639-49EE-8D90-7D51DF6E3765}" srcOrd="3" destOrd="0" presId="urn:microsoft.com/office/officeart/2018/2/layout/IconVerticalSolidList"/>
    <dgm:cxn modelId="{3348F645-8B44-4A1D-9A64-5B9514797370}" type="presParOf" srcId="{46CC8EBC-FE7C-43F6-8F10-191A60FA5D13}" destId="{E0550552-1869-45D4-B33A-548610491E54}" srcOrd="1" destOrd="0" presId="urn:microsoft.com/office/officeart/2018/2/layout/IconVerticalSolidList"/>
    <dgm:cxn modelId="{7E78DEE6-3D70-4C17-A2FB-8368DEF2F316}" type="presParOf" srcId="{46CC8EBC-FE7C-43F6-8F10-191A60FA5D13}" destId="{9DD61DF7-9561-4C78-A11A-D50F23A76160}" srcOrd="2" destOrd="0" presId="urn:microsoft.com/office/officeart/2018/2/layout/IconVerticalSolidList"/>
    <dgm:cxn modelId="{A9B30976-1980-48C4-8277-5DAA9BD8DD35}" type="presParOf" srcId="{9DD61DF7-9561-4C78-A11A-D50F23A76160}" destId="{165A2369-6480-4D39-AF9C-E35610DFA519}" srcOrd="0" destOrd="0" presId="urn:microsoft.com/office/officeart/2018/2/layout/IconVerticalSolidList"/>
    <dgm:cxn modelId="{1D1A65CF-905A-4033-B753-F35D7C8C322C}" type="presParOf" srcId="{9DD61DF7-9561-4C78-A11A-D50F23A76160}" destId="{88C36E9E-10CB-4A54-A9B6-3838B5462CEC}" srcOrd="1" destOrd="0" presId="urn:microsoft.com/office/officeart/2018/2/layout/IconVerticalSolidList"/>
    <dgm:cxn modelId="{C49CB20C-8DF0-439C-B72F-0028D5E19F34}" type="presParOf" srcId="{9DD61DF7-9561-4C78-A11A-D50F23A76160}" destId="{CC06D16F-9091-4F26-A74A-1A377BFD180B}" srcOrd="2" destOrd="0" presId="urn:microsoft.com/office/officeart/2018/2/layout/IconVerticalSolidList"/>
    <dgm:cxn modelId="{BA449213-9EDA-4491-96F2-465D35A97E5C}" type="presParOf" srcId="{9DD61DF7-9561-4C78-A11A-D50F23A76160}" destId="{D500B57C-8B97-43F5-913B-106DD871BCFD}" srcOrd="3" destOrd="0" presId="urn:microsoft.com/office/officeart/2018/2/layout/IconVerticalSolidList"/>
    <dgm:cxn modelId="{265006C1-2A72-4907-B447-6B2C00A20C9A}" type="presParOf" srcId="{46CC8EBC-FE7C-43F6-8F10-191A60FA5D13}" destId="{9C208BCB-AFF1-42A2-92E9-BC41AFF95822}" srcOrd="3" destOrd="0" presId="urn:microsoft.com/office/officeart/2018/2/layout/IconVerticalSolidList"/>
    <dgm:cxn modelId="{46894931-C519-45EC-AECA-746F1213169D}" type="presParOf" srcId="{46CC8EBC-FE7C-43F6-8F10-191A60FA5D13}" destId="{D4326122-B2D9-4E20-9462-201604E54894}" srcOrd="4" destOrd="0" presId="urn:microsoft.com/office/officeart/2018/2/layout/IconVerticalSolidList"/>
    <dgm:cxn modelId="{8DC26626-3A93-45B0-AAE0-7681FBEEC69E}" type="presParOf" srcId="{D4326122-B2D9-4E20-9462-201604E54894}" destId="{A3D655CD-B541-4EED-A47B-94E76AA84ED7}" srcOrd="0" destOrd="0" presId="urn:microsoft.com/office/officeart/2018/2/layout/IconVerticalSolidList"/>
    <dgm:cxn modelId="{60054687-C034-4215-8A2F-3DCFAB494C79}" type="presParOf" srcId="{D4326122-B2D9-4E20-9462-201604E54894}" destId="{999FBA96-3872-4CA0-91D3-F69F4E5CA520}" srcOrd="1" destOrd="0" presId="urn:microsoft.com/office/officeart/2018/2/layout/IconVerticalSolidList"/>
    <dgm:cxn modelId="{B4DF8E67-0376-4CFF-802E-A70C7B65F05B}" type="presParOf" srcId="{D4326122-B2D9-4E20-9462-201604E54894}" destId="{A82E3284-5027-4306-9EED-C605422B0B6E}" srcOrd="2" destOrd="0" presId="urn:microsoft.com/office/officeart/2018/2/layout/IconVerticalSolidList"/>
    <dgm:cxn modelId="{E0D511C4-5662-4D79-AFDB-59EF116DDF65}" type="presParOf" srcId="{D4326122-B2D9-4E20-9462-201604E54894}" destId="{837458D7-7C60-4EBA-9069-24AE18A0F226}" srcOrd="3" destOrd="0" presId="urn:microsoft.com/office/officeart/2018/2/layout/IconVerticalSolidList"/>
    <dgm:cxn modelId="{FEB05D0D-4826-41EB-BDEF-3A3ADFE8E0DE}" type="presParOf" srcId="{46CC8EBC-FE7C-43F6-8F10-191A60FA5D13}" destId="{707BE448-04FE-43A1-B7E2-6A5E3DDEB4AF}" srcOrd="5" destOrd="0" presId="urn:microsoft.com/office/officeart/2018/2/layout/IconVerticalSolidList"/>
    <dgm:cxn modelId="{54ACC8E4-95E0-4333-9700-37679B1D907A}" type="presParOf" srcId="{46CC8EBC-FE7C-43F6-8F10-191A60FA5D13}" destId="{2FEAF524-F090-43DF-847C-36F89E120EA6}" srcOrd="6" destOrd="0" presId="urn:microsoft.com/office/officeart/2018/2/layout/IconVerticalSolidList"/>
    <dgm:cxn modelId="{662F8D4D-ED36-4D53-A4AC-353FE72CC073}" type="presParOf" srcId="{2FEAF524-F090-43DF-847C-36F89E120EA6}" destId="{76154C01-56AC-44E6-A503-DCD014212A9E}" srcOrd="0" destOrd="0" presId="urn:microsoft.com/office/officeart/2018/2/layout/IconVerticalSolidList"/>
    <dgm:cxn modelId="{507052CC-B337-42FC-851E-413811343802}" type="presParOf" srcId="{2FEAF524-F090-43DF-847C-36F89E120EA6}" destId="{038ED3D0-A1E1-409E-9F2C-D82851676060}" srcOrd="1" destOrd="0" presId="urn:microsoft.com/office/officeart/2018/2/layout/IconVerticalSolidList"/>
    <dgm:cxn modelId="{AFFC9D3C-63A0-4DFD-9B1E-E9FEDC6F5E7B}" type="presParOf" srcId="{2FEAF524-F090-43DF-847C-36F89E120EA6}" destId="{6D53011E-64A8-4B76-A6BF-AEB6857449B8}" srcOrd="2" destOrd="0" presId="urn:microsoft.com/office/officeart/2018/2/layout/IconVerticalSolidList"/>
    <dgm:cxn modelId="{A8C18BF5-EC4F-487F-86E7-E46070E8E178}" type="presParOf" srcId="{2FEAF524-F090-43DF-847C-36F89E120EA6}" destId="{2A809E27-2821-48AC-BCE9-3B92E49C9706}" srcOrd="3" destOrd="0" presId="urn:microsoft.com/office/officeart/2018/2/layout/IconVerticalSolidList"/>
    <dgm:cxn modelId="{747C76A7-5556-4D64-9883-015B1CFB27B1}" type="presParOf" srcId="{46CC8EBC-FE7C-43F6-8F10-191A60FA5D13}" destId="{8469C62A-C089-4A64-89D4-2F3BBA8AC03C}" srcOrd="7" destOrd="0" presId="urn:microsoft.com/office/officeart/2018/2/layout/IconVerticalSolidList"/>
    <dgm:cxn modelId="{2C213F0F-CB02-4F88-9417-A70B30621716}" type="presParOf" srcId="{46CC8EBC-FE7C-43F6-8F10-191A60FA5D13}" destId="{95B79D6E-05BA-4449-A76F-2EC9A9E41B2A}" srcOrd="8" destOrd="0" presId="urn:microsoft.com/office/officeart/2018/2/layout/IconVerticalSolidList"/>
    <dgm:cxn modelId="{0F240B53-A902-438B-B7BC-DFC0FDD85843}" type="presParOf" srcId="{95B79D6E-05BA-4449-A76F-2EC9A9E41B2A}" destId="{CFF5307A-A278-47C1-83C9-DA0112F089BF}" srcOrd="0" destOrd="0" presId="urn:microsoft.com/office/officeart/2018/2/layout/IconVerticalSolidList"/>
    <dgm:cxn modelId="{AD7AF45C-773B-40F6-9BE9-D73D97FF3348}" type="presParOf" srcId="{95B79D6E-05BA-4449-A76F-2EC9A9E41B2A}" destId="{D28611A6-EF2F-4D21-A1CA-DBF368E17AD5}" srcOrd="1" destOrd="0" presId="urn:microsoft.com/office/officeart/2018/2/layout/IconVerticalSolidList"/>
    <dgm:cxn modelId="{0E62EBD9-5763-40FC-820E-919281D7C69F}" type="presParOf" srcId="{95B79D6E-05BA-4449-A76F-2EC9A9E41B2A}" destId="{5D923F7C-D7A9-4FA6-A9B9-28D766BA867D}" srcOrd="2" destOrd="0" presId="urn:microsoft.com/office/officeart/2018/2/layout/IconVerticalSolidList"/>
    <dgm:cxn modelId="{37A9808C-694F-47C6-9758-C13F509461DF}" type="presParOf" srcId="{95B79D6E-05BA-4449-A76F-2EC9A9E41B2A}" destId="{5D10B507-ED20-4731-9D79-2ED9F0E1005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8A0D06-BE08-4442-9443-C7E7EE7131F8}">
      <dsp:nvSpPr>
        <dsp:cNvPr id="0" name=""/>
        <dsp:cNvSpPr/>
      </dsp:nvSpPr>
      <dsp:spPr>
        <a:xfrm>
          <a:off x="0" y="0"/>
          <a:ext cx="7694506" cy="90056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Johnson City Parks and Recreation department has received funding to move forward with a park expansion. </a:t>
          </a:r>
        </a:p>
      </dsp:txBody>
      <dsp:txXfrm>
        <a:off x="26377" y="26377"/>
        <a:ext cx="6646626" cy="847812"/>
      </dsp:txXfrm>
    </dsp:sp>
    <dsp:sp modelId="{D8C47405-32C4-40A4-B3EF-46EEF55C4585}">
      <dsp:nvSpPr>
        <dsp:cNvPr id="0" name=""/>
        <dsp:cNvSpPr/>
      </dsp:nvSpPr>
      <dsp:spPr>
        <a:xfrm>
          <a:off x="644414" y="1064305"/>
          <a:ext cx="7694506" cy="900566"/>
        </a:xfrm>
        <a:prstGeom prst="roundRect">
          <a:avLst>
            <a:gd name="adj" fmla="val 10000"/>
          </a:avLst>
        </a:prstGeom>
        <a:solidFill>
          <a:schemeClr val="accent2">
            <a:hueOff val="-988095"/>
            <a:satOff val="4733"/>
            <a:lumOff val="43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This park expansion will increase the current field count, up from 5 baseball/softball fields and 3 soccer fields to 9 baseball/softball fields and 6 soccer fields </a:t>
          </a:r>
        </a:p>
      </dsp:txBody>
      <dsp:txXfrm>
        <a:off x="670791" y="1090682"/>
        <a:ext cx="6411969" cy="847812"/>
      </dsp:txXfrm>
    </dsp:sp>
    <dsp:sp modelId="{D79BC2C3-FCF7-4700-855F-AB9BA81D03BD}">
      <dsp:nvSpPr>
        <dsp:cNvPr id="0" name=""/>
        <dsp:cNvSpPr/>
      </dsp:nvSpPr>
      <dsp:spPr>
        <a:xfrm>
          <a:off x="1279211" y="2128610"/>
          <a:ext cx="7694506" cy="900566"/>
        </a:xfrm>
        <a:prstGeom prst="roundRect">
          <a:avLst>
            <a:gd name="adj" fmla="val 10000"/>
          </a:avLst>
        </a:prstGeom>
        <a:solidFill>
          <a:schemeClr val="accent2">
            <a:hueOff val="-1976191"/>
            <a:satOff val="9467"/>
            <a:lumOff val="875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existing fields will remain natural turf, but the new fields will be made using artificial turf. </a:t>
          </a:r>
        </a:p>
      </dsp:txBody>
      <dsp:txXfrm>
        <a:off x="1305588" y="2154987"/>
        <a:ext cx="6421587" cy="847812"/>
      </dsp:txXfrm>
    </dsp:sp>
    <dsp:sp modelId="{2D4FF8C9-12CF-4521-B0B4-BE9D1072F2E6}">
      <dsp:nvSpPr>
        <dsp:cNvPr id="0" name=""/>
        <dsp:cNvSpPr/>
      </dsp:nvSpPr>
      <dsp:spPr>
        <a:xfrm>
          <a:off x="1923626" y="3192915"/>
          <a:ext cx="7694506" cy="900566"/>
        </a:xfrm>
        <a:prstGeom prst="roundRect">
          <a:avLst>
            <a:gd name="adj" fmla="val 10000"/>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We are tasked with performing an economic impact analysis on this park expansion to determine the degree of benefit obtained by the regional economy as a whole.</a:t>
          </a:r>
        </a:p>
      </dsp:txBody>
      <dsp:txXfrm>
        <a:off x="1950003" y="3219292"/>
        <a:ext cx="6411969" cy="847812"/>
      </dsp:txXfrm>
    </dsp:sp>
    <dsp:sp modelId="{109140CD-ED44-4D12-8CFD-5B2ED2DD026D}">
      <dsp:nvSpPr>
        <dsp:cNvPr id="0" name=""/>
        <dsp:cNvSpPr/>
      </dsp:nvSpPr>
      <dsp:spPr>
        <a:xfrm>
          <a:off x="7109138" y="689751"/>
          <a:ext cx="585367" cy="58536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240846" y="689751"/>
        <a:ext cx="321951" cy="440489"/>
      </dsp:txXfrm>
    </dsp:sp>
    <dsp:sp modelId="{8C8B47AE-3F0F-45D8-B13C-76A3595B7170}">
      <dsp:nvSpPr>
        <dsp:cNvPr id="0" name=""/>
        <dsp:cNvSpPr/>
      </dsp:nvSpPr>
      <dsp:spPr>
        <a:xfrm>
          <a:off x="7753553" y="1754057"/>
          <a:ext cx="585367" cy="585367"/>
        </a:xfrm>
        <a:prstGeom prst="downArrow">
          <a:avLst>
            <a:gd name="adj1" fmla="val 55000"/>
            <a:gd name="adj2" fmla="val 45000"/>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885261" y="1754057"/>
        <a:ext cx="321951" cy="440489"/>
      </dsp:txXfrm>
    </dsp:sp>
    <dsp:sp modelId="{434AE3EA-8B51-47DA-8927-4C9C692F78D6}">
      <dsp:nvSpPr>
        <dsp:cNvPr id="0" name=""/>
        <dsp:cNvSpPr/>
      </dsp:nvSpPr>
      <dsp:spPr>
        <a:xfrm>
          <a:off x="8388350" y="2818362"/>
          <a:ext cx="585367" cy="585367"/>
        </a:xfrm>
        <a:prstGeom prst="downArrow">
          <a:avLst>
            <a:gd name="adj1" fmla="val 55000"/>
            <a:gd name="adj2" fmla="val 45000"/>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8520058" y="2818362"/>
        <a:ext cx="321951" cy="4404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5FE112-7872-460D-B557-9E1D8E35BD5C}">
      <dsp:nvSpPr>
        <dsp:cNvPr id="0" name=""/>
        <dsp:cNvSpPr/>
      </dsp:nvSpPr>
      <dsp:spPr>
        <a:xfrm>
          <a:off x="493759" y="1044957"/>
          <a:ext cx="806835" cy="806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47E5A2-69F3-4CE6-B8C4-F064B2D53DD7}">
      <dsp:nvSpPr>
        <dsp:cNvPr id="0" name=""/>
        <dsp:cNvSpPr/>
      </dsp:nvSpPr>
      <dsp:spPr>
        <a:xfrm>
          <a:off x="693" y="2196004"/>
          <a:ext cx="1792968" cy="114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Collect all possible data from the source, either JC parks and recreation directly, or other regional government offices that can provide required information. </a:t>
          </a:r>
        </a:p>
      </dsp:txBody>
      <dsp:txXfrm>
        <a:off x="693" y="2196004"/>
        <a:ext cx="1792968" cy="1143017"/>
      </dsp:txXfrm>
    </dsp:sp>
    <dsp:sp modelId="{42EBC8B3-17BC-4427-821C-DB56BE169782}">
      <dsp:nvSpPr>
        <dsp:cNvPr id="0" name=""/>
        <dsp:cNvSpPr/>
      </dsp:nvSpPr>
      <dsp:spPr>
        <a:xfrm>
          <a:off x="2600498" y="1044957"/>
          <a:ext cx="806835" cy="806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B9DF69-D1B8-487D-AA7E-3C1ECB5F9981}">
      <dsp:nvSpPr>
        <dsp:cNvPr id="0" name=""/>
        <dsp:cNvSpPr/>
      </dsp:nvSpPr>
      <dsp:spPr>
        <a:xfrm>
          <a:off x="2107431" y="2196004"/>
          <a:ext cx="1792968" cy="114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Create and distribute a survey in an attempt to capture relevant information from regions outside the target region (Washington County in this case). </a:t>
          </a:r>
        </a:p>
      </dsp:txBody>
      <dsp:txXfrm>
        <a:off x="2107431" y="2196004"/>
        <a:ext cx="1792968" cy="1143017"/>
      </dsp:txXfrm>
    </dsp:sp>
    <dsp:sp modelId="{46239B09-0A4D-4914-973E-F228365DA393}">
      <dsp:nvSpPr>
        <dsp:cNvPr id="0" name=""/>
        <dsp:cNvSpPr/>
      </dsp:nvSpPr>
      <dsp:spPr>
        <a:xfrm>
          <a:off x="4707236" y="1044957"/>
          <a:ext cx="806835" cy="806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C9A0BD-D848-4A65-ADC1-801388BBB191}">
      <dsp:nvSpPr>
        <dsp:cNvPr id="0" name=""/>
        <dsp:cNvSpPr/>
      </dsp:nvSpPr>
      <dsp:spPr>
        <a:xfrm>
          <a:off x="4214170" y="2196004"/>
          <a:ext cx="1792968" cy="114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For additional data not obtained through first two means, we refer to secondary studies to obtain data such as a  proportion of non-local visitors.</a:t>
          </a:r>
        </a:p>
      </dsp:txBody>
      <dsp:txXfrm>
        <a:off x="4214170" y="2196004"/>
        <a:ext cx="1792968" cy="1143017"/>
      </dsp:txXfrm>
    </dsp:sp>
    <dsp:sp modelId="{735901BB-AF86-40B8-B68F-428B6C66A21A}">
      <dsp:nvSpPr>
        <dsp:cNvPr id="0" name=""/>
        <dsp:cNvSpPr/>
      </dsp:nvSpPr>
      <dsp:spPr>
        <a:xfrm>
          <a:off x="6813974" y="1044957"/>
          <a:ext cx="806835" cy="8068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CA28BC-AF2B-478C-978B-0FDCB80FDA68}">
      <dsp:nvSpPr>
        <dsp:cNvPr id="0" name=""/>
        <dsp:cNvSpPr/>
      </dsp:nvSpPr>
      <dsp:spPr>
        <a:xfrm>
          <a:off x="6320908" y="2196004"/>
          <a:ext cx="1792968" cy="114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Create estimates for each sport based </a:t>
          </a:r>
          <a:r>
            <a:rPr lang="en-US" sz="1100" kern="1200" dirty="0">
              <a:latin typeface="Trebuchet MS" panose="020B0603020202020204"/>
            </a:rPr>
            <a:t>on</a:t>
          </a:r>
          <a:r>
            <a:rPr lang="en-US" sz="1100" kern="1200" dirty="0"/>
            <a:t> preceding data </a:t>
          </a:r>
        </a:p>
      </dsp:txBody>
      <dsp:txXfrm>
        <a:off x="6320908" y="2196004"/>
        <a:ext cx="1792968" cy="1143017"/>
      </dsp:txXfrm>
    </dsp:sp>
    <dsp:sp modelId="{975977AF-B26B-4A65-9808-A3F3609D7FA7}">
      <dsp:nvSpPr>
        <dsp:cNvPr id="0" name=""/>
        <dsp:cNvSpPr/>
      </dsp:nvSpPr>
      <dsp:spPr>
        <a:xfrm>
          <a:off x="8920713" y="1044957"/>
          <a:ext cx="806835" cy="80683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F8CEB9-83C6-428C-8216-EFD418BA2A2F}">
      <dsp:nvSpPr>
        <dsp:cNvPr id="0" name=""/>
        <dsp:cNvSpPr/>
      </dsp:nvSpPr>
      <dsp:spPr>
        <a:xfrm>
          <a:off x="8427646" y="2196004"/>
          <a:ext cx="1792968" cy="1143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Apply multipliers using RIMS II I/O model table for the region </a:t>
          </a:r>
        </a:p>
      </dsp:txBody>
      <dsp:txXfrm>
        <a:off x="8427646" y="2196004"/>
        <a:ext cx="1792968" cy="11430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16D363-4447-4A86-9669-1C867D6D4AF9}">
      <dsp:nvSpPr>
        <dsp:cNvPr id="0" name=""/>
        <dsp:cNvSpPr/>
      </dsp:nvSpPr>
      <dsp:spPr>
        <a:xfrm>
          <a:off x="0" y="93057"/>
          <a:ext cx="3005666" cy="180339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RIMS II is a backward-linkage model </a:t>
          </a:r>
        </a:p>
      </dsp:txBody>
      <dsp:txXfrm>
        <a:off x="0" y="93057"/>
        <a:ext cx="3005666" cy="1803399"/>
      </dsp:txXfrm>
    </dsp:sp>
    <dsp:sp modelId="{6675F9BC-D863-43A9-8CC9-2C91F1D075EE}">
      <dsp:nvSpPr>
        <dsp:cNvPr id="0" name=""/>
        <dsp:cNvSpPr/>
      </dsp:nvSpPr>
      <dsp:spPr>
        <a:xfrm>
          <a:off x="3306233" y="93057"/>
          <a:ext cx="3005666" cy="1803399"/>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RIMS II uses Fixed Purchase Patterns </a:t>
          </a:r>
        </a:p>
      </dsp:txBody>
      <dsp:txXfrm>
        <a:off x="3306233" y="93057"/>
        <a:ext cx="3005666" cy="1803399"/>
      </dsp:txXfrm>
    </dsp:sp>
    <dsp:sp modelId="{F794A59A-6EDF-46C2-9C26-22565C8EE2A0}">
      <dsp:nvSpPr>
        <dsp:cNvPr id="0" name=""/>
        <dsp:cNvSpPr/>
      </dsp:nvSpPr>
      <dsp:spPr>
        <a:xfrm>
          <a:off x="6612466" y="93057"/>
          <a:ext cx="3005666" cy="1803399"/>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Industry Homogeneity </a:t>
          </a:r>
        </a:p>
      </dsp:txBody>
      <dsp:txXfrm>
        <a:off x="6612466" y="93057"/>
        <a:ext cx="3005666" cy="1803399"/>
      </dsp:txXfrm>
    </dsp:sp>
    <dsp:sp modelId="{123C3175-4E50-4A8B-8086-78C7A35F7C9F}">
      <dsp:nvSpPr>
        <dsp:cNvPr id="0" name=""/>
        <dsp:cNvSpPr/>
      </dsp:nvSpPr>
      <dsp:spPr>
        <a:xfrm>
          <a:off x="0" y="2197024"/>
          <a:ext cx="3005666" cy="1803399"/>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No Supply Constraints </a:t>
          </a:r>
        </a:p>
      </dsp:txBody>
      <dsp:txXfrm>
        <a:off x="0" y="2197024"/>
        <a:ext cx="3005666" cy="1803399"/>
      </dsp:txXfrm>
    </dsp:sp>
    <dsp:sp modelId="{F3744EBD-A39C-4046-A147-CC482568A6D3}">
      <dsp:nvSpPr>
        <dsp:cNvPr id="0" name=""/>
        <dsp:cNvSpPr/>
      </dsp:nvSpPr>
      <dsp:spPr>
        <a:xfrm>
          <a:off x="3306233" y="2197024"/>
          <a:ext cx="3005666" cy="1803399"/>
        </a:xfrm>
        <a:prstGeom prst="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No Regional Feedback </a:t>
          </a:r>
        </a:p>
      </dsp:txBody>
      <dsp:txXfrm>
        <a:off x="3306233" y="2197024"/>
        <a:ext cx="3005666" cy="1803399"/>
      </dsp:txXfrm>
    </dsp:sp>
    <dsp:sp modelId="{BB476697-311B-457D-B6F2-A8556FBC4626}">
      <dsp:nvSpPr>
        <dsp:cNvPr id="0" name=""/>
        <dsp:cNvSpPr/>
      </dsp:nvSpPr>
      <dsp:spPr>
        <a:xfrm>
          <a:off x="6612466" y="2197024"/>
          <a:ext cx="3005666" cy="180339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No Time Dimension</a:t>
          </a:r>
        </a:p>
      </dsp:txBody>
      <dsp:txXfrm>
        <a:off x="6612466" y="2197024"/>
        <a:ext cx="3005666" cy="18033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0E7AF9-987F-41C1-AA86-DB037AE0400A}">
      <dsp:nvSpPr>
        <dsp:cNvPr id="0" name=""/>
        <dsp:cNvSpPr/>
      </dsp:nvSpPr>
      <dsp:spPr>
        <a:xfrm>
          <a:off x="0" y="3198"/>
          <a:ext cx="9618133" cy="6811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EEF784-4D59-4C35-8817-FE10A15ADFEA}">
      <dsp:nvSpPr>
        <dsp:cNvPr id="0" name=""/>
        <dsp:cNvSpPr/>
      </dsp:nvSpPr>
      <dsp:spPr>
        <a:xfrm>
          <a:off x="206057" y="156463"/>
          <a:ext cx="374649" cy="3746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F6BC50C-31F5-4B5E-AD41-4E855AF248E6}">
      <dsp:nvSpPr>
        <dsp:cNvPr id="0" name=""/>
        <dsp:cNvSpPr/>
      </dsp:nvSpPr>
      <dsp:spPr>
        <a:xfrm>
          <a:off x="786764" y="3198"/>
          <a:ext cx="8831368"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755650">
            <a:lnSpc>
              <a:spcPct val="90000"/>
            </a:lnSpc>
            <a:spcBef>
              <a:spcPct val="0"/>
            </a:spcBef>
            <a:spcAft>
              <a:spcPct val="35000"/>
            </a:spcAft>
            <a:buNone/>
          </a:pPr>
          <a:r>
            <a:rPr lang="en-US" sz="1700" kern="1200"/>
            <a:t>RIMS II multipliers are only meaningful for analyzing the impact of final demand change in a region. Final demand consist of a number of different types of transactions:</a:t>
          </a:r>
        </a:p>
      </dsp:txBody>
      <dsp:txXfrm>
        <a:off x="786764" y="3198"/>
        <a:ext cx="8831368" cy="681180"/>
      </dsp:txXfrm>
    </dsp:sp>
    <dsp:sp modelId="{992B3487-509D-464A-A831-E549A238D33C}">
      <dsp:nvSpPr>
        <dsp:cNvPr id="0" name=""/>
        <dsp:cNvSpPr/>
      </dsp:nvSpPr>
      <dsp:spPr>
        <a:xfrm>
          <a:off x="0" y="854674"/>
          <a:ext cx="9618133" cy="6811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D5B77D-A030-4223-8727-8B937217D297}">
      <dsp:nvSpPr>
        <dsp:cNvPr id="0" name=""/>
        <dsp:cNvSpPr/>
      </dsp:nvSpPr>
      <dsp:spPr>
        <a:xfrm>
          <a:off x="206057" y="1007939"/>
          <a:ext cx="374649" cy="3746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E6A1480-2E20-4B53-8E10-A59A8974F76F}">
      <dsp:nvSpPr>
        <dsp:cNvPr id="0" name=""/>
        <dsp:cNvSpPr/>
      </dsp:nvSpPr>
      <dsp:spPr>
        <a:xfrm>
          <a:off x="786764" y="854674"/>
          <a:ext cx="8831368"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755650">
            <a:lnSpc>
              <a:spcPct val="90000"/>
            </a:lnSpc>
            <a:spcBef>
              <a:spcPct val="0"/>
            </a:spcBef>
            <a:spcAft>
              <a:spcPct val="35000"/>
            </a:spcAft>
            <a:buNone/>
          </a:pPr>
          <a:r>
            <a:rPr lang="en-US" sz="1700" kern="1200"/>
            <a:t>Purchases by consumers outside the region </a:t>
          </a:r>
        </a:p>
      </dsp:txBody>
      <dsp:txXfrm>
        <a:off x="786764" y="854674"/>
        <a:ext cx="8831368" cy="681180"/>
      </dsp:txXfrm>
    </dsp:sp>
    <dsp:sp modelId="{206F2895-CFA6-4281-8E8C-39C28A0562FD}">
      <dsp:nvSpPr>
        <dsp:cNvPr id="0" name=""/>
        <dsp:cNvSpPr/>
      </dsp:nvSpPr>
      <dsp:spPr>
        <a:xfrm>
          <a:off x="0" y="1706150"/>
          <a:ext cx="9618133" cy="6811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2F8FC9-39B9-421A-9D88-DB32A88EF4A4}">
      <dsp:nvSpPr>
        <dsp:cNvPr id="0" name=""/>
        <dsp:cNvSpPr/>
      </dsp:nvSpPr>
      <dsp:spPr>
        <a:xfrm>
          <a:off x="206057" y="1859416"/>
          <a:ext cx="374649" cy="3746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4C011A2-76B8-4B75-8AAC-3AF66BC47560}">
      <dsp:nvSpPr>
        <dsp:cNvPr id="0" name=""/>
        <dsp:cNvSpPr/>
      </dsp:nvSpPr>
      <dsp:spPr>
        <a:xfrm>
          <a:off x="786764" y="1706150"/>
          <a:ext cx="8831368"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755650">
            <a:lnSpc>
              <a:spcPct val="90000"/>
            </a:lnSpc>
            <a:spcBef>
              <a:spcPct val="0"/>
            </a:spcBef>
            <a:spcAft>
              <a:spcPct val="35000"/>
            </a:spcAft>
            <a:buNone/>
          </a:pPr>
          <a:r>
            <a:rPr lang="en-US" sz="1700" kern="1200"/>
            <a:t>Investment in new buildings, equipment, and software</a:t>
          </a:r>
        </a:p>
      </dsp:txBody>
      <dsp:txXfrm>
        <a:off x="786764" y="1706150"/>
        <a:ext cx="8831368" cy="681180"/>
      </dsp:txXfrm>
    </dsp:sp>
    <dsp:sp modelId="{0E31BB4E-62E8-4D55-85E3-A19D483CD37A}">
      <dsp:nvSpPr>
        <dsp:cNvPr id="0" name=""/>
        <dsp:cNvSpPr/>
      </dsp:nvSpPr>
      <dsp:spPr>
        <a:xfrm>
          <a:off x="0" y="2557626"/>
          <a:ext cx="9618133" cy="68118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19D8F9-63D8-4507-9BEE-65580A093A7D}">
      <dsp:nvSpPr>
        <dsp:cNvPr id="0" name=""/>
        <dsp:cNvSpPr/>
      </dsp:nvSpPr>
      <dsp:spPr>
        <a:xfrm>
          <a:off x="206057" y="2710892"/>
          <a:ext cx="374649" cy="3746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A5C0531-8D11-41A0-993C-6DC57B1695E8}">
      <dsp:nvSpPr>
        <dsp:cNvPr id="0" name=""/>
        <dsp:cNvSpPr/>
      </dsp:nvSpPr>
      <dsp:spPr>
        <a:xfrm>
          <a:off x="786764" y="2557626"/>
          <a:ext cx="8831368"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755650">
            <a:lnSpc>
              <a:spcPct val="90000"/>
            </a:lnSpc>
            <a:spcBef>
              <a:spcPct val="0"/>
            </a:spcBef>
            <a:spcAft>
              <a:spcPct val="35000"/>
            </a:spcAft>
            <a:buNone/>
          </a:pPr>
          <a:r>
            <a:rPr lang="en-US" sz="1700" kern="1200"/>
            <a:t>Purchases by government </a:t>
          </a:r>
        </a:p>
      </dsp:txBody>
      <dsp:txXfrm>
        <a:off x="786764" y="2557626"/>
        <a:ext cx="8831368" cy="681180"/>
      </dsp:txXfrm>
    </dsp:sp>
    <dsp:sp modelId="{32F101FF-E79C-4F3F-B698-07AAF80CAE7C}">
      <dsp:nvSpPr>
        <dsp:cNvPr id="0" name=""/>
        <dsp:cNvSpPr/>
      </dsp:nvSpPr>
      <dsp:spPr>
        <a:xfrm>
          <a:off x="0" y="3409102"/>
          <a:ext cx="9618133" cy="681180"/>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DCA5B8-536F-4432-8BF0-40BA48616481}">
      <dsp:nvSpPr>
        <dsp:cNvPr id="0" name=""/>
        <dsp:cNvSpPr/>
      </dsp:nvSpPr>
      <dsp:spPr>
        <a:xfrm>
          <a:off x="206057" y="3562368"/>
          <a:ext cx="374649" cy="3746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C7891BF-6706-46A3-B459-FD706A38CB62}">
      <dsp:nvSpPr>
        <dsp:cNvPr id="0" name=""/>
        <dsp:cNvSpPr/>
      </dsp:nvSpPr>
      <dsp:spPr>
        <a:xfrm>
          <a:off x="786764" y="3409102"/>
          <a:ext cx="8831368" cy="681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092" tIns="72092" rIns="72092" bIns="72092" numCol="1" spcCol="1270" anchor="ctr" anchorCtr="0">
          <a:noAutofit/>
        </a:bodyPr>
        <a:lstStyle/>
        <a:p>
          <a:pPr marL="0" lvl="0" indent="0" algn="l" defTabSz="755650">
            <a:lnSpc>
              <a:spcPct val="90000"/>
            </a:lnSpc>
            <a:spcBef>
              <a:spcPct val="0"/>
            </a:spcBef>
            <a:spcAft>
              <a:spcPct val="35000"/>
            </a:spcAft>
            <a:buNone/>
          </a:pPr>
          <a:r>
            <a:rPr lang="en-US" sz="1700" kern="1200"/>
            <a:t>Purchases by households</a:t>
          </a:r>
        </a:p>
      </dsp:txBody>
      <dsp:txXfrm>
        <a:off x="786764" y="3409102"/>
        <a:ext cx="8831368" cy="6811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0F4DFB-3CD0-4010-A484-A2601CBC6282}">
      <dsp:nvSpPr>
        <dsp:cNvPr id="0" name=""/>
        <dsp:cNvSpPr/>
      </dsp:nvSpPr>
      <dsp:spPr>
        <a:xfrm>
          <a:off x="0" y="3031"/>
          <a:ext cx="8596668" cy="6457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2C271F-6E71-47C4-99D7-424B3FC89BAE}">
      <dsp:nvSpPr>
        <dsp:cNvPr id="0" name=""/>
        <dsp:cNvSpPr/>
      </dsp:nvSpPr>
      <dsp:spPr>
        <a:xfrm>
          <a:off x="195349" y="148333"/>
          <a:ext cx="355181" cy="3551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162438-D639-49EE-8D90-7D51DF6E3765}">
      <dsp:nvSpPr>
        <dsp:cNvPr id="0" name=""/>
        <dsp:cNvSpPr/>
      </dsp:nvSpPr>
      <dsp:spPr>
        <a:xfrm>
          <a:off x="745881" y="3031"/>
          <a:ext cx="7850786" cy="64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46" tIns="68346" rIns="68346" bIns="68346" numCol="1" spcCol="1270" anchor="ctr" anchorCtr="0">
          <a:noAutofit/>
        </a:bodyPr>
        <a:lstStyle/>
        <a:p>
          <a:pPr marL="0" lvl="0" indent="0" algn="l" defTabSz="755650">
            <a:lnSpc>
              <a:spcPct val="100000"/>
            </a:lnSpc>
            <a:spcBef>
              <a:spcPct val="0"/>
            </a:spcBef>
            <a:spcAft>
              <a:spcPct val="35000"/>
            </a:spcAft>
            <a:buNone/>
          </a:pPr>
          <a:r>
            <a:rPr lang="en-US" sz="1700" kern="1200"/>
            <a:t>Collect survey data and incorporate it into the data set we already have built</a:t>
          </a:r>
        </a:p>
      </dsp:txBody>
      <dsp:txXfrm>
        <a:off x="745881" y="3031"/>
        <a:ext cx="7850786" cy="645784"/>
      </dsp:txXfrm>
    </dsp:sp>
    <dsp:sp modelId="{165A2369-6480-4D39-AF9C-E35610DFA519}">
      <dsp:nvSpPr>
        <dsp:cNvPr id="0" name=""/>
        <dsp:cNvSpPr/>
      </dsp:nvSpPr>
      <dsp:spPr>
        <a:xfrm>
          <a:off x="0" y="810262"/>
          <a:ext cx="8596668" cy="6457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C36E9E-10CB-4A54-A9B6-3838B5462CEC}">
      <dsp:nvSpPr>
        <dsp:cNvPr id="0" name=""/>
        <dsp:cNvSpPr/>
      </dsp:nvSpPr>
      <dsp:spPr>
        <a:xfrm>
          <a:off x="195349" y="955564"/>
          <a:ext cx="355181" cy="3551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00B57C-8B97-43F5-913B-106DD871BCFD}">
      <dsp:nvSpPr>
        <dsp:cNvPr id="0" name=""/>
        <dsp:cNvSpPr/>
      </dsp:nvSpPr>
      <dsp:spPr>
        <a:xfrm>
          <a:off x="745881" y="810262"/>
          <a:ext cx="7850786" cy="64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46" tIns="68346" rIns="68346" bIns="68346" numCol="1" spcCol="1270" anchor="ctr" anchorCtr="0">
          <a:noAutofit/>
        </a:bodyPr>
        <a:lstStyle/>
        <a:p>
          <a:pPr marL="0" lvl="0" indent="0" algn="l" defTabSz="755650">
            <a:lnSpc>
              <a:spcPct val="100000"/>
            </a:lnSpc>
            <a:spcBef>
              <a:spcPct val="0"/>
            </a:spcBef>
            <a:spcAft>
              <a:spcPct val="35000"/>
            </a:spcAft>
            <a:buNone/>
          </a:pPr>
          <a:r>
            <a:rPr lang="en-US" sz="1700" kern="1200"/>
            <a:t>Use both collected data and secondary studies to build a cohesive data set</a:t>
          </a:r>
        </a:p>
      </dsp:txBody>
      <dsp:txXfrm>
        <a:off x="745881" y="810262"/>
        <a:ext cx="7850786" cy="645784"/>
      </dsp:txXfrm>
    </dsp:sp>
    <dsp:sp modelId="{A3D655CD-B541-4EED-A47B-94E76AA84ED7}">
      <dsp:nvSpPr>
        <dsp:cNvPr id="0" name=""/>
        <dsp:cNvSpPr/>
      </dsp:nvSpPr>
      <dsp:spPr>
        <a:xfrm>
          <a:off x="0" y="1617494"/>
          <a:ext cx="8596668" cy="6457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9FBA96-3872-4CA0-91D3-F69F4E5CA520}">
      <dsp:nvSpPr>
        <dsp:cNvPr id="0" name=""/>
        <dsp:cNvSpPr/>
      </dsp:nvSpPr>
      <dsp:spPr>
        <a:xfrm>
          <a:off x="195349" y="1762795"/>
          <a:ext cx="355181" cy="3551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7458D7-7C60-4EBA-9069-24AE18A0F226}">
      <dsp:nvSpPr>
        <dsp:cNvPr id="0" name=""/>
        <dsp:cNvSpPr/>
      </dsp:nvSpPr>
      <dsp:spPr>
        <a:xfrm>
          <a:off x="745881" y="1617494"/>
          <a:ext cx="7850786" cy="64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46" tIns="68346" rIns="68346" bIns="68346" numCol="1" spcCol="1270" anchor="ctr" anchorCtr="0">
          <a:noAutofit/>
        </a:bodyPr>
        <a:lstStyle/>
        <a:p>
          <a:pPr marL="0" lvl="0" indent="0" algn="l" defTabSz="755650">
            <a:lnSpc>
              <a:spcPct val="100000"/>
            </a:lnSpc>
            <a:spcBef>
              <a:spcPct val="0"/>
            </a:spcBef>
            <a:spcAft>
              <a:spcPct val="35000"/>
            </a:spcAft>
            <a:buNone/>
          </a:pPr>
          <a:r>
            <a:rPr lang="en-US" sz="1700" kern="1200"/>
            <a:t>Once data set is complete begin analysis using RIMS II multipliers as laid out in the manual published by the Bureau of Economic Analysis (BEA).</a:t>
          </a:r>
        </a:p>
      </dsp:txBody>
      <dsp:txXfrm>
        <a:off x="745881" y="1617494"/>
        <a:ext cx="7850786" cy="645784"/>
      </dsp:txXfrm>
    </dsp:sp>
    <dsp:sp modelId="{76154C01-56AC-44E6-A503-DCD014212A9E}">
      <dsp:nvSpPr>
        <dsp:cNvPr id="0" name=""/>
        <dsp:cNvSpPr/>
      </dsp:nvSpPr>
      <dsp:spPr>
        <a:xfrm>
          <a:off x="0" y="2424725"/>
          <a:ext cx="8596668" cy="6457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8ED3D0-A1E1-409E-9F2C-D82851676060}">
      <dsp:nvSpPr>
        <dsp:cNvPr id="0" name=""/>
        <dsp:cNvSpPr/>
      </dsp:nvSpPr>
      <dsp:spPr>
        <a:xfrm>
          <a:off x="195349" y="2570026"/>
          <a:ext cx="355181" cy="35518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809E27-2821-48AC-BCE9-3B92E49C9706}">
      <dsp:nvSpPr>
        <dsp:cNvPr id="0" name=""/>
        <dsp:cNvSpPr/>
      </dsp:nvSpPr>
      <dsp:spPr>
        <a:xfrm>
          <a:off x="745881" y="2424725"/>
          <a:ext cx="7850786" cy="64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46" tIns="68346" rIns="68346" bIns="68346" numCol="1" spcCol="1270" anchor="ctr" anchorCtr="0">
          <a:noAutofit/>
        </a:bodyPr>
        <a:lstStyle/>
        <a:p>
          <a:pPr marL="0" lvl="0" indent="0" algn="l" defTabSz="755650">
            <a:lnSpc>
              <a:spcPct val="100000"/>
            </a:lnSpc>
            <a:spcBef>
              <a:spcPct val="0"/>
            </a:spcBef>
            <a:spcAft>
              <a:spcPct val="35000"/>
            </a:spcAft>
            <a:buNone/>
          </a:pPr>
          <a:r>
            <a:rPr lang="en-US" sz="1700" kern="1200"/>
            <a:t>Produce numbers that correspond with the various economic effects produced by the project</a:t>
          </a:r>
        </a:p>
      </dsp:txBody>
      <dsp:txXfrm>
        <a:off x="745881" y="2424725"/>
        <a:ext cx="7850786" cy="645784"/>
      </dsp:txXfrm>
    </dsp:sp>
    <dsp:sp modelId="{CFF5307A-A278-47C1-83C9-DA0112F089BF}">
      <dsp:nvSpPr>
        <dsp:cNvPr id="0" name=""/>
        <dsp:cNvSpPr/>
      </dsp:nvSpPr>
      <dsp:spPr>
        <a:xfrm>
          <a:off x="0" y="3231956"/>
          <a:ext cx="8596668" cy="6457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8611A6-EF2F-4D21-A1CA-DBF368E17AD5}">
      <dsp:nvSpPr>
        <dsp:cNvPr id="0" name=""/>
        <dsp:cNvSpPr/>
      </dsp:nvSpPr>
      <dsp:spPr>
        <a:xfrm>
          <a:off x="195349" y="3377257"/>
          <a:ext cx="355181" cy="35518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10B507-ED20-4731-9D79-2ED9F0E1005C}">
      <dsp:nvSpPr>
        <dsp:cNvPr id="0" name=""/>
        <dsp:cNvSpPr/>
      </dsp:nvSpPr>
      <dsp:spPr>
        <a:xfrm>
          <a:off x="745881" y="3231956"/>
          <a:ext cx="7850786" cy="64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346" tIns="68346" rIns="68346" bIns="68346" numCol="1" spcCol="1270" anchor="ctr" anchorCtr="0">
          <a:noAutofit/>
        </a:bodyPr>
        <a:lstStyle/>
        <a:p>
          <a:pPr marL="0" lvl="0" indent="0" algn="l" defTabSz="755650">
            <a:lnSpc>
              <a:spcPct val="100000"/>
            </a:lnSpc>
            <a:spcBef>
              <a:spcPct val="0"/>
            </a:spcBef>
            <a:spcAft>
              <a:spcPct val="35000"/>
            </a:spcAft>
            <a:buNone/>
          </a:pPr>
          <a:r>
            <a:rPr lang="en-US" sz="1700" kern="1200"/>
            <a:t>Compile an economic analysis for the park expansion based off of these findings</a:t>
          </a:r>
        </a:p>
      </dsp:txBody>
      <dsp:txXfrm>
        <a:off x="745881" y="3231956"/>
        <a:ext cx="7850786" cy="64578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10/10/2023</a:t>
            </a:fld>
            <a:endParaRPr lang="en-US"/>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10/10/2023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a:p>
        </p:txBody>
      </p:sp>
    </p:spTree>
    <p:extLst>
      <p:ext uri="{BB962C8B-B14F-4D97-AF65-F5344CB8AC3E}">
        <p14:creationId xmlns:p14="http://schemas.microsoft.com/office/powerpoint/2010/main" val="2169385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05212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01694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81872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10/10/2023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4208310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48880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28008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59858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4067333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21561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73417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1239226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48442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6194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748052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2171295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96467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10/10/2023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731636649"/>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hyperlink" Target="https://docs.google.com/forms/d/e/1FAIpQLScD4NI19zBT1PyfLsbvYWQA6MJSZKmjWwtkXWSLqJa5ocHcJg/viewform?usp=sf_link"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861024" y="2404534"/>
            <a:ext cx="8412979" cy="1646302"/>
          </a:xfrm>
        </p:spPr>
        <p:txBody>
          <a:bodyPr/>
          <a:lstStyle/>
          <a:p>
            <a:r>
              <a:rPr lang="en-US"/>
              <a:t>Winged Deer Park</a:t>
            </a:r>
            <a:br>
              <a:rPr lang="en-US"/>
            </a:br>
            <a:r>
              <a:rPr lang="en-US"/>
              <a:t>Economic Impact Study</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p:txBody>
          <a:bodyPr/>
          <a:lstStyle/>
          <a:p>
            <a:pPr>
              <a:lnSpc>
                <a:spcPct val="90000"/>
              </a:lnSpc>
              <a:spcBef>
                <a:spcPts val="1200"/>
              </a:spcBef>
            </a:pPr>
            <a:r>
              <a:rPr lang="en-US" sz="2200">
                <a:ea typeface="+mn-lt"/>
                <a:cs typeface="+mn-lt"/>
              </a:rPr>
              <a:t>Kent Roller, Toby Adebiyi, Adade Yeboah</a:t>
            </a:r>
            <a:endParaRPr lang="en-US"/>
          </a:p>
          <a:p>
            <a:pPr>
              <a:lnSpc>
                <a:spcPct val="90000"/>
              </a:lnSpc>
              <a:spcBef>
                <a:spcPts val="1200"/>
              </a:spcBef>
            </a:pPr>
            <a:r>
              <a:rPr lang="en-US" sz="2200">
                <a:ea typeface="+mn-lt"/>
                <a:cs typeface="+mn-lt"/>
              </a:rPr>
              <a:t>Kevin Willis, Richard Ojo, Katelyn Williams</a:t>
            </a:r>
            <a:endParaRPr lang="en-US"/>
          </a:p>
        </p:txBody>
      </p:sp>
      <p:pic>
        <p:nvPicPr>
          <p:cNvPr id="4" name="Picture 3" descr="A logo with mountains and a mustache&#10;&#10;Description automatically generated">
            <a:extLst>
              <a:ext uri="{FF2B5EF4-FFF2-40B4-BE49-F238E27FC236}">
                <a16:creationId xmlns:a16="http://schemas.microsoft.com/office/drawing/2014/main" id="{62019056-FF3F-4197-C64C-5FEB9026A507}"/>
              </a:ext>
            </a:extLst>
          </p:cNvPr>
          <p:cNvPicPr>
            <a:picLocks noChangeAspect="1"/>
          </p:cNvPicPr>
          <p:nvPr/>
        </p:nvPicPr>
        <p:blipFill>
          <a:blip r:embed="rId3"/>
          <a:stretch>
            <a:fillRect/>
          </a:stretch>
        </p:blipFill>
        <p:spPr>
          <a:xfrm>
            <a:off x="301487" y="4957976"/>
            <a:ext cx="2743200" cy="1812223"/>
          </a:xfrm>
          <a:prstGeom prst="rect">
            <a:avLst/>
          </a:prstGeom>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Magnifying glass showing decling performance">
            <a:extLst>
              <a:ext uri="{FF2B5EF4-FFF2-40B4-BE49-F238E27FC236}">
                <a16:creationId xmlns:a16="http://schemas.microsoft.com/office/drawing/2014/main" id="{82DC0512-A0B4-22C1-BBBE-A29AF11A78AD}"/>
              </a:ext>
            </a:extLst>
          </p:cNvPr>
          <p:cNvPicPr>
            <a:picLocks noChangeAspect="1"/>
          </p:cNvPicPr>
          <p:nvPr/>
        </p:nvPicPr>
        <p:blipFill rotWithShape="1">
          <a:blip r:embed="rId2"/>
          <a:srcRect l="13472" r="9532" b="-4"/>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C93F744A-EF0D-C661-8C02-66219BE8CE6B}"/>
              </a:ext>
            </a:extLst>
          </p:cNvPr>
          <p:cNvSpPr>
            <a:spLocks noGrp="1"/>
          </p:cNvSpPr>
          <p:nvPr>
            <p:ph type="title"/>
          </p:nvPr>
        </p:nvSpPr>
        <p:spPr>
          <a:xfrm>
            <a:off x="677333" y="609600"/>
            <a:ext cx="3851123" cy="1320800"/>
          </a:xfrm>
        </p:spPr>
        <p:txBody>
          <a:bodyPr>
            <a:normAutofit/>
          </a:bodyPr>
          <a:lstStyle/>
          <a:p>
            <a:r>
              <a:rPr lang="en-US"/>
              <a:t>Table of Contents </a:t>
            </a:r>
          </a:p>
        </p:txBody>
      </p:sp>
      <p:sp>
        <p:nvSpPr>
          <p:cNvPr id="3" name="Content Placeholder 2">
            <a:extLst>
              <a:ext uri="{FF2B5EF4-FFF2-40B4-BE49-F238E27FC236}">
                <a16:creationId xmlns:a16="http://schemas.microsoft.com/office/drawing/2014/main" id="{B15A269F-E53D-1649-3BC6-0E3AB72046E1}"/>
              </a:ext>
            </a:extLst>
          </p:cNvPr>
          <p:cNvSpPr>
            <a:spLocks noGrp="1"/>
          </p:cNvSpPr>
          <p:nvPr>
            <p:ph idx="1"/>
          </p:nvPr>
        </p:nvSpPr>
        <p:spPr>
          <a:xfrm>
            <a:off x="677334" y="2160589"/>
            <a:ext cx="3851122" cy="3880773"/>
          </a:xfrm>
        </p:spPr>
        <p:txBody>
          <a:bodyPr vert="horz" lIns="91440" tIns="45720" rIns="91440" bIns="45720" rtlCol="0" anchor="t">
            <a:normAutofit/>
          </a:bodyPr>
          <a:lstStyle/>
          <a:p>
            <a:r>
              <a:rPr lang="en-US" dirty="0"/>
              <a:t>Project Overview and Goals 3-4</a:t>
            </a:r>
          </a:p>
          <a:p>
            <a:r>
              <a:rPr lang="en-US" dirty="0"/>
              <a:t>Initial Data Sets and Analysis 5-10</a:t>
            </a:r>
          </a:p>
          <a:p>
            <a:r>
              <a:rPr lang="en-US" dirty="0"/>
              <a:t>Multiplier Effect and Impact Estimation 11-15</a:t>
            </a:r>
          </a:p>
          <a:p>
            <a:r>
              <a:rPr lang="en-US" dirty="0"/>
              <a:t>Survey Overview 16</a:t>
            </a:r>
          </a:p>
          <a:p>
            <a:r>
              <a:rPr lang="en-US" dirty="0"/>
              <a:t>RIMS II integration and Moving Forward 17-22</a:t>
            </a:r>
          </a:p>
          <a:p>
            <a:endParaRPr lang="en-US"/>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83943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939635-02AC-4B72-0B04-97894CCC2171}"/>
              </a:ext>
            </a:extLst>
          </p:cNvPr>
          <p:cNvSpPr>
            <a:spLocks noGrp="1"/>
          </p:cNvSpPr>
          <p:nvPr>
            <p:ph type="title"/>
          </p:nvPr>
        </p:nvSpPr>
        <p:spPr>
          <a:xfrm>
            <a:off x="1286933" y="609600"/>
            <a:ext cx="10197494" cy="1099457"/>
          </a:xfrm>
        </p:spPr>
        <p:txBody>
          <a:bodyPr>
            <a:normAutofit/>
          </a:bodyPr>
          <a:lstStyle/>
          <a:p>
            <a:r>
              <a:rPr lang="en-US"/>
              <a:t>Project Overview</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BC0E868B-19F6-F500-F16B-ABF37FC6E8C2}"/>
              </a:ext>
            </a:extLst>
          </p:cNvPr>
          <p:cNvGraphicFramePr>
            <a:graphicFrameLocks noGrp="1"/>
          </p:cNvGraphicFramePr>
          <p:nvPr>
            <p:ph idx="1"/>
            <p:extLst>
              <p:ext uri="{D42A27DB-BD31-4B8C-83A1-F6EECF244321}">
                <p14:modId xmlns:p14="http://schemas.microsoft.com/office/powerpoint/2010/main" val="3165164940"/>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2295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2C3B-5FA5-3DF9-547E-3956F3B96A3F}"/>
              </a:ext>
            </a:extLst>
          </p:cNvPr>
          <p:cNvSpPr>
            <a:spLocks noGrp="1"/>
          </p:cNvSpPr>
          <p:nvPr>
            <p:ph type="title"/>
          </p:nvPr>
        </p:nvSpPr>
        <p:spPr/>
        <p:txBody>
          <a:bodyPr/>
          <a:lstStyle/>
          <a:p>
            <a:r>
              <a:rPr lang="en-US"/>
              <a:t>Project Goals</a:t>
            </a:r>
          </a:p>
        </p:txBody>
      </p:sp>
      <p:graphicFrame>
        <p:nvGraphicFramePr>
          <p:cNvPr id="15" name="Content Placeholder 2">
            <a:extLst>
              <a:ext uri="{FF2B5EF4-FFF2-40B4-BE49-F238E27FC236}">
                <a16:creationId xmlns:a16="http://schemas.microsoft.com/office/drawing/2014/main" id="{1DCD83C1-E843-BE59-FA39-396719DA4FD0}"/>
              </a:ext>
            </a:extLst>
          </p:cNvPr>
          <p:cNvGraphicFramePr>
            <a:graphicFrameLocks noGrp="1"/>
          </p:cNvGraphicFramePr>
          <p:nvPr>
            <p:ph idx="1"/>
            <p:extLst>
              <p:ext uri="{D42A27DB-BD31-4B8C-83A1-F6EECF244321}">
                <p14:modId xmlns:p14="http://schemas.microsoft.com/office/powerpoint/2010/main" val="2561318008"/>
              </p:ext>
            </p:extLst>
          </p:nvPr>
        </p:nvGraphicFramePr>
        <p:xfrm>
          <a:off x="303523" y="2160589"/>
          <a:ext cx="10221309" cy="43839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2973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757F3-E502-C73B-B3D4-B7A768889FFF}"/>
              </a:ext>
            </a:extLst>
          </p:cNvPr>
          <p:cNvSpPr>
            <a:spLocks noGrp="1"/>
          </p:cNvSpPr>
          <p:nvPr>
            <p:ph type="title"/>
          </p:nvPr>
        </p:nvSpPr>
        <p:spPr/>
        <p:txBody>
          <a:bodyPr/>
          <a:lstStyle/>
          <a:p>
            <a:r>
              <a:rPr lang="en-US"/>
              <a:t>Data Analysis</a:t>
            </a:r>
          </a:p>
        </p:txBody>
      </p:sp>
      <p:sp>
        <p:nvSpPr>
          <p:cNvPr id="3" name="Text Placeholder 2">
            <a:extLst>
              <a:ext uri="{FF2B5EF4-FFF2-40B4-BE49-F238E27FC236}">
                <a16:creationId xmlns:a16="http://schemas.microsoft.com/office/drawing/2014/main" id="{FFC2680D-1961-517B-54FD-034ADAF044A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8084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45CA2-9C49-73BF-E0DB-89EF6A837D81}"/>
              </a:ext>
            </a:extLst>
          </p:cNvPr>
          <p:cNvSpPr>
            <a:spLocks noGrp="1"/>
          </p:cNvSpPr>
          <p:nvPr>
            <p:ph type="title"/>
          </p:nvPr>
        </p:nvSpPr>
        <p:spPr/>
        <p:txBody>
          <a:bodyPr/>
          <a:lstStyle/>
          <a:p>
            <a:r>
              <a:rPr lang="en-US"/>
              <a:t>Average Cost per Type of Tournament</a:t>
            </a:r>
          </a:p>
        </p:txBody>
      </p:sp>
      <p:pic>
        <p:nvPicPr>
          <p:cNvPr id="5" name="Content Placeholder 4" descr="A graph showing the average cost per tournament&#10;&#10;Description automatically generated">
            <a:extLst>
              <a:ext uri="{FF2B5EF4-FFF2-40B4-BE49-F238E27FC236}">
                <a16:creationId xmlns:a16="http://schemas.microsoft.com/office/drawing/2014/main" id="{A3A79FCA-E9B3-6503-E6C3-3490442A8A84}"/>
              </a:ext>
            </a:extLst>
          </p:cNvPr>
          <p:cNvPicPr>
            <a:picLocks noGrp="1" noChangeAspect="1"/>
          </p:cNvPicPr>
          <p:nvPr>
            <p:ph sz="half" idx="1"/>
          </p:nvPr>
        </p:nvPicPr>
        <p:blipFill>
          <a:blip r:embed="rId2"/>
          <a:stretch>
            <a:fillRect/>
          </a:stretch>
        </p:blipFill>
        <p:spPr>
          <a:xfrm>
            <a:off x="677863" y="2172191"/>
            <a:ext cx="5743347" cy="3466344"/>
          </a:xfrm>
        </p:spPr>
      </p:pic>
      <p:sp>
        <p:nvSpPr>
          <p:cNvPr id="4" name="Content Placeholder 3">
            <a:extLst>
              <a:ext uri="{FF2B5EF4-FFF2-40B4-BE49-F238E27FC236}">
                <a16:creationId xmlns:a16="http://schemas.microsoft.com/office/drawing/2014/main" id="{DD548E44-8F4E-8FE3-A5F0-ACF8D2DC27CD}"/>
              </a:ext>
            </a:extLst>
          </p:cNvPr>
          <p:cNvSpPr>
            <a:spLocks noGrp="1"/>
          </p:cNvSpPr>
          <p:nvPr>
            <p:ph sz="half" idx="2"/>
          </p:nvPr>
        </p:nvSpPr>
        <p:spPr>
          <a:xfrm>
            <a:off x="6829316" y="2168871"/>
            <a:ext cx="2726296" cy="3872491"/>
          </a:xfrm>
        </p:spPr>
        <p:txBody>
          <a:bodyPr vert="horz" lIns="91440" tIns="45720" rIns="91440" bIns="45720" rtlCol="0" anchor="t">
            <a:normAutofit/>
          </a:bodyPr>
          <a:lstStyle/>
          <a:p>
            <a:r>
              <a:rPr lang="en-US" sz="1600">
                <a:solidFill>
                  <a:schemeClr val="tx1"/>
                </a:solidFill>
              </a:rPr>
              <a:t>Total Cost for 1-Day Tournament: $1,545</a:t>
            </a:r>
          </a:p>
          <a:p>
            <a:endParaRPr lang="en-US" sz="1600">
              <a:solidFill>
                <a:schemeClr val="tx1"/>
              </a:solidFill>
            </a:endParaRPr>
          </a:p>
          <a:p>
            <a:r>
              <a:rPr lang="en-US" sz="1600">
                <a:solidFill>
                  <a:schemeClr val="tx1"/>
                </a:solidFill>
              </a:rPr>
              <a:t>Total Cost for 2-Day Tournament: $3,475</a:t>
            </a:r>
          </a:p>
          <a:p>
            <a:endParaRPr lang="en-US" sz="1600">
              <a:solidFill>
                <a:schemeClr val="tx1"/>
              </a:solidFill>
            </a:endParaRPr>
          </a:p>
          <a:p>
            <a:r>
              <a:rPr lang="en-US" sz="1600">
                <a:solidFill>
                  <a:schemeClr val="tx1"/>
                </a:solidFill>
              </a:rPr>
              <a:t>Total Cost for National Tournament: $6,057</a:t>
            </a:r>
          </a:p>
        </p:txBody>
      </p:sp>
    </p:spTree>
    <p:extLst>
      <p:ext uri="{BB962C8B-B14F-4D97-AF65-F5344CB8AC3E}">
        <p14:creationId xmlns:p14="http://schemas.microsoft.com/office/powerpoint/2010/main" val="909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6D5E-1789-E239-65D8-30BDE8F9BE3B}"/>
              </a:ext>
            </a:extLst>
          </p:cNvPr>
          <p:cNvSpPr>
            <a:spLocks noGrp="1"/>
          </p:cNvSpPr>
          <p:nvPr>
            <p:ph type="title"/>
          </p:nvPr>
        </p:nvSpPr>
        <p:spPr/>
        <p:txBody>
          <a:bodyPr/>
          <a:lstStyle/>
          <a:p>
            <a:r>
              <a:rPr lang="en-US"/>
              <a:t>Number of Teams per Month Attending Tournaments</a:t>
            </a:r>
          </a:p>
        </p:txBody>
      </p:sp>
      <p:pic>
        <p:nvPicPr>
          <p:cNvPr id="5" name="Content Placeholder 4" descr="A graph of numbers and a number of teams per month&#10;&#10;Description automatically generated">
            <a:extLst>
              <a:ext uri="{FF2B5EF4-FFF2-40B4-BE49-F238E27FC236}">
                <a16:creationId xmlns:a16="http://schemas.microsoft.com/office/drawing/2014/main" id="{50699209-CE02-B2DD-2167-EC39E844BBDB}"/>
              </a:ext>
            </a:extLst>
          </p:cNvPr>
          <p:cNvPicPr>
            <a:picLocks noGrp="1" noChangeAspect="1"/>
          </p:cNvPicPr>
          <p:nvPr>
            <p:ph sz="half" idx="1"/>
          </p:nvPr>
        </p:nvPicPr>
        <p:blipFill>
          <a:blip r:embed="rId2"/>
          <a:stretch>
            <a:fillRect/>
          </a:stretch>
        </p:blipFill>
        <p:spPr>
          <a:xfrm>
            <a:off x="677863" y="2159286"/>
            <a:ext cx="5525633" cy="3593756"/>
          </a:xfrm>
        </p:spPr>
      </p:pic>
      <p:sp>
        <p:nvSpPr>
          <p:cNvPr id="4" name="Content Placeholder 3">
            <a:extLst>
              <a:ext uri="{FF2B5EF4-FFF2-40B4-BE49-F238E27FC236}">
                <a16:creationId xmlns:a16="http://schemas.microsoft.com/office/drawing/2014/main" id="{0B789454-2ADB-FC23-3A82-76F866DACF40}"/>
              </a:ext>
            </a:extLst>
          </p:cNvPr>
          <p:cNvSpPr>
            <a:spLocks noGrp="1"/>
          </p:cNvSpPr>
          <p:nvPr>
            <p:ph sz="half" idx="2"/>
          </p:nvPr>
        </p:nvSpPr>
        <p:spPr>
          <a:xfrm>
            <a:off x="6580839" y="2160589"/>
            <a:ext cx="2693165" cy="3880773"/>
          </a:xfrm>
        </p:spPr>
        <p:txBody>
          <a:bodyPr vert="horz" lIns="91440" tIns="45720" rIns="91440" bIns="45720" rtlCol="0" anchor="t">
            <a:normAutofit/>
          </a:bodyPr>
          <a:lstStyle/>
          <a:p>
            <a:r>
              <a:rPr lang="en-US"/>
              <a:t>Total Number of Teams in 2022: 560</a:t>
            </a:r>
          </a:p>
          <a:p>
            <a:pPr marL="0" indent="0">
              <a:buNone/>
            </a:pPr>
            <a:endParaRPr lang="en-US"/>
          </a:p>
          <a:p>
            <a:r>
              <a:rPr lang="en-US"/>
              <a:t>Total Number of Teams in 2023: 523</a:t>
            </a:r>
          </a:p>
        </p:txBody>
      </p:sp>
    </p:spTree>
    <p:extLst>
      <p:ext uri="{BB962C8B-B14F-4D97-AF65-F5344CB8AC3E}">
        <p14:creationId xmlns:p14="http://schemas.microsoft.com/office/powerpoint/2010/main" val="54519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542-F871-B3AF-0EE1-D5C0906DAE97}"/>
              </a:ext>
            </a:extLst>
          </p:cNvPr>
          <p:cNvSpPr>
            <a:spLocks noGrp="1"/>
          </p:cNvSpPr>
          <p:nvPr>
            <p:ph type="title"/>
          </p:nvPr>
        </p:nvSpPr>
        <p:spPr/>
        <p:txBody>
          <a:bodyPr/>
          <a:lstStyle/>
          <a:p>
            <a:r>
              <a:rPr lang="en-US"/>
              <a:t>Total Charged to Tournament Directors per Month </a:t>
            </a:r>
          </a:p>
        </p:txBody>
      </p:sp>
      <p:sp>
        <p:nvSpPr>
          <p:cNvPr id="3" name="Content Placeholder 2">
            <a:extLst>
              <a:ext uri="{FF2B5EF4-FFF2-40B4-BE49-F238E27FC236}">
                <a16:creationId xmlns:a16="http://schemas.microsoft.com/office/drawing/2014/main" id="{EF29C4A5-4081-EF22-5081-5802E6CC63AF}"/>
              </a:ext>
            </a:extLst>
          </p:cNvPr>
          <p:cNvSpPr>
            <a:spLocks noGrp="1"/>
          </p:cNvSpPr>
          <p:nvPr>
            <p:ph sz="half" idx="1"/>
          </p:nvPr>
        </p:nvSpPr>
        <p:spPr>
          <a:xfrm>
            <a:off x="677334" y="2160589"/>
            <a:ext cx="5724599" cy="3880772"/>
          </a:xfrm>
        </p:spPr>
        <p:txBody>
          <a:bodyPr/>
          <a:lstStyle/>
          <a:p>
            <a:endParaRPr lang="en-US"/>
          </a:p>
        </p:txBody>
      </p:sp>
      <p:sp>
        <p:nvSpPr>
          <p:cNvPr id="4" name="Content Placeholder 3">
            <a:extLst>
              <a:ext uri="{FF2B5EF4-FFF2-40B4-BE49-F238E27FC236}">
                <a16:creationId xmlns:a16="http://schemas.microsoft.com/office/drawing/2014/main" id="{AC1244CA-140E-DD95-F2F8-410C1095C7D0}"/>
              </a:ext>
            </a:extLst>
          </p:cNvPr>
          <p:cNvSpPr>
            <a:spLocks noGrp="1"/>
          </p:cNvSpPr>
          <p:nvPr>
            <p:ph sz="half" idx="2"/>
          </p:nvPr>
        </p:nvSpPr>
        <p:spPr>
          <a:xfrm>
            <a:off x="6564274" y="2160589"/>
            <a:ext cx="2709730" cy="3880773"/>
          </a:xfrm>
        </p:spPr>
        <p:txBody>
          <a:bodyPr/>
          <a:lstStyle/>
          <a:p>
            <a:endParaRPr lang="en-US"/>
          </a:p>
        </p:txBody>
      </p:sp>
    </p:spTree>
    <p:extLst>
      <p:ext uri="{BB962C8B-B14F-4D97-AF65-F5344CB8AC3E}">
        <p14:creationId xmlns:p14="http://schemas.microsoft.com/office/powerpoint/2010/main" val="2617326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5AB1-90D6-BA4B-1993-65AF8C6DDD19}"/>
              </a:ext>
            </a:extLst>
          </p:cNvPr>
          <p:cNvSpPr>
            <a:spLocks noGrp="1"/>
          </p:cNvSpPr>
          <p:nvPr>
            <p:ph type="title"/>
          </p:nvPr>
        </p:nvSpPr>
        <p:spPr/>
        <p:txBody>
          <a:bodyPr/>
          <a:lstStyle/>
          <a:p>
            <a:r>
              <a:rPr lang="en-US"/>
              <a:t>USA Softball 18U National Championship</a:t>
            </a:r>
            <a:br>
              <a:rPr lang="en-US"/>
            </a:br>
            <a:r>
              <a:rPr lang="en-US"/>
              <a:t>July 2023</a:t>
            </a:r>
          </a:p>
        </p:txBody>
      </p:sp>
      <p:graphicFrame>
        <p:nvGraphicFramePr>
          <p:cNvPr id="5" name="Content Placeholder 4">
            <a:extLst>
              <a:ext uri="{FF2B5EF4-FFF2-40B4-BE49-F238E27FC236}">
                <a16:creationId xmlns:a16="http://schemas.microsoft.com/office/drawing/2014/main" id="{DC9DA720-E5C0-9F6C-B9DF-E7C25CECC05E}"/>
              </a:ext>
            </a:extLst>
          </p:cNvPr>
          <p:cNvGraphicFramePr>
            <a:graphicFrameLocks noGrp="1"/>
          </p:cNvGraphicFramePr>
          <p:nvPr>
            <p:ph sz="half" idx="1"/>
            <p:extLst>
              <p:ext uri="{D42A27DB-BD31-4B8C-83A1-F6EECF244321}">
                <p14:modId xmlns:p14="http://schemas.microsoft.com/office/powerpoint/2010/main" val="1348389469"/>
              </p:ext>
            </p:extLst>
          </p:nvPr>
        </p:nvGraphicFramePr>
        <p:xfrm>
          <a:off x="677863" y="2160588"/>
          <a:ext cx="4183062" cy="3942080"/>
        </p:xfrm>
        <a:graphic>
          <a:graphicData uri="http://schemas.openxmlformats.org/drawingml/2006/table">
            <a:tbl>
              <a:tblPr firstCol="1">
                <a:tableStyleId>{5C22544A-7EE6-4342-B048-85BDC9FD1C3A}</a:tableStyleId>
              </a:tblPr>
              <a:tblGrid>
                <a:gridCol w="2091531">
                  <a:extLst>
                    <a:ext uri="{9D8B030D-6E8A-4147-A177-3AD203B41FA5}">
                      <a16:colId xmlns:a16="http://schemas.microsoft.com/office/drawing/2014/main" val="310271027"/>
                    </a:ext>
                  </a:extLst>
                </a:gridCol>
                <a:gridCol w="2091531">
                  <a:extLst>
                    <a:ext uri="{9D8B030D-6E8A-4147-A177-3AD203B41FA5}">
                      <a16:colId xmlns:a16="http://schemas.microsoft.com/office/drawing/2014/main" val="788775402"/>
                    </a:ext>
                  </a:extLst>
                </a:gridCol>
              </a:tblGrid>
              <a:tr h="370840">
                <a:tc>
                  <a:txBody>
                    <a:bodyPr/>
                    <a:lstStyle/>
                    <a:p>
                      <a:r>
                        <a:rPr lang="en-US"/>
                        <a:t>Total Attendees</a:t>
                      </a:r>
                    </a:p>
                  </a:txBody>
                  <a:tcPr/>
                </a:tc>
                <a:tc>
                  <a:txBody>
                    <a:bodyPr/>
                    <a:lstStyle/>
                    <a:p>
                      <a:r>
                        <a:rPr lang="en-US"/>
                        <a:t>1,320</a:t>
                      </a:r>
                    </a:p>
                  </a:txBody>
                  <a:tcPr/>
                </a:tc>
                <a:extLst>
                  <a:ext uri="{0D108BD9-81ED-4DB2-BD59-A6C34878D82A}">
                    <a16:rowId xmlns:a16="http://schemas.microsoft.com/office/drawing/2014/main" val="2557514294"/>
                  </a:ext>
                </a:extLst>
              </a:tr>
              <a:tr h="370840">
                <a:tc>
                  <a:txBody>
                    <a:bodyPr/>
                    <a:lstStyle/>
                    <a:p>
                      <a:r>
                        <a:rPr lang="en-US"/>
                        <a:t>Average Spent per Day</a:t>
                      </a:r>
                    </a:p>
                  </a:txBody>
                  <a:tcPr/>
                </a:tc>
                <a:tc>
                  <a:txBody>
                    <a:bodyPr/>
                    <a:lstStyle/>
                    <a:p>
                      <a:r>
                        <a:rPr lang="en-US"/>
                        <a:t>$132</a:t>
                      </a:r>
                    </a:p>
                  </a:txBody>
                  <a:tcPr/>
                </a:tc>
                <a:extLst>
                  <a:ext uri="{0D108BD9-81ED-4DB2-BD59-A6C34878D82A}">
                    <a16:rowId xmlns:a16="http://schemas.microsoft.com/office/drawing/2014/main" val="3154819847"/>
                  </a:ext>
                </a:extLst>
              </a:tr>
              <a:tr h="370840">
                <a:tc>
                  <a:txBody>
                    <a:bodyPr/>
                    <a:lstStyle/>
                    <a:p>
                      <a:r>
                        <a:rPr lang="en-US"/>
                        <a:t>Average Hotel Rate per Night</a:t>
                      </a:r>
                    </a:p>
                  </a:txBody>
                  <a:tcPr/>
                </a:tc>
                <a:tc>
                  <a:txBody>
                    <a:bodyPr/>
                    <a:lstStyle/>
                    <a:p>
                      <a:r>
                        <a:rPr lang="en-US"/>
                        <a:t>$118</a:t>
                      </a:r>
                    </a:p>
                  </a:txBody>
                  <a:tcPr/>
                </a:tc>
                <a:extLst>
                  <a:ext uri="{0D108BD9-81ED-4DB2-BD59-A6C34878D82A}">
                    <a16:rowId xmlns:a16="http://schemas.microsoft.com/office/drawing/2014/main" val="3490338965"/>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112603528"/>
                  </a:ext>
                </a:extLst>
              </a:tr>
              <a:tr h="370840">
                <a:tc>
                  <a:txBody>
                    <a:bodyPr/>
                    <a:lstStyle/>
                    <a:p>
                      <a:r>
                        <a:rPr lang="en-US"/>
                        <a:t>Total Visitor Spending</a:t>
                      </a:r>
                    </a:p>
                  </a:txBody>
                  <a:tcPr/>
                </a:tc>
                <a:tc>
                  <a:txBody>
                    <a:bodyPr/>
                    <a:lstStyle/>
                    <a:p>
                      <a:r>
                        <a:rPr lang="en-US"/>
                        <a:t>$871,200</a:t>
                      </a:r>
                    </a:p>
                  </a:txBody>
                  <a:tcPr/>
                </a:tc>
                <a:extLst>
                  <a:ext uri="{0D108BD9-81ED-4DB2-BD59-A6C34878D82A}">
                    <a16:rowId xmlns:a16="http://schemas.microsoft.com/office/drawing/2014/main" val="3987655529"/>
                  </a:ext>
                </a:extLst>
              </a:tr>
              <a:tr h="370840">
                <a:tc>
                  <a:txBody>
                    <a:bodyPr/>
                    <a:lstStyle/>
                    <a:p>
                      <a:r>
                        <a:rPr lang="en-US"/>
                        <a:t>Sales Tax Revenue</a:t>
                      </a:r>
                    </a:p>
                  </a:txBody>
                  <a:tcPr/>
                </a:tc>
                <a:tc>
                  <a:txBody>
                    <a:bodyPr/>
                    <a:lstStyle/>
                    <a:p>
                      <a:r>
                        <a:rPr lang="en-US"/>
                        <a:t>$10,995</a:t>
                      </a:r>
                    </a:p>
                  </a:txBody>
                  <a:tcPr/>
                </a:tc>
                <a:extLst>
                  <a:ext uri="{0D108BD9-81ED-4DB2-BD59-A6C34878D82A}">
                    <a16:rowId xmlns:a16="http://schemas.microsoft.com/office/drawing/2014/main" val="3759781810"/>
                  </a:ext>
                </a:extLst>
              </a:tr>
              <a:tr h="370839">
                <a:tc>
                  <a:txBody>
                    <a:bodyPr/>
                    <a:lstStyle/>
                    <a:p>
                      <a:pPr lvl="0">
                        <a:buNone/>
                      </a:pPr>
                      <a:r>
                        <a:rPr lang="en-US"/>
                        <a:t>Lodging Tax Revenue</a:t>
                      </a:r>
                    </a:p>
                  </a:txBody>
                  <a:tcPr/>
                </a:tc>
                <a:tc>
                  <a:txBody>
                    <a:bodyPr/>
                    <a:lstStyle/>
                    <a:p>
                      <a:pPr lvl="0">
                        <a:buNone/>
                      </a:pPr>
                      <a:r>
                        <a:rPr lang="en-US"/>
                        <a:t>$9,499</a:t>
                      </a:r>
                    </a:p>
                  </a:txBody>
                  <a:tcPr/>
                </a:tc>
                <a:extLst>
                  <a:ext uri="{0D108BD9-81ED-4DB2-BD59-A6C34878D82A}">
                    <a16:rowId xmlns:a16="http://schemas.microsoft.com/office/drawing/2014/main" val="1542272424"/>
                  </a:ext>
                </a:extLst>
              </a:tr>
            </a:tbl>
          </a:graphicData>
        </a:graphic>
      </p:graphicFrame>
      <p:pic>
        <p:nvPicPr>
          <p:cNvPr id="6" name="Content Placeholder 5" descr="Luncheon – Northeast Tennessee Tourism Pinnacle Awards">
            <a:extLst>
              <a:ext uri="{FF2B5EF4-FFF2-40B4-BE49-F238E27FC236}">
                <a16:creationId xmlns:a16="http://schemas.microsoft.com/office/drawing/2014/main" id="{D6845A58-8ACB-037C-0E16-519A5BB426BD}"/>
              </a:ext>
            </a:extLst>
          </p:cNvPr>
          <p:cNvPicPr>
            <a:picLocks noGrp="1" noChangeAspect="1"/>
          </p:cNvPicPr>
          <p:nvPr>
            <p:ph sz="half" idx="2"/>
          </p:nvPr>
        </p:nvPicPr>
        <p:blipFill>
          <a:blip r:embed="rId2"/>
          <a:stretch>
            <a:fillRect/>
          </a:stretch>
        </p:blipFill>
        <p:spPr>
          <a:xfrm>
            <a:off x="4025797" y="5541735"/>
            <a:ext cx="1471592" cy="1313771"/>
          </a:xfrm>
        </p:spPr>
      </p:pic>
      <p:sp>
        <p:nvSpPr>
          <p:cNvPr id="8" name="Content Placeholder 3">
            <a:extLst>
              <a:ext uri="{FF2B5EF4-FFF2-40B4-BE49-F238E27FC236}">
                <a16:creationId xmlns:a16="http://schemas.microsoft.com/office/drawing/2014/main" id="{08FB056E-E823-579A-5B00-7B0DB30231E0}"/>
              </a:ext>
            </a:extLst>
          </p:cNvPr>
          <p:cNvSpPr txBox="1">
            <a:spLocks/>
          </p:cNvSpPr>
          <p:nvPr/>
        </p:nvSpPr>
        <p:spPr>
          <a:xfrm>
            <a:off x="5501260" y="1871328"/>
            <a:ext cx="3589895" cy="4924777"/>
          </a:xfrm>
          <a:prstGeom prst="rect">
            <a:avLst/>
          </a:prstGeom>
        </p:spPr>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700">
                <a:solidFill>
                  <a:schemeClr val="tx1"/>
                </a:solidFill>
                <a:ea typeface="+mn-lt"/>
                <a:cs typeface="+mn-lt"/>
              </a:rPr>
              <a:t>The USA Softball National Tournament is one of the largest tournaments hosted by Visit JC each year. In 2023, this 5-day event was held at Winged Deer Park for the 18U Girls Class 'A' Fastpitch softball. </a:t>
            </a:r>
            <a:endParaRPr lang="en-US" sz="1700">
              <a:solidFill>
                <a:schemeClr val="tx1"/>
              </a:solidFill>
            </a:endParaRPr>
          </a:p>
          <a:p>
            <a:r>
              <a:rPr lang="en-US" sz="1700">
                <a:solidFill>
                  <a:schemeClr val="tx1"/>
                </a:solidFill>
                <a:ea typeface="+mn-lt"/>
                <a:cs typeface="+mn-lt"/>
              </a:rPr>
              <a:t>National tournaments bring non-locals to the JC area. Visitor spending then impacts the amount of tax revenue the city will in turn receive. </a:t>
            </a:r>
            <a:endParaRPr lang="en-US" sz="1700">
              <a:solidFill>
                <a:schemeClr val="tx1"/>
              </a:solidFill>
            </a:endParaRPr>
          </a:p>
          <a:p>
            <a:pPr marL="0" indent="0">
              <a:buNone/>
            </a:pPr>
            <a:endParaRPr lang="en-US" sz="1600">
              <a:solidFill>
                <a:srgbClr val="FFFFFF"/>
              </a:solidFill>
            </a:endParaRPr>
          </a:p>
        </p:txBody>
      </p:sp>
    </p:spTree>
    <p:extLst>
      <p:ext uri="{BB962C8B-B14F-4D97-AF65-F5344CB8AC3E}">
        <p14:creationId xmlns:p14="http://schemas.microsoft.com/office/powerpoint/2010/main" val="1235971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5CA0E-D739-5877-E914-ED2199AFCC58}"/>
              </a:ext>
            </a:extLst>
          </p:cNvPr>
          <p:cNvSpPr>
            <a:spLocks noGrp="1"/>
          </p:cNvSpPr>
          <p:nvPr>
            <p:ph type="title"/>
          </p:nvPr>
        </p:nvSpPr>
        <p:spPr/>
        <p:txBody>
          <a:bodyPr/>
          <a:lstStyle/>
          <a:p>
            <a:r>
              <a:rPr lang="en-US"/>
              <a:t>Maintenance Cost Estimates</a:t>
            </a:r>
          </a:p>
        </p:txBody>
      </p:sp>
      <p:sp>
        <p:nvSpPr>
          <p:cNvPr id="3" name="Text Placeholder 2">
            <a:extLst>
              <a:ext uri="{FF2B5EF4-FFF2-40B4-BE49-F238E27FC236}">
                <a16:creationId xmlns:a16="http://schemas.microsoft.com/office/drawing/2014/main" id="{71E20F1C-477C-72B5-F0F4-EF242AED863E}"/>
              </a:ext>
            </a:extLst>
          </p:cNvPr>
          <p:cNvSpPr>
            <a:spLocks noGrp="1"/>
          </p:cNvSpPr>
          <p:nvPr>
            <p:ph type="body" idx="1"/>
          </p:nvPr>
        </p:nvSpPr>
        <p:spPr/>
        <p:txBody>
          <a:bodyPr/>
          <a:lstStyle/>
          <a:p>
            <a:r>
              <a:rPr lang="en-US"/>
              <a:t>Natural Fields </a:t>
            </a:r>
          </a:p>
        </p:txBody>
      </p:sp>
      <p:sp>
        <p:nvSpPr>
          <p:cNvPr id="4" name="Content Placeholder 3">
            <a:extLst>
              <a:ext uri="{FF2B5EF4-FFF2-40B4-BE49-F238E27FC236}">
                <a16:creationId xmlns:a16="http://schemas.microsoft.com/office/drawing/2014/main" id="{7C23FD73-EC62-5684-E4C0-8F38FDFEC5E1}"/>
              </a:ext>
            </a:extLst>
          </p:cNvPr>
          <p:cNvSpPr>
            <a:spLocks noGrp="1"/>
          </p:cNvSpPr>
          <p:nvPr>
            <p:ph sz="half" idx="2"/>
          </p:nvPr>
        </p:nvSpPr>
        <p:spPr/>
        <p:txBody>
          <a:bodyPr vert="horz" lIns="91440" tIns="45720" rIns="91440" bIns="45720" rtlCol="0" anchor="t">
            <a:normAutofit fontScale="92500"/>
          </a:bodyPr>
          <a:lstStyle/>
          <a:p>
            <a:pPr>
              <a:lnSpc>
                <a:spcPct val="90000"/>
              </a:lnSpc>
              <a:spcBef>
                <a:spcPts val="1200"/>
              </a:spcBef>
            </a:pPr>
            <a:r>
              <a:rPr lang="en-US" sz="2200">
                <a:solidFill>
                  <a:srgbClr val="000000"/>
                </a:solidFill>
                <a:latin typeface="Trebuchet MS"/>
                <a:cs typeface="Arial"/>
              </a:rPr>
              <a:t>Field maintenance total cost 2022: $76,194 (all fields)</a:t>
            </a:r>
          </a:p>
          <a:p>
            <a:pPr>
              <a:lnSpc>
                <a:spcPct val="90000"/>
              </a:lnSpc>
              <a:spcBef>
                <a:spcPts val="1200"/>
              </a:spcBef>
            </a:pPr>
            <a:r>
              <a:rPr lang="en-US" sz="2200">
                <a:solidFill>
                  <a:srgbClr val="000000"/>
                </a:solidFill>
                <a:latin typeface="Trebuchet MS"/>
                <a:cs typeface="Arial"/>
              </a:rPr>
              <a:t>Field maintenance total cost YTD 2023: $67,575 (all fields)</a:t>
            </a:r>
          </a:p>
          <a:p>
            <a:pPr>
              <a:lnSpc>
                <a:spcPct val="90000"/>
              </a:lnSpc>
              <a:spcBef>
                <a:spcPts val="1200"/>
              </a:spcBef>
            </a:pPr>
            <a:r>
              <a:rPr lang="en-US" sz="2200">
                <a:solidFill>
                  <a:srgbClr val="000000"/>
                </a:solidFill>
                <a:latin typeface="Trebuchet MS"/>
                <a:cs typeface="Arial"/>
              </a:rPr>
              <a:t>Cost per hour: $49.72</a:t>
            </a:r>
          </a:p>
          <a:p>
            <a:pPr>
              <a:lnSpc>
                <a:spcPct val="90000"/>
              </a:lnSpc>
              <a:spcBef>
                <a:spcPts val="1200"/>
              </a:spcBef>
            </a:pPr>
            <a:r>
              <a:rPr lang="en-US" sz="2200">
                <a:solidFill>
                  <a:srgbClr val="000000"/>
                </a:solidFill>
                <a:latin typeface="Trebuchet MS"/>
                <a:cs typeface="Arial"/>
              </a:rPr>
              <a:t>Scheduling possible: 70 Hours*26 Weeks*10 years=18,200 hours</a:t>
            </a:r>
            <a:endParaRPr lang="en-US">
              <a:latin typeface="Trebuchet MS"/>
            </a:endParaRPr>
          </a:p>
        </p:txBody>
      </p:sp>
      <p:sp>
        <p:nvSpPr>
          <p:cNvPr id="5" name="Text Placeholder 4">
            <a:extLst>
              <a:ext uri="{FF2B5EF4-FFF2-40B4-BE49-F238E27FC236}">
                <a16:creationId xmlns:a16="http://schemas.microsoft.com/office/drawing/2014/main" id="{A52BA725-29A4-3D38-3430-6D1FE86CEC5A}"/>
              </a:ext>
            </a:extLst>
          </p:cNvPr>
          <p:cNvSpPr>
            <a:spLocks noGrp="1"/>
          </p:cNvSpPr>
          <p:nvPr>
            <p:ph type="body" sz="quarter" idx="3"/>
          </p:nvPr>
        </p:nvSpPr>
        <p:spPr/>
        <p:txBody>
          <a:bodyPr/>
          <a:lstStyle/>
          <a:p>
            <a:r>
              <a:rPr lang="en-US"/>
              <a:t>FieldTurf Artificial Turf Fields</a:t>
            </a:r>
          </a:p>
        </p:txBody>
      </p:sp>
      <p:sp>
        <p:nvSpPr>
          <p:cNvPr id="6" name="Content Placeholder 5">
            <a:extLst>
              <a:ext uri="{FF2B5EF4-FFF2-40B4-BE49-F238E27FC236}">
                <a16:creationId xmlns:a16="http://schemas.microsoft.com/office/drawing/2014/main" id="{ABBF60D8-C342-3E34-8959-387CE42B9BB1}"/>
              </a:ext>
            </a:extLst>
          </p:cNvPr>
          <p:cNvSpPr>
            <a:spLocks noGrp="1"/>
          </p:cNvSpPr>
          <p:nvPr>
            <p:ph sz="quarter" idx="4"/>
          </p:nvPr>
        </p:nvSpPr>
        <p:spPr/>
        <p:txBody>
          <a:bodyPr vert="horz" lIns="91440" tIns="45720" rIns="91440" bIns="45720" rtlCol="0" anchor="t">
            <a:normAutofit fontScale="92500"/>
          </a:bodyPr>
          <a:lstStyle/>
          <a:p>
            <a:pPr>
              <a:lnSpc>
                <a:spcPct val="90000"/>
              </a:lnSpc>
              <a:spcBef>
                <a:spcPts val="1200"/>
              </a:spcBef>
            </a:pPr>
            <a:r>
              <a:rPr lang="en-US" sz="2300">
                <a:solidFill>
                  <a:srgbClr val="000000"/>
                </a:solidFill>
                <a:latin typeface="Trebuchet MS"/>
                <a:cs typeface="Arial"/>
              </a:rPr>
              <a:t>Cost analysis of FieldTurf brand artificial turf: </a:t>
            </a:r>
          </a:p>
          <a:p>
            <a:pPr>
              <a:lnSpc>
                <a:spcPct val="90000"/>
              </a:lnSpc>
              <a:spcBef>
                <a:spcPts val="1200"/>
              </a:spcBef>
            </a:pPr>
            <a:r>
              <a:rPr lang="en-US" sz="2300">
                <a:solidFill>
                  <a:srgbClr val="000000"/>
                </a:solidFill>
                <a:latin typeface="Trebuchet MS"/>
                <a:cs typeface="Arial"/>
              </a:rPr>
              <a:t>2022 cost: $5000 (*per field)</a:t>
            </a:r>
          </a:p>
          <a:p>
            <a:pPr>
              <a:lnSpc>
                <a:spcPct val="90000"/>
              </a:lnSpc>
              <a:spcBef>
                <a:spcPts val="1200"/>
              </a:spcBef>
            </a:pPr>
            <a:r>
              <a:rPr lang="en-US" sz="2300">
                <a:solidFill>
                  <a:srgbClr val="000000"/>
                </a:solidFill>
                <a:latin typeface="Trebuchet MS"/>
                <a:cs typeface="Arial"/>
              </a:rPr>
              <a:t>2023 cost: $5000 (*per field)</a:t>
            </a:r>
          </a:p>
          <a:p>
            <a:pPr>
              <a:lnSpc>
                <a:spcPct val="90000"/>
              </a:lnSpc>
              <a:spcBef>
                <a:spcPts val="1200"/>
              </a:spcBef>
            </a:pPr>
            <a:r>
              <a:rPr lang="en-US" sz="2300">
                <a:solidFill>
                  <a:srgbClr val="000000"/>
                </a:solidFill>
                <a:latin typeface="Trebuchet MS"/>
                <a:cs typeface="Arial"/>
              </a:rPr>
              <a:t>Cost per hour: $12.95</a:t>
            </a:r>
          </a:p>
          <a:p>
            <a:pPr>
              <a:lnSpc>
                <a:spcPct val="90000"/>
              </a:lnSpc>
              <a:spcBef>
                <a:spcPts val="1200"/>
              </a:spcBef>
            </a:pPr>
            <a:r>
              <a:rPr lang="en-US" sz="2300">
                <a:solidFill>
                  <a:srgbClr val="000000"/>
                </a:solidFill>
                <a:latin typeface="Trebuchet MS"/>
                <a:cs typeface="Arial"/>
              </a:rPr>
              <a:t>Scheduling possible: 100 Hours*44 Weeks*10 years=44,000 hours</a:t>
            </a:r>
            <a:endParaRPr lang="en-US">
              <a:latin typeface="Trebuchet MS"/>
            </a:endParaRPr>
          </a:p>
        </p:txBody>
      </p:sp>
    </p:spTree>
    <p:extLst>
      <p:ext uri="{BB962C8B-B14F-4D97-AF65-F5344CB8AC3E}">
        <p14:creationId xmlns:p14="http://schemas.microsoft.com/office/powerpoint/2010/main" val="2461487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8FAC6-A879-320B-1E0C-C7479E74CED1}"/>
              </a:ext>
            </a:extLst>
          </p:cNvPr>
          <p:cNvSpPr>
            <a:spLocks noGrp="1"/>
          </p:cNvSpPr>
          <p:nvPr>
            <p:ph type="title"/>
          </p:nvPr>
        </p:nvSpPr>
        <p:spPr>
          <a:xfrm>
            <a:off x="456922" y="93693"/>
            <a:ext cx="8596668" cy="1826581"/>
          </a:xfrm>
        </p:spPr>
        <p:txBody>
          <a:bodyPr/>
          <a:lstStyle/>
          <a:p>
            <a:r>
              <a:rPr lang="en-US"/>
              <a:t>Multiplier Effect</a:t>
            </a:r>
          </a:p>
        </p:txBody>
      </p:sp>
      <p:sp>
        <p:nvSpPr>
          <p:cNvPr id="3" name="Text Placeholder 2">
            <a:extLst>
              <a:ext uri="{FF2B5EF4-FFF2-40B4-BE49-F238E27FC236}">
                <a16:creationId xmlns:a16="http://schemas.microsoft.com/office/drawing/2014/main" id="{03C21233-DCDB-8B2A-9AD9-CDF30A1D95E5}"/>
              </a:ext>
            </a:extLst>
          </p:cNvPr>
          <p:cNvSpPr>
            <a:spLocks noGrp="1"/>
          </p:cNvSpPr>
          <p:nvPr>
            <p:ph type="body" idx="1"/>
          </p:nvPr>
        </p:nvSpPr>
        <p:spPr>
          <a:xfrm>
            <a:off x="456922" y="2191068"/>
            <a:ext cx="8596668" cy="4500366"/>
          </a:xfrm>
        </p:spPr>
        <p:txBody>
          <a:bodyPr>
            <a:normAutofit fontScale="70000" lnSpcReduction="20000"/>
          </a:bodyPr>
          <a:lstStyle/>
          <a:p>
            <a:r>
              <a:rPr lang="en-US" dirty="0"/>
              <a:t>The multiplier effect is used in economic analysis to adjust the impact of any consumer spending in the area. </a:t>
            </a:r>
          </a:p>
          <a:p>
            <a:r>
              <a:rPr lang="en-US" dirty="0"/>
              <a:t>For instance, if lodging in a particular region has a multiplier effect of 1.75, this means that a person coming from out of town and spending $100 at the hotel has a total effect of $175 on the local economy. That is, $100 in direct spending with the hotel, and $75 in combined induced and indirect spending. </a:t>
            </a:r>
          </a:p>
          <a:p>
            <a:endParaRPr lang="en-US"/>
          </a:p>
          <a:p>
            <a:endParaRPr lang="en-US"/>
          </a:p>
          <a:p>
            <a:r>
              <a:rPr lang="en-US" dirty="0"/>
              <a:t>This multiplier effect is important in economic analysis as direct spending does not give a complete picture of the economic impact a project in a region may have. The multiplier adjust the direct spending to show a more concise range of expected impact.  </a:t>
            </a:r>
          </a:p>
          <a:p>
            <a:endParaRPr lang="en-US"/>
          </a:p>
          <a:p>
            <a:r>
              <a:rPr lang="en-US" dirty="0"/>
              <a:t>There are a couple of different ways to calculate this multiplier effect. One is by using Input/Output models, which show the interdependence between a regions industries, and as such can show the path of money spent in an industry within a specific region. </a:t>
            </a:r>
          </a:p>
          <a:p>
            <a:r>
              <a:rPr lang="en-US" dirty="0"/>
              <a:t>The other is using secondary studies to infer multipliers modified for the use of the local region. While this method is not as accurate as the Input/Output models multipliers, it is cheaper as most Input/Output models used for economic analysis charge for the use of their data.</a:t>
            </a:r>
          </a:p>
          <a:p>
            <a:r>
              <a:rPr lang="en-US" dirty="0"/>
              <a:t>We will now show how using secondary studies for an analysis would work using the preliminary data.</a:t>
            </a:r>
          </a:p>
          <a:p>
            <a:endParaRPr lang="en-US"/>
          </a:p>
        </p:txBody>
      </p:sp>
    </p:spTree>
    <p:extLst>
      <p:ext uri="{BB962C8B-B14F-4D97-AF65-F5344CB8AC3E}">
        <p14:creationId xmlns:p14="http://schemas.microsoft.com/office/powerpoint/2010/main" val="4254963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2A72-0136-7F77-6239-C1677293024E}"/>
              </a:ext>
            </a:extLst>
          </p:cNvPr>
          <p:cNvSpPr>
            <a:spLocks noGrp="1"/>
          </p:cNvSpPr>
          <p:nvPr>
            <p:ph type="title"/>
          </p:nvPr>
        </p:nvSpPr>
        <p:spPr/>
        <p:txBody>
          <a:bodyPr/>
          <a:lstStyle/>
          <a:p>
            <a:r>
              <a:rPr lang="en-US"/>
              <a:t>Impact Estimation w/o I/O model</a:t>
            </a:r>
          </a:p>
        </p:txBody>
      </p:sp>
      <p:pic>
        <p:nvPicPr>
          <p:cNvPr id="5" name="Content Placeholder 3" descr="A white text on a white background&#10;&#10;Description automatically generated">
            <a:extLst>
              <a:ext uri="{FF2B5EF4-FFF2-40B4-BE49-F238E27FC236}">
                <a16:creationId xmlns:a16="http://schemas.microsoft.com/office/drawing/2014/main" id="{605E32F3-7C7D-82D3-097A-16345A8E3AD0}"/>
              </a:ext>
            </a:extLst>
          </p:cNvPr>
          <p:cNvPicPr>
            <a:picLocks noChangeAspect="1"/>
          </p:cNvPicPr>
          <p:nvPr/>
        </p:nvPicPr>
        <p:blipFill rotWithShape="1">
          <a:blip r:embed="rId2"/>
          <a:srcRect l="591" t="2098" r="-787" b="-2098"/>
          <a:stretch/>
        </p:blipFill>
        <p:spPr>
          <a:xfrm>
            <a:off x="681163" y="1563089"/>
            <a:ext cx="7957531" cy="4469104"/>
          </a:xfrm>
          <a:prstGeom prst="rect">
            <a:avLst/>
          </a:prstGeom>
        </p:spPr>
      </p:pic>
    </p:spTree>
    <p:extLst>
      <p:ext uri="{BB962C8B-B14F-4D97-AF65-F5344CB8AC3E}">
        <p14:creationId xmlns:p14="http://schemas.microsoft.com/office/powerpoint/2010/main" val="2076136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2" name="Straight Connector 21">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849B2A72-0136-7F77-6239-C1677293024E}"/>
              </a:ext>
            </a:extLst>
          </p:cNvPr>
          <p:cNvSpPr>
            <a:spLocks noGrp="1"/>
          </p:cNvSpPr>
          <p:nvPr>
            <p:ph type="title"/>
          </p:nvPr>
        </p:nvSpPr>
        <p:spPr>
          <a:xfrm>
            <a:off x="1115365" y="182995"/>
            <a:ext cx="8288032" cy="1096316"/>
          </a:xfrm>
        </p:spPr>
        <p:txBody>
          <a:bodyPr vert="horz" lIns="91440" tIns="45720" rIns="91440" bIns="45720" rtlCol="0" anchor="b">
            <a:normAutofit/>
          </a:bodyPr>
          <a:lstStyle/>
          <a:p>
            <a:pPr algn="ctr">
              <a:lnSpc>
                <a:spcPct val="90000"/>
              </a:lnSpc>
            </a:pPr>
            <a:r>
              <a:rPr lang="en-US" sz="3700" kern="1200">
                <a:solidFill>
                  <a:schemeClr val="accent1"/>
                </a:solidFill>
                <a:latin typeface="+mj-lt"/>
                <a:ea typeface="+mj-ea"/>
                <a:cs typeface="+mj-cs"/>
              </a:rPr>
              <a:t>Impact Estimation w/o I/O model II</a:t>
            </a:r>
          </a:p>
        </p:txBody>
      </p:sp>
      <p:pic>
        <p:nvPicPr>
          <p:cNvPr id="8" name="Content Placeholder 3" descr="A white text with black text&#10;&#10;Description automatically generated">
            <a:extLst>
              <a:ext uri="{FF2B5EF4-FFF2-40B4-BE49-F238E27FC236}">
                <a16:creationId xmlns:a16="http://schemas.microsoft.com/office/drawing/2014/main" id="{D8FEB51B-E98B-FDA0-0033-0FFA8F0CE2DB}"/>
              </a:ext>
            </a:extLst>
          </p:cNvPr>
          <p:cNvPicPr>
            <a:picLocks noGrp="1" noChangeAspect="1"/>
          </p:cNvPicPr>
          <p:nvPr>
            <p:ph idx="1"/>
          </p:nvPr>
        </p:nvPicPr>
        <p:blipFill>
          <a:blip r:embed="rId2"/>
          <a:stretch>
            <a:fillRect/>
          </a:stretch>
        </p:blipFill>
        <p:spPr>
          <a:xfrm>
            <a:off x="630008" y="1710600"/>
            <a:ext cx="8884933" cy="4334619"/>
          </a:xfrm>
          <a:prstGeom prst="rect">
            <a:avLst/>
          </a:prstGeom>
        </p:spPr>
      </p:pic>
    </p:spTree>
    <p:extLst>
      <p:ext uri="{BB962C8B-B14F-4D97-AF65-F5344CB8AC3E}">
        <p14:creationId xmlns:p14="http://schemas.microsoft.com/office/powerpoint/2010/main" val="372856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2A72-0136-7F77-6239-C1677293024E}"/>
              </a:ext>
            </a:extLst>
          </p:cNvPr>
          <p:cNvSpPr>
            <a:spLocks noGrp="1"/>
          </p:cNvSpPr>
          <p:nvPr>
            <p:ph type="title"/>
          </p:nvPr>
        </p:nvSpPr>
        <p:spPr/>
        <p:txBody>
          <a:bodyPr/>
          <a:lstStyle/>
          <a:p>
            <a:r>
              <a:rPr lang="en-US"/>
              <a:t>Baseline Estimates from supplied Data</a:t>
            </a:r>
          </a:p>
        </p:txBody>
      </p:sp>
      <p:pic>
        <p:nvPicPr>
          <p:cNvPr id="13" name="Content Placeholder 3" descr="A white background with black text and numbers&#10;&#10;Description automatically generated">
            <a:extLst>
              <a:ext uri="{FF2B5EF4-FFF2-40B4-BE49-F238E27FC236}">
                <a16:creationId xmlns:a16="http://schemas.microsoft.com/office/drawing/2014/main" id="{0C71653A-603E-E6B9-75D3-13888955B4D6}"/>
              </a:ext>
            </a:extLst>
          </p:cNvPr>
          <p:cNvPicPr>
            <a:picLocks noChangeAspect="1"/>
          </p:cNvPicPr>
          <p:nvPr/>
        </p:nvPicPr>
        <p:blipFill>
          <a:blip r:embed="rId2"/>
          <a:stretch>
            <a:fillRect/>
          </a:stretch>
        </p:blipFill>
        <p:spPr>
          <a:xfrm>
            <a:off x="119747" y="1413285"/>
            <a:ext cx="9821548" cy="5199821"/>
          </a:xfrm>
          <a:prstGeom prst="rect">
            <a:avLst/>
          </a:prstGeom>
        </p:spPr>
      </p:pic>
    </p:spTree>
    <p:extLst>
      <p:ext uri="{BB962C8B-B14F-4D97-AF65-F5344CB8AC3E}">
        <p14:creationId xmlns:p14="http://schemas.microsoft.com/office/powerpoint/2010/main" val="3696128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C110C-86C6-DB21-5066-4A4A4A97C37D}"/>
              </a:ext>
            </a:extLst>
          </p:cNvPr>
          <p:cNvSpPr>
            <a:spLocks noGrp="1"/>
          </p:cNvSpPr>
          <p:nvPr>
            <p:ph type="title"/>
          </p:nvPr>
        </p:nvSpPr>
        <p:spPr/>
        <p:txBody>
          <a:bodyPr/>
          <a:lstStyle/>
          <a:p>
            <a:r>
              <a:rPr lang="en-US"/>
              <a:t>Estimates by Year from supplied Data</a:t>
            </a:r>
          </a:p>
        </p:txBody>
      </p:sp>
      <p:sp>
        <p:nvSpPr>
          <p:cNvPr id="3" name="Text Placeholder 2">
            <a:extLst>
              <a:ext uri="{FF2B5EF4-FFF2-40B4-BE49-F238E27FC236}">
                <a16:creationId xmlns:a16="http://schemas.microsoft.com/office/drawing/2014/main" id="{4DDEC43F-38FA-318F-FD09-CB0EBD20DF82}"/>
              </a:ext>
            </a:extLst>
          </p:cNvPr>
          <p:cNvSpPr>
            <a:spLocks noGrp="1"/>
          </p:cNvSpPr>
          <p:nvPr>
            <p:ph type="body" idx="1"/>
          </p:nvPr>
        </p:nvSpPr>
        <p:spPr/>
        <p:txBody>
          <a:bodyPr/>
          <a:lstStyle/>
          <a:p>
            <a:r>
              <a:rPr lang="en-US"/>
              <a:t>2022</a:t>
            </a:r>
          </a:p>
        </p:txBody>
      </p:sp>
      <p:sp>
        <p:nvSpPr>
          <p:cNvPr id="4" name="Content Placeholder 3">
            <a:extLst>
              <a:ext uri="{FF2B5EF4-FFF2-40B4-BE49-F238E27FC236}">
                <a16:creationId xmlns:a16="http://schemas.microsoft.com/office/drawing/2014/main" id="{65E1B1D9-568F-F5F1-9CD6-DAE6F948C961}"/>
              </a:ext>
            </a:extLst>
          </p:cNvPr>
          <p:cNvSpPr>
            <a:spLocks noGrp="1"/>
          </p:cNvSpPr>
          <p:nvPr>
            <p:ph sz="half" idx="2"/>
          </p:nvPr>
        </p:nvSpPr>
        <p:spPr/>
        <p:txBody>
          <a:bodyPr vert="horz" lIns="91440" tIns="45720" rIns="91440" bIns="45720" rtlCol="0" anchor="t">
            <a:normAutofit/>
          </a:bodyPr>
          <a:lstStyle/>
          <a:p>
            <a:r>
              <a:rPr lang="en-US"/>
              <a:t>Non-adjusted Estimate</a:t>
            </a:r>
          </a:p>
          <a:p>
            <a:pPr lvl="1"/>
            <a:r>
              <a:rPr lang="en-US"/>
              <a:t>$4.98 million</a:t>
            </a:r>
          </a:p>
          <a:p>
            <a:r>
              <a:rPr lang="en-US"/>
              <a:t>Adjusted Estimate</a:t>
            </a:r>
          </a:p>
          <a:p>
            <a:pPr lvl="1"/>
            <a:r>
              <a:rPr lang="en-US"/>
              <a:t>$3.95 million lower</a:t>
            </a:r>
          </a:p>
          <a:p>
            <a:pPr lvl="1"/>
            <a:r>
              <a:rPr lang="en-US"/>
              <a:t>$4.61 million upper</a:t>
            </a:r>
          </a:p>
          <a:p>
            <a:pPr lvl="1"/>
            <a:endParaRPr lang="en-US"/>
          </a:p>
          <a:p>
            <a:pPr marL="0" indent="0">
              <a:buNone/>
            </a:pPr>
            <a:endParaRPr lang="en-US"/>
          </a:p>
        </p:txBody>
      </p:sp>
      <p:sp>
        <p:nvSpPr>
          <p:cNvPr id="5" name="Text Placeholder 4">
            <a:extLst>
              <a:ext uri="{FF2B5EF4-FFF2-40B4-BE49-F238E27FC236}">
                <a16:creationId xmlns:a16="http://schemas.microsoft.com/office/drawing/2014/main" id="{C227109A-2B95-79A7-EE61-D79136F35937}"/>
              </a:ext>
            </a:extLst>
          </p:cNvPr>
          <p:cNvSpPr>
            <a:spLocks noGrp="1"/>
          </p:cNvSpPr>
          <p:nvPr>
            <p:ph type="body" sz="quarter" idx="3"/>
          </p:nvPr>
        </p:nvSpPr>
        <p:spPr/>
        <p:txBody>
          <a:bodyPr/>
          <a:lstStyle/>
          <a:p>
            <a:r>
              <a:rPr lang="en-US"/>
              <a:t>2023 YTD</a:t>
            </a:r>
          </a:p>
        </p:txBody>
      </p:sp>
      <p:sp>
        <p:nvSpPr>
          <p:cNvPr id="6" name="Content Placeholder 5">
            <a:extLst>
              <a:ext uri="{FF2B5EF4-FFF2-40B4-BE49-F238E27FC236}">
                <a16:creationId xmlns:a16="http://schemas.microsoft.com/office/drawing/2014/main" id="{0C320BD1-A4F4-7ED7-7943-C72537B7BA3D}"/>
              </a:ext>
            </a:extLst>
          </p:cNvPr>
          <p:cNvSpPr>
            <a:spLocks noGrp="1"/>
          </p:cNvSpPr>
          <p:nvPr>
            <p:ph sz="quarter" idx="4"/>
          </p:nvPr>
        </p:nvSpPr>
        <p:spPr/>
        <p:txBody>
          <a:bodyPr vert="horz" lIns="91440" tIns="45720" rIns="91440" bIns="45720" rtlCol="0" anchor="t">
            <a:normAutofit/>
          </a:bodyPr>
          <a:lstStyle/>
          <a:p>
            <a:r>
              <a:rPr lang="en-US"/>
              <a:t>Non-adjusted Estimate</a:t>
            </a:r>
          </a:p>
          <a:p>
            <a:pPr lvl="1"/>
            <a:r>
              <a:rPr lang="en-US"/>
              <a:t>$3.17 million</a:t>
            </a:r>
          </a:p>
          <a:p>
            <a:r>
              <a:rPr lang="en-US"/>
              <a:t>Adjusted Estimate</a:t>
            </a:r>
          </a:p>
          <a:p>
            <a:pPr lvl="1"/>
            <a:r>
              <a:rPr lang="en-US"/>
              <a:t>$2.78 million lower</a:t>
            </a:r>
          </a:p>
          <a:p>
            <a:pPr lvl="1"/>
            <a:r>
              <a:rPr lang="en-US"/>
              <a:t>$3.23 million upper</a:t>
            </a:r>
          </a:p>
        </p:txBody>
      </p:sp>
    </p:spTree>
    <p:extLst>
      <p:ext uri="{BB962C8B-B14F-4D97-AF65-F5344CB8AC3E}">
        <p14:creationId xmlns:p14="http://schemas.microsoft.com/office/powerpoint/2010/main" val="1121521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B1012-5DDE-AD33-A1A0-54318B1FAD2B}"/>
              </a:ext>
            </a:extLst>
          </p:cNvPr>
          <p:cNvSpPr>
            <a:spLocks noGrp="1"/>
          </p:cNvSpPr>
          <p:nvPr>
            <p:ph type="title"/>
          </p:nvPr>
        </p:nvSpPr>
        <p:spPr/>
        <p:txBody>
          <a:bodyPr/>
          <a:lstStyle/>
          <a:p>
            <a:pPr algn="ctr"/>
            <a:r>
              <a:rPr lang="en-US"/>
              <a:t>Gathering Survey Data</a:t>
            </a:r>
          </a:p>
        </p:txBody>
      </p:sp>
      <p:sp>
        <p:nvSpPr>
          <p:cNvPr id="3" name="Text Placeholder 2">
            <a:extLst>
              <a:ext uri="{FF2B5EF4-FFF2-40B4-BE49-F238E27FC236}">
                <a16:creationId xmlns:a16="http://schemas.microsoft.com/office/drawing/2014/main" id="{9DB058EE-EC6A-B489-76F6-B6B7692EF008}"/>
              </a:ext>
            </a:extLst>
          </p:cNvPr>
          <p:cNvSpPr>
            <a:spLocks noGrp="1"/>
          </p:cNvSpPr>
          <p:nvPr>
            <p:ph type="body" idx="1"/>
          </p:nvPr>
        </p:nvSpPr>
        <p:spPr/>
        <p:txBody>
          <a:bodyPr>
            <a:normAutofit/>
          </a:bodyPr>
          <a:lstStyle/>
          <a:p>
            <a:pPr algn="ctr"/>
            <a:endParaRPr lang="en-US" sz="1200"/>
          </a:p>
          <a:p>
            <a:pPr algn="ctr"/>
            <a:r>
              <a:rPr lang="en-US">
                <a:hlinkClick r:id="rId2"/>
              </a:rPr>
              <a:t>Survey Link</a:t>
            </a:r>
            <a:endParaRPr lang="en-US"/>
          </a:p>
          <a:p>
            <a:pPr algn="ctr"/>
            <a:endParaRPr lang="en-US" sz="1200"/>
          </a:p>
        </p:txBody>
      </p:sp>
    </p:spTree>
    <p:extLst>
      <p:ext uri="{BB962C8B-B14F-4D97-AF65-F5344CB8AC3E}">
        <p14:creationId xmlns:p14="http://schemas.microsoft.com/office/powerpoint/2010/main" val="363963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5CEA2-6C85-7462-93EE-476D952488E7}"/>
              </a:ext>
            </a:extLst>
          </p:cNvPr>
          <p:cNvSpPr>
            <a:spLocks noGrp="1"/>
          </p:cNvSpPr>
          <p:nvPr>
            <p:ph type="title"/>
          </p:nvPr>
        </p:nvSpPr>
        <p:spPr>
          <a:xfrm>
            <a:off x="177663" y="102572"/>
            <a:ext cx="8596668" cy="864713"/>
          </a:xfrm>
        </p:spPr>
        <p:txBody>
          <a:bodyPr/>
          <a:lstStyle/>
          <a:p>
            <a:r>
              <a:rPr lang="en-US"/>
              <a:t>Input-Output Model </a:t>
            </a:r>
          </a:p>
        </p:txBody>
      </p:sp>
      <p:sp>
        <p:nvSpPr>
          <p:cNvPr id="3" name="Text Placeholder 2">
            <a:extLst>
              <a:ext uri="{FF2B5EF4-FFF2-40B4-BE49-F238E27FC236}">
                <a16:creationId xmlns:a16="http://schemas.microsoft.com/office/drawing/2014/main" id="{C4A1B92E-DAE3-E0A2-2114-ADC2ECCAD3F0}"/>
              </a:ext>
            </a:extLst>
          </p:cNvPr>
          <p:cNvSpPr>
            <a:spLocks noGrp="1"/>
          </p:cNvSpPr>
          <p:nvPr>
            <p:ph type="body" idx="1"/>
          </p:nvPr>
        </p:nvSpPr>
        <p:spPr>
          <a:xfrm>
            <a:off x="177663" y="1229612"/>
            <a:ext cx="8596668" cy="5419908"/>
          </a:xfrm>
        </p:spPr>
        <p:txBody>
          <a:bodyPr/>
          <a:lstStyle/>
          <a:p>
            <a:r>
              <a:rPr lang="en-US"/>
              <a:t>The Input-Output model is built using the Leontief Matrix, also known as the Input-Output Model matrix. </a:t>
            </a:r>
          </a:p>
          <a:p>
            <a:endParaRPr lang="en-US"/>
          </a:p>
          <a:p>
            <a:r>
              <a:rPr lang="en-US"/>
              <a:t>The Input-Output model was developed by Russian-American economist Wassily Leontief in the 1930s as a way to model the interdependencies among various sectors of the economy. </a:t>
            </a:r>
          </a:p>
          <a:p>
            <a:r>
              <a:rPr lang="en-US"/>
              <a:t>Allows for analyst to estimate the ripple effects of changes in one sector on the entire economy. </a:t>
            </a:r>
          </a:p>
          <a:p>
            <a:endParaRPr lang="en-US"/>
          </a:p>
          <a:p>
            <a:r>
              <a:rPr lang="en-US"/>
              <a:t>Also allows for the calculation of economic multipliers, such as output multiplier, income multiplier, and employment multiplier. These multipliers show the total economic impact of changes in demand or production in one specific sector. </a:t>
            </a:r>
          </a:p>
        </p:txBody>
      </p:sp>
    </p:spTree>
    <p:extLst>
      <p:ext uri="{BB962C8B-B14F-4D97-AF65-F5344CB8AC3E}">
        <p14:creationId xmlns:p14="http://schemas.microsoft.com/office/powerpoint/2010/main" val="931946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A87989-17BE-57AB-F739-5AEA0BC8404A}"/>
              </a:ext>
            </a:extLst>
          </p:cNvPr>
          <p:cNvSpPr>
            <a:spLocks noGrp="1"/>
          </p:cNvSpPr>
          <p:nvPr>
            <p:ph type="title"/>
          </p:nvPr>
        </p:nvSpPr>
        <p:spPr>
          <a:xfrm>
            <a:off x="1286933" y="609600"/>
            <a:ext cx="10197494" cy="1099457"/>
          </a:xfrm>
        </p:spPr>
        <p:txBody>
          <a:bodyPr>
            <a:normAutofit/>
          </a:bodyPr>
          <a:lstStyle/>
          <a:p>
            <a:r>
              <a:rPr lang="en-US"/>
              <a:t>Assumptions made when Using I/O model</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63DF9885-D780-F8C1-2AB3-369FFF7DC1DC}"/>
              </a:ext>
            </a:extLst>
          </p:cNvPr>
          <p:cNvGraphicFramePr>
            <a:graphicFrameLocks noGrp="1"/>
          </p:cNvGraphicFramePr>
          <p:nvPr>
            <p:ph idx="1"/>
            <p:extLst>
              <p:ext uri="{D42A27DB-BD31-4B8C-83A1-F6EECF244321}">
                <p14:modId xmlns:p14="http://schemas.microsoft.com/office/powerpoint/2010/main" val="685617333"/>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5715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4EBE2-E9B3-96AF-7ACE-5898D36B8030}"/>
              </a:ext>
            </a:extLst>
          </p:cNvPr>
          <p:cNvSpPr>
            <a:spLocks noGrp="1"/>
          </p:cNvSpPr>
          <p:nvPr>
            <p:ph type="title"/>
          </p:nvPr>
        </p:nvSpPr>
        <p:spPr>
          <a:xfrm>
            <a:off x="1286933" y="609600"/>
            <a:ext cx="10197494" cy="1099457"/>
          </a:xfrm>
        </p:spPr>
        <p:txBody>
          <a:bodyPr>
            <a:normAutofit/>
          </a:bodyPr>
          <a:lstStyle/>
          <a:p>
            <a:r>
              <a:rPr lang="en-US"/>
              <a:t>Additional RIMS II information</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6E21BF5C-5984-A4ED-A53D-B094EB466BB2}"/>
              </a:ext>
            </a:extLst>
          </p:cNvPr>
          <p:cNvGraphicFramePr>
            <a:graphicFrameLocks noGrp="1"/>
          </p:cNvGraphicFramePr>
          <p:nvPr>
            <p:ph idx="1"/>
            <p:extLst>
              <p:ext uri="{D42A27DB-BD31-4B8C-83A1-F6EECF244321}">
                <p14:modId xmlns:p14="http://schemas.microsoft.com/office/powerpoint/2010/main" val="4204465626"/>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1599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89AC4-040C-E2CE-3C71-507BA97C2C3F}"/>
              </a:ext>
            </a:extLst>
          </p:cNvPr>
          <p:cNvSpPr>
            <a:spLocks noGrp="1"/>
          </p:cNvSpPr>
          <p:nvPr>
            <p:ph type="title"/>
          </p:nvPr>
        </p:nvSpPr>
        <p:spPr>
          <a:xfrm>
            <a:off x="619825" y="5576977"/>
            <a:ext cx="8596667" cy="739266"/>
          </a:xfrm>
        </p:spPr>
        <p:txBody>
          <a:bodyPr>
            <a:noAutofit/>
          </a:bodyPr>
          <a:lstStyle/>
          <a:p>
            <a:r>
              <a:rPr lang="en-US" sz="2800" dirty="0"/>
              <a:t>RIMS II table example w/final demand multipliers</a:t>
            </a:r>
          </a:p>
        </p:txBody>
      </p:sp>
      <p:pic>
        <p:nvPicPr>
          <p:cNvPr id="5" name="Picture Placeholder 4" descr="A screenshot of a table&#10;&#10;Description automatically generated">
            <a:extLst>
              <a:ext uri="{FF2B5EF4-FFF2-40B4-BE49-F238E27FC236}">
                <a16:creationId xmlns:a16="http://schemas.microsoft.com/office/drawing/2014/main" id="{3B863243-226F-9DB5-F261-CD3101387E18}"/>
              </a:ext>
            </a:extLst>
          </p:cNvPr>
          <p:cNvPicPr>
            <a:picLocks noGrp="1" noChangeAspect="1"/>
          </p:cNvPicPr>
          <p:nvPr>
            <p:ph type="pic" idx="1"/>
          </p:nvPr>
        </p:nvPicPr>
        <p:blipFill>
          <a:blip r:embed="rId2"/>
          <a:srcRect t="10128" b="10128"/>
          <a:stretch/>
        </p:blipFill>
        <p:spPr>
          <a:xfrm>
            <a:off x="159750" y="92016"/>
            <a:ext cx="11673421" cy="5542244"/>
          </a:xfrm>
        </p:spPr>
      </p:pic>
      <p:sp>
        <p:nvSpPr>
          <p:cNvPr id="4" name="Text Placeholder 3">
            <a:extLst>
              <a:ext uri="{FF2B5EF4-FFF2-40B4-BE49-F238E27FC236}">
                <a16:creationId xmlns:a16="http://schemas.microsoft.com/office/drawing/2014/main" id="{83394AFC-99D9-2BC4-0ABE-4441B245F186}"/>
              </a:ext>
            </a:extLst>
          </p:cNvPr>
          <p:cNvSpPr>
            <a:spLocks noGrp="1"/>
          </p:cNvSpPr>
          <p:nvPr>
            <p:ph type="body" sz="half" idx="2"/>
          </p:nvPr>
        </p:nvSpPr>
        <p:spPr>
          <a:xfrm>
            <a:off x="619825" y="6316242"/>
            <a:ext cx="8596667" cy="242704"/>
          </a:xfrm>
        </p:spPr>
        <p:txBody>
          <a:bodyPr>
            <a:normAutofit fontScale="92500" lnSpcReduction="10000"/>
          </a:bodyPr>
          <a:lstStyle/>
          <a:p>
            <a:endParaRPr lang="en-US"/>
          </a:p>
        </p:txBody>
      </p:sp>
    </p:spTree>
    <p:extLst>
      <p:ext uri="{BB962C8B-B14F-4D97-AF65-F5344CB8AC3E}">
        <p14:creationId xmlns:p14="http://schemas.microsoft.com/office/powerpoint/2010/main" val="1826188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95BB-83EC-A153-886B-2587C9503E53}"/>
              </a:ext>
            </a:extLst>
          </p:cNvPr>
          <p:cNvSpPr>
            <a:spLocks noGrp="1"/>
          </p:cNvSpPr>
          <p:nvPr>
            <p:ph type="title"/>
          </p:nvPr>
        </p:nvSpPr>
        <p:spPr/>
        <p:txBody>
          <a:bodyPr/>
          <a:lstStyle/>
          <a:p>
            <a:r>
              <a:rPr lang="en-US"/>
              <a:t>RIMS II Integration </a:t>
            </a:r>
            <a:br>
              <a:rPr lang="en-US"/>
            </a:br>
            <a:r>
              <a:rPr lang="en-US"/>
              <a:t>Input-Output Model</a:t>
            </a:r>
          </a:p>
        </p:txBody>
      </p:sp>
      <p:graphicFrame>
        <p:nvGraphicFramePr>
          <p:cNvPr id="4" name="Content Placeholder 3">
            <a:extLst>
              <a:ext uri="{FF2B5EF4-FFF2-40B4-BE49-F238E27FC236}">
                <a16:creationId xmlns:a16="http://schemas.microsoft.com/office/drawing/2014/main" id="{B7E7CE8A-6DAE-8AAA-3BC5-F6D61BCC7764}"/>
              </a:ext>
            </a:extLst>
          </p:cNvPr>
          <p:cNvGraphicFramePr>
            <a:graphicFrameLocks noGrp="1"/>
          </p:cNvGraphicFramePr>
          <p:nvPr>
            <p:ph idx="1"/>
            <p:extLst>
              <p:ext uri="{D42A27DB-BD31-4B8C-83A1-F6EECF244321}">
                <p14:modId xmlns:p14="http://schemas.microsoft.com/office/powerpoint/2010/main" val="1562408770"/>
              </p:ext>
            </p:extLst>
          </p:nvPr>
        </p:nvGraphicFramePr>
        <p:xfrm>
          <a:off x="677863" y="2160588"/>
          <a:ext cx="8596311" cy="3337559"/>
        </p:xfrm>
        <a:graphic>
          <a:graphicData uri="http://schemas.openxmlformats.org/drawingml/2006/table">
            <a:tbl>
              <a:tblPr firstCol="1" bandRow="1">
                <a:tableStyleId>{5C22544A-7EE6-4342-B048-85BDC9FD1C3A}</a:tableStyleId>
              </a:tblPr>
              <a:tblGrid>
                <a:gridCol w="1756228">
                  <a:extLst>
                    <a:ext uri="{9D8B030D-6E8A-4147-A177-3AD203B41FA5}">
                      <a16:colId xmlns:a16="http://schemas.microsoft.com/office/drawing/2014/main" val="2147263340"/>
                    </a:ext>
                  </a:extLst>
                </a:gridCol>
                <a:gridCol w="6840083">
                  <a:extLst>
                    <a:ext uri="{9D8B030D-6E8A-4147-A177-3AD203B41FA5}">
                      <a16:colId xmlns:a16="http://schemas.microsoft.com/office/drawing/2014/main" val="4263429991"/>
                    </a:ext>
                  </a:extLst>
                </a:gridCol>
              </a:tblGrid>
              <a:tr h="370840">
                <a:tc>
                  <a:txBody>
                    <a:bodyPr/>
                    <a:lstStyle/>
                    <a:p>
                      <a:r>
                        <a:rPr lang="en-US"/>
                        <a:t>Step 1</a:t>
                      </a:r>
                    </a:p>
                  </a:txBody>
                  <a:tcPr/>
                </a:tc>
                <a:tc>
                  <a:txBody>
                    <a:bodyPr/>
                    <a:lstStyle/>
                    <a:p>
                      <a:r>
                        <a:rPr lang="en-US"/>
                        <a:t>Gathering Data</a:t>
                      </a:r>
                    </a:p>
                  </a:txBody>
                  <a:tcPr/>
                </a:tc>
                <a:extLst>
                  <a:ext uri="{0D108BD9-81ED-4DB2-BD59-A6C34878D82A}">
                    <a16:rowId xmlns:a16="http://schemas.microsoft.com/office/drawing/2014/main" val="2746383742"/>
                  </a:ext>
                </a:extLst>
              </a:tr>
              <a:tr h="370840">
                <a:tc>
                  <a:txBody>
                    <a:bodyPr/>
                    <a:lstStyle/>
                    <a:p>
                      <a:r>
                        <a:rPr lang="en-US"/>
                        <a:t>Step 2</a:t>
                      </a:r>
                    </a:p>
                  </a:txBody>
                  <a:tcPr/>
                </a:tc>
                <a:tc>
                  <a:txBody>
                    <a:bodyPr/>
                    <a:lstStyle/>
                    <a:p>
                      <a:r>
                        <a:rPr lang="en-US"/>
                        <a:t>Identify Key Secondary Study</a:t>
                      </a:r>
                    </a:p>
                  </a:txBody>
                  <a:tcPr/>
                </a:tc>
                <a:extLst>
                  <a:ext uri="{0D108BD9-81ED-4DB2-BD59-A6C34878D82A}">
                    <a16:rowId xmlns:a16="http://schemas.microsoft.com/office/drawing/2014/main" val="4279692255"/>
                  </a:ext>
                </a:extLst>
              </a:tr>
              <a:tr h="370840">
                <a:tc>
                  <a:txBody>
                    <a:bodyPr/>
                    <a:lstStyle/>
                    <a:p>
                      <a:r>
                        <a:rPr lang="en-US"/>
                        <a:t>Step 3</a:t>
                      </a:r>
                    </a:p>
                  </a:txBody>
                  <a:tcPr/>
                </a:tc>
                <a:tc>
                  <a:txBody>
                    <a:bodyPr/>
                    <a:lstStyle/>
                    <a:p>
                      <a:r>
                        <a:rPr lang="en-US"/>
                        <a:t>Segment Events</a:t>
                      </a:r>
                    </a:p>
                  </a:txBody>
                  <a:tcPr/>
                </a:tc>
                <a:extLst>
                  <a:ext uri="{0D108BD9-81ED-4DB2-BD59-A6C34878D82A}">
                    <a16:rowId xmlns:a16="http://schemas.microsoft.com/office/drawing/2014/main" val="3806956014"/>
                  </a:ext>
                </a:extLst>
              </a:tr>
              <a:tr h="370840">
                <a:tc>
                  <a:txBody>
                    <a:bodyPr/>
                    <a:lstStyle/>
                    <a:p>
                      <a:r>
                        <a:rPr lang="en-US"/>
                        <a:t>Step 4</a:t>
                      </a:r>
                    </a:p>
                  </a:txBody>
                  <a:tcPr/>
                </a:tc>
                <a:tc>
                  <a:txBody>
                    <a:bodyPr/>
                    <a:lstStyle/>
                    <a:p>
                      <a:r>
                        <a:rPr lang="en-US"/>
                        <a:t>Calculate Travel Party Days</a:t>
                      </a:r>
                    </a:p>
                  </a:txBody>
                  <a:tcPr/>
                </a:tc>
                <a:extLst>
                  <a:ext uri="{0D108BD9-81ED-4DB2-BD59-A6C34878D82A}">
                    <a16:rowId xmlns:a16="http://schemas.microsoft.com/office/drawing/2014/main" val="1714157146"/>
                  </a:ext>
                </a:extLst>
              </a:tr>
              <a:tr h="370840">
                <a:tc>
                  <a:txBody>
                    <a:bodyPr/>
                    <a:lstStyle/>
                    <a:p>
                      <a:r>
                        <a:rPr lang="en-US"/>
                        <a:t>Step 5</a:t>
                      </a:r>
                    </a:p>
                  </a:txBody>
                  <a:tcPr/>
                </a:tc>
                <a:tc>
                  <a:txBody>
                    <a:bodyPr/>
                    <a:lstStyle/>
                    <a:p>
                      <a:r>
                        <a:rPr lang="en-US"/>
                        <a:t>Estimate Total Non-local Parties</a:t>
                      </a:r>
                    </a:p>
                  </a:txBody>
                  <a:tcPr/>
                </a:tc>
                <a:extLst>
                  <a:ext uri="{0D108BD9-81ED-4DB2-BD59-A6C34878D82A}">
                    <a16:rowId xmlns:a16="http://schemas.microsoft.com/office/drawing/2014/main" val="991415640"/>
                  </a:ext>
                </a:extLst>
              </a:tr>
              <a:tr h="370840">
                <a:tc>
                  <a:txBody>
                    <a:bodyPr/>
                    <a:lstStyle/>
                    <a:p>
                      <a:r>
                        <a:rPr lang="en-US"/>
                        <a:t>Step 6</a:t>
                      </a:r>
                    </a:p>
                  </a:txBody>
                  <a:tcPr/>
                </a:tc>
                <a:tc>
                  <a:txBody>
                    <a:bodyPr/>
                    <a:lstStyle/>
                    <a:p>
                      <a:r>
                        <a:rPr lang="en-US"/>
                        <a:t>Apply Cost of Living Adjustments</a:t>
                      </a:r>
                    </a:p>
                  </a:txBody>
                  <a:tcPr/>
                </a:tc>
                <a:extLst>
                  <a:ext uri="{0D108BD9-81ED-4DB2-BD59-A6C34878D82A}">
                    <a16:rowId xmlns:a16="http://schemas.microsoft.com/office/drawing/2014/main" val="2137156309"/>
                  </a:ext>
                </a:extLst>
              </a:tr>
              <a:tr h="370840">
                <a:tc>
                  <a:txBody>
                    <a:bodyPr/>
                    <a:lstStyle/>
                    <a:p>
                      <a:r>
                        <a:rPr lang="en-US"/>
                        <a:t>Step 7</a:t>
                      </a:r>
                    </a:p>
                  </a:txBody>
                  <a:tcPr/>
                </a:tc>
                <a:tc>
                  <a:txBody>
                    <a:bodyPr/>
                    <a:lstStyle/>
                    <a:p>
                      <a:r>
                        <a:rPr lang="en-US"/>
                        <a:t>Estimate Total Direct Spending</a:t>
                      </a:r>
                    </a:p>
                  </a:txBody>
                  <a:tcPr/>
                </a:tc>
                <a:extLst>
                  <a:ext uri="{0D108BD9-81ED-4DB2-BD59-A6C34878D82A}">
                    <a16:rowId xmlns:a16="http://schemas.microsoft.com/office/drawing/2014/main" val="1518004624"/>
                  </a:ext>
                </a:extLst>
              </a:tr>
              <a:tr h="370840">
                <a:tc>
                  <a:txBody>
                    <a:bodyPr/>
                    <a:lstStyle/>
                    <a:p>
                      <a:r>
                        <a:rPr lang="en-US"/>
                        <a:t>Step 8</a:t>
                      </a:r>
                    </a:p>
                  </a:txBody>
                  <a:tcPr/>
                </a:tc>
                <a:tc>
                  <a:txBody>
                    <a:bodyPr/>
                    <a:lstStyle/>
                    <a:p>
                      <a:r>
                        <a:rPr lang="en-US"/>
                        <a:t>Estimate Total Spending Multiplier</a:t>
                      </a:r>
                    </a:p>
                  </a:txBody>
                  <a:tcPr/>
                </a:tc>
                <a:extLst>
                  <a:ext uri="{0D108BD9-81ED-4DB2-BD59-A6C34878D82A}">
                    <a16:rowId xmlns:a16="http://schemas.microsoft.com/office/drawing/2014/main" val="873030853"/>
                  </a:ext>
                </a:extLst>
              </a:tr>
              <a:tr h="370839">
                <a:tc>
                  <a:txBody>
                    <a:bodyPr/>
                    <a:lstStyle/>
                    <a:p>
                      <a:pPr lvl="0">
                        <a:buNone/>
                      </a:pPr>
                      <a:r>
                        <a:rPr lang="en-US"/>
                        <a:t>Step 9</a:t>
                      </a:r>
                    </a:p>
                  </a:txBody>
                  <a:tcPr/>
                </a:tc>
                <a:tc>
                  <a:txBody>
                    <a:bodyPr/>
                    <a:lstStyle/>
                    <a:p>
                      <a:pPr lvl="0">
                        <a:buNone/>
                      </a:pPr>
                      <a:r>
                        <a:rPr lang="en-US"/>
                        <a:t>Calculate Estimated Range of Final Demand Impact</a:t>
                      </a:r>
                    </a:p>
                  </a:txBody>
                  <a:tcPr/>
                </a:tc>
                <a:extLst>
                  <a:ext uri="{0D108BD9-81ED-4DB2-BD59-A6C34878D82A}">
                    <a16:rowId xmlns:a16="http://schemas.microsoft.com/office/drawing/2014/main" val="3975222531"/>
                  </a:ext>
                </a:extLst>
              </a:tr>
            </a:tbl>
          </a:graphicData>
        </a:graphic>
      </p:graphicFrame>
    </p:spTree>
    <p:extLst>
      <p:ext uri="{BB962C8B-B14F-4D97-AF65-F5344CB8AC3E}">
        <p14:creationId xmlns:p14="http://schemas.microsoft.com/office/powerpoint/2010/main" val="1406541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9DEDE-3584-CBB2-CA4E-E1CC89AF5D71}"/>
              </a:ext>
            </a:extLst>
          </p:cNvPr>
          <p:cNvSpPr>
            <a:spLocks noGrp="1"/>
          </p:cNvSpPr>
          <p:nvPr>
            <p:ph type="title"/>
          </p:nvPr>
        </p:nvSpPr>
        <p:spPr/>
        <p:txBody>
          <a:bodyPr/>
          <a:lstStyle/>
          <a:p>
            <a:r>
              <a:rPr lang="en-US"/>
              <a:t>Moving Forward</a:t>
            </a:r>
          </a:p>
        </p:txBody>
      </p:sp>
      <p:graphicFrame>
        <p:nvGraphicFramePr>
          <p:cNvPr id="5" name="Content Placeholder 2">
            <a:extLst>
              <a:ext uri="{FF2B5EF4-FFF2-40B4-BE49-F238E27FC236}">
                <a16:creationId xmlns:a16="http://schemas.microsoft.com/office/drawing/2014/main" id="{F11BB65E-9E1F-5723-61FC-6E4FC4B5F1C5}"/>
              </a:ext>
            </a:extLst>
          </p:cNvPr>
          <p:cNvGraphicFramePr>
            <a:graphicFrameLocks noGrp="1"/>
          </p:cNvGraphicFramePr>
          <p:nvPr>
            <p:ph idx="1"/>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188801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18A0498-6641-479D-8115-8BC7C8E6B1B8}">
  <ds:schemaRefs>
    <ds:schemaRef ds:uri="http://schemas.microsoft.com/sharepoint/v3/contenttype/forms"/>
  </ds:schemaRefs>
</ds:datastoreItem>
</file>

<file path=customXml/itemProps2.xml><?xml version="1.0" encoding="utf-8"?>
<ds:datastoreItem xmlns:ds="http://schemas.openxmlformats.org/officeDocument/2006/customXml" ds:itemID="{3FAC3131-8810-4A91-9F94-92262D4BBD0E}">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A73794D-D7EA-4048-9998-F5D6224939BE}">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22</Slides>
  <Notes>1</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Facet</vt:lpstr>
      <vt:lpstr>Winged Deer Park Economic Impact Study</vt:lpstr>
      <vt:lpstr>Table of Contents </vt:lpstr>
      <vt:lpstr>Project Overview</vt:lpstr>
      <vt:lpstr>Project Goals</vt:lpstr>
      <vt:lpstr>Data Analysis</vt:lpstr>
      <vt:lpstr>Average Cost per Type of Tournament</vt:lpstr>
      <vt:lpstr>Number of Teams per Month Attending Tournaments</vt:lpstr>
      <vt:lpstr>Total Charged to Tournament Directors per Month </vt:lpstr>
      <vt:lpstr>USA Softball 18U National Championship July 2023</vt:lpstr>
      <vt:lpstr>Maintenance Cost Estimates</vt:lpstr>
      <vt:lpstr>Multiplier Effect</vt:lpstr>
      <vt:lpstr>Impact Estimation w/o I/O model</vt:lpstr>
      <vt:lpstr>Impact Estimation w/o I/O model II</vt:lpstr>
      <vt:lpstr>Baseline Estimates from supplied Data</vt:lpstr>
      <vt:lpstr>Estimates by Year from supplied Data</vt:lpstr>
      <vt:lpstr>Gathering Survey Data</vt:lpstr>
      <vt:lpstr>Input-Output Model </vt:lpstr>
      <vt:lpstr>Assumptions made when Using I/O model</vt:lpstr>
      <vt:lpstr>Additional RIMS II information</vt:lpstr>
      <vt:lpstr>RIMS II table example w/final demand multipliers</vt:lpstr>
      <vt:lpstr>RIMS II Integration  Input-Output Model</vt:lpstr>
      <vt:lpstr>Moving Forward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revision>102</cp:revision>
  <dcterms:created xsi:type="dcterms:W3CDTF">2023-10-06T00:37:02Z</dcterms:created>
  <dcterms:modified xsi:type="dcterms:W3CDTF">2023-10-11T02:04:52Z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